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 uri="GoogleSlidesCustomDataVersion2">
      <go:slidesCustomData xmlns:go="http://customooxmlschemas.google.com/" r:id="rId18" roundtripDataSignature="AMtx7mhjv+snnfDaheHmvwCySNkXgi/tm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6" Type="http://schemas.openxmlformats.org/officeDocument/2006/relationships/slide" Target="slides/slide1.xml"/><Relationship Id="rId18" Type="http://customschemas.google.com/relationships/presentationmetadata" Target="meta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Arial"/>
                <a:ea typeface="Arial"/>
                <a:cs typeface="Arial"/>
                <a:sym typeface="Arial"/>
              </a:rPr>
              <a:t>Welcome everyone. Today we present our graduation project on Fine-Grained Arabic Dialect Classification, where we built an end-to-end NLP pipeline from raw data hygiene and classical ensembles up to fine-tuning MARBERTv2, achieving 92.25% accuracy on unseen test data, deployed in a real-time Streamlit web platform.</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6" name="Google Shape;116;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Standard Arabic NLP models fail on social media text because of Diglossia, lack of spelling standards, heavy prefix/suffix agglutination like 'شورايك' or 'فماش', and strong lexical overlap across short conversational phrases.</a:t>
            </a:r>
            <a:endParaRPr/>
          </a:p>
        </p:txBody>
      </p:sp>
      <p:sp>
        <p:nvSpPr>
          <p:cNvPr id="117" name="Google Shape;117;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8" name="Google Shape;158;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We used 40,000 sentences across 5 dialects. Crucially, we performed deduplication before splitting, leaving 38,963 unique sentences partitioned via stratified 70/15/15 splitting to guarantee zero data leakage between train and test sets.</a:t>
            </a:r>
            <a:endParaRPr/>
          </a:p>
        </p:txBody>
      </p:sp>
      <p:sp>
        <p:nvSpPr>
          <p:cNvPr id="159" name="Google Shape;159;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 critical engineering decision in our pipeline was retaining stopwords and short sentences. Words like 'شو', 'إيه', and 'برشا' are stopwords in standard NLP, but here they are the primary predictors of the dialect.</a:t>
            </a:r>
            <a:endParaRPr/>
          </a:p>
        </p:txBody>
      </p:sp>
      <p:sp>
        <p:nvSpPr>
          <p:cNvPr id="200" name="Google Shape;20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We progressed systematically across three paradigms: first, a 150k-feature hybrid word+character TF-IDF Stacking Ensemble; second, AraBERTv02 pre-trained on formal news; and third, MARBERTv2 pre-trained on 1 billion dialectal tweets.</a:t>
            </a:r>
            <a:endParaRPr/>
          </a:p>
        </p:txBody>
      </p:sp>
      <p:sp>
        <p:nvSpPr>
          <p:cNvPr id="244" name="Google Shape;244;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8" name="Google Shape;308;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When training AraBERTv02, we noticed validation loss creeping up after Epoch 2. To prevent overfitting in MARBERTv2, we engineered a strict regularization setup using a 2e-5 learning rate, 0.05 weight decay, and 0.05 Label Smoothing, resulting in rock-solid convergence.</a:t>
            </a:r>
            <a:endParaRPr/>
          </a:p>
        </p:txBody>
      </p:sp>
      <p:sp>
        <p:nvSpPr>
          <p:cNvPr id="309" name="Google Shape;309;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2" name="Google Shape;36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Here is our complete quantitative progression. Our hybrid TF-IDF Stacking Ensemble achieved an impressive 90.93% test accuracy, AraBERTv02 reached 91.03% validation accuracy, and MARBERTv2 outperformed all models with 92.25% unseen test accuracy and 92.24% Macro F1.</a:t>
            </a:r>
            <a:endParaRPr/>
          </a:p>
        </p:txBody>
      </p:sp>
      <p:sp>
        <p:nvSpPr>
          <p:cNvPr id="363" name="Google Shape;363;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6" name="Google Shape;476;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MARBERTv2 achieved &gt;=90% F1-score across every single dialect, led by Tunis at 94.44% and MSA at 94.10%. Compared to Stacking, MARBERTv2 eliminated 77 errors on the exact same test set.</a:t>
            </a:r>
            <a:endParaRPr/>
          </a:p>
        </p:txBody>
      </p:sp>
      <p:sp>
        <p:nvSpPr>
          <p:cNvPr id="477" name="Google Shape;477;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6" name="Google Shape;556;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We didn't stop at accuracy numbers; we analyzed all 453 errors. We discovered that misclassified sentences average only 3.86 words compared to 7.21 words for correct ones. Phrases like 'تاني تقاطع عاليمين' or 'ايوه مسموح' are genuinely used across multiple dialects, proving our model reached the natural linguistic ceiling of written text.</a:t>
            </a:r>
            <a:endParaRPr/>
          </a:p>
        </p:txBody>
      </p:sp>
      <p:sp>
        <p:nvSpPr>
          <p:cNvPr id="557" name="Google Shape;557;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4" name="Google Shape;6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To turn our research into a usable product, we built and deployed an interactive Streamlit web application featuring real-time single-sentence analysis with 5-dialect probability bars, side-by-side model comparison between MARBERTv2 and AraBERTv02, and batch CSV classification.</a:t>
            </a:r>
            <a:endParaRPr/>
          </a:p>
        </p:txBody>
      </p:sp>
      <p:sp>
        <p:nvSpPr>
          <p:cNvPr id="605" name="Google Shape;605;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7" name="Shape 637"/>
        <p:cNvGrpSpPr/>
        <p:nvPr/>
      </p:nvGrpSpPr>
      <p:grpSpPr>
        <a:xfrm>
          <a:off x="0" y="0"/>
          <a:ext cx="0" cy="0"/>
          <a:chOff x="0" y="0"/>
          <a:chExt cx="0" cy="0"/>
        </a:xfrm>
      </p:grpSpPr>
      <p:sp>
        <p:nvSpPr>
          <p:cNvPr id="638" name="Google Shape;638;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9" name="Google Shape;639;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In conclusion, our project demonstrates a rigorous engineering workflow from data deduplication to state-of-the-art transformer fine-tuning and web deployment. Looking ahead, we aim to expand to 26 cities and integrate audio features to disambiguate ultra-short shared phrases.</a:t>
            </a:r>
            <a:endParaRPr/>
          </a:p>
        </p:txBody>
      </p:sp>
      <p:sp>
        <p:nvSpPr>
          <p:cNvPr id="640" name="Google Shape;640;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8" name="Google Shape;688;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Thank you for listening! We now invite the committee to test our live Streamlit platform with any Arabic dialect sentences, and we welcome your questions.</a:t>
            </a:r>
            <a:endParaRPr/>
          </a:p>
        </p:txBody>
      </p:sp>
      <p:sp>
        <p:nvSpPr>
          <p:cNvPr id="689" name="Google Shape;689;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5"/>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5"/>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7"/>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7"/>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8"/>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8"/>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9"/>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9"/>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9"/>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9"/>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2"/>
          <p:cNvSpPr/>
          <p:nvPr>
            <p:ph idx="2" type="pic"/>
          </p:nvPr>
        </p:nvSpPr>
        <p:spPr>
          <a:xfrm>
            <a:off x="1792288" y="612775"/>
            <a:ext cx="5486400" cy="4114800"/>
          </a:xfrm>
          <a:prstGeom prst="rect">
            <a:avLst/>
          </a:prstGeom>
          <a:noFill/>
          <a:ln>
            <a:noFill/>
          </a:ln>
        </p:spPr>
      </p:sp>
      <p:sp>
        <p:nvSpPr>
          <p:cNvPr id="64" name="Google Shape;64;p2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84" name="Shape 84"/>
        <p:cNvGrpSpPr/>
        <p:nvPr/>
      </p:nvGrpSpPr>
      <p:grpSpPr>
        <a:xfrm>
          <a:off x="0" y="0"/>
          <a:ext cx="0" cy="0"/>
          <a:chOff x="0" y="0"/>
          <a:chExt cx="0" cy="0"/>
        </a:xfrm>
      </p:grpSpPr>
      <p:sp>
        <p:nvSpPr>
          <p:cNvPr id="85" name="Google Shape;85;p1"/>
          <p:cNvSpPr/>
          <p:nvPr/>
        </p:nvSpPr>
        <p:spPr>
          <a:xfrm>
            <a:off x="8321040" y="640080"/>
            <a:ext cx="4480560" cy="4480560"/>
          </a:xfrm>
          <a:prstGeom prst="ellipse">
            <a:avLst/>
          </a:prstGeom>
          <a:noFill/>
          <a:ln cap="flat" cmpd="sng" w="13950">
            <a:solidFill>
              <a:srgbClr val="1E3A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p:nvPr/>
        </p:nvSpPr>
        <p:spPr>
          <a:xfrm>
            <a:off x="8823960" y="1143000"/>
            <a:ext cx="3474720" cy="3474720"/>
          </a:xfrm>
          <a:prstGeom prst="ellipse">
            <a:avLst/>
          </a:prstGeom>
          <a:noFill/>
          <a:ln cap="flat" cmpd="sng" w="13950">
            <a:solidFill>
              <a:srgbClr val="254B6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 name="Google Shape;87;p1"/>
          <p:cNvSpPr/>
          <p:nvPr/>
        </p:nvSpPr>
        <p:spPr>
          <a:xfrm>
            <a:off x="9326880" y="1645920"/>
            <a:ext cx="2468880" cy="2468880"/>
          </a:xfrm>
          <a:prstGeom prst="ellipse">
            <a:avLst/>
          </a:prstGeom>
          <a:noFill/>
          <a:ln cap="flat" cmpd="sng" w="13950">
            <a:solidFill>
              <a:srgbClr val="38BDF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 name="Google Shape;88;p1"/>
          <p:cNvSpPr/>
          <p:nvPr/>
        </p:nvSpPr>
        <p:spPr>
          <a:xfrm>
            <a:off x="8458200" y="1353312"/>
            <a:ext cx="64008" cy="64008"/>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 name="Google Shape;89;p1"/>
          <p:cNvSpPr/>
          <p:nvPr/>
        </p:nvSpPr>
        <p:spPr>
          <a:xfrm>
            <a:off x="8988552" y="1353312"/>
            <a:ext cx="64008" cy="64008"/>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p:nvPr/>
        </p:nvSpPr>
        <p:spPr>
          <a:xfrm>
            <a:off x="9518904" y="1353312"/>
            <a:ext cx="64008" cy="64008"/>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 name="Google Shape;91;p1"/>
          <p:cNvSpPr/>
          <p:nvPr/>
        </p:nvSpPr>
        <p:spPr>
          <a:xfrm>
            <a:off x="10049256" y="1353312"/>
            <a:ext cx="64008" cy="64008"/>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 name="Google Shape;92;p1"/>
          <p:cNvSpPr/>
          <p:nvPr/>
        </p:nvSpPr>
        <p:spPr>
          <a:xfrm>
            <a:off x="8458200" y="1938528"/>
            <a:ext cx="64008" cy="64008"/>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p:nvPr/>
        </p:nvSpPr>
        <p:spPr>
          <a:xfrm>
            <a:off x="8988552" y="1938528"/>
            <a:ext cx="64008" cy="64008"/>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 name="Google Shape;94;p1"/>
          <p:cNvSpPr/>
          <p:nvPr/>
        </p:nvSpPr>
        <p:spPr>
          <a:xfrm>
            <a:off x="9518904" y="1938528"/>
            <a:ext cx="64008" cy="64008"/>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 name="Google Shape;95;p1"/>
          <p:cNvSpPr txBox="1"/>
          <p:nvPr/>
        </p:nvSpPr>
        <p:spPr>
          <a:xfrm>
            <a:off x="749808" y="640080"/>
            <a:ext cx="438912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00" u="none" cap="none" strike="noStrike">
                <a:solidFill>
                  <a:srgbClr val="38BDF8"/>
                </a:solidFill>
                <a:latin typeface="Arial"/>
                <a:ea typeface="Arial"/>
                <a:cs typeface="Arial"/>
                <a:sym typeface="Arial"/>
              </a:rPr>
              <a:t>NLP GRADUATION PROJECT  /  2026</a:t>
            </a:r>
            <a:endParaRPr/>
          </a:p>
        </p:txBody>
      </p:sp>
      <p:sp>
        <p:nvSpPr>
          <p:cNvPr id="96" name="Google Shape;96;p1"/>
          <p:cNvSpPr txBox="1"/>
          <p:nvPr/>
        </p:nvSpPr>
        <p:spPr>
          <a:xfrm>
            <a:off x="749800" y="1143000"/>
            <a:ext cx="7726800" cy="1015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300" u="none" cap="none" strike="noStrike">
                <a:solidFill>
                  <a:srgbClr val="F8FAFC"/>
                </a:solidFill>
                <a:latin typeface="Arial"/>
                <a:ea typeface="Arial"/>
                <a:cs typeface="Arial"/>
                <a:sym typeface="Arial"/>
              </a:rPr>
              <a:t>End-to-End Fine-Grained</a:t>
            </a:r>
            <a:br>
              <a:rPr b="1" i="0" lang="en-US" sz="3300" u="none" cap="none" strike="noStrike">
                <a:solidFill>
                  <a:srgbClr val="F8FAFC"/>
                </a:solidFill>
                <a:latin typeface="Arial"/>
                <a:ea typeface="Arial"/>
                <a:cs typeface="Arial"/>
                <a:sym typeface="Arial"/>
              </a:rPr>
            </a:br>
            <a:r>
              <a:rPr b="1" i="0" lang="en-US" sz="3300" u="none" cap="none" strike="noStrike">
                <a:solidFill>
                  <a:srgbClr val="F8FAFC"/>
                </a:solidFill>
                <a:latin typeface="Arial"/>
                <a:ea typeface="Arial"/>
                <a:cs typeface="Arial"/>
                <a:sym typeface="Arial"/>
              </a:rPr>
              <a:t>Arabic Dialect Classification</a:t>
            </a:r>
            <a:endParaRPr/>
          </a:p>
        </p:txBody>
      </p:sp>
      <p:sp>
        <p:nvSpPr>
          <p:cNvPr id="97" name="Google Shape;97;p1"/>
          <p:cNvSpPr txBox="1"/>
          <p:nvPr/>
        </p:nvSpPr>
        <p:spPr>
          <a:xfrm>
            <a:off x="768100" y="2972724"/>
            <a:ext cx="7086600" cy="492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600" u="none" cap="none" strike="noStrike">
                <a:solidFill>
                  <a:srgbClr val="CBD5E1"/>
                </a:solidFill>
                <a:latin typeface="Arial"/>
                <a:ea typeface="Arial"/>
                <a:cs typeface="Arial"/>
                <a:sym typeface="Arial"/>
              </a:rPr>
              <a:t>Benchmarking Classical ML Ensembles vs. Pre-Trained Transformers</a:t>
            </a:r>
            <a:br>
              <a:rPr b="0" i="0" lang="en-US" sz="1600" u="none" cap="none" strike="noStrike">
                <a:solidFill>
                  <a:srgbClr val="CBD5E1"/>
                </a:solidFill>
                <a:latin typeface="Arial"/>
                <a:ea typeface="Arial"/>
                <a:cs typeface="Arial"/>
                <a:sym typeface="Arial"/>
              </a:rPr>
            </a:br>
            <a:r>
              <a:rPr b="0" i="0" lang="en-US" sz="1600" u="none" cap="none" strike="noStrike">
                <a:solidFill>
                  <a:srgbClr val="CBD5E1"/>
                </a:solidFill>
                <a:latin typeface="Arial"/>
                <a:ea typeface="Arial"/>
                <a:cs typeface="Arial"/>
                <a:sym typeface="Arial"/>
              </a:rPr>
              <a:t>AraBERTv02 &amp; MARBERTv2</a:t>
            </a:r>
            <a:endParaRPr/>
          </a:p>
        </p:txBody>
      </p:sp>
      <p:sp>
        <p:nvSpPr>
          <p:cNvPr id="98" name="Google Shape;98;p1"/>
          <p:cNvSpPr/>
          <p:nvPr/>
        </p:nvSpPr>
        <p:spPr>
          <a:xfrm>
            <a:off x="749808" y="3886200"/>
            <a:ext cx="7498079" cy="1234440"/>
          </a:xfrm>
          <a:prstGeom prst="roundRect">
            <a:avLst>
              <a:gd fmla="val 16667" name="adj"/>
            </a:avLst>
          </a:prstGeom>
          <a:solidFill>
            <a:srgbClr val="18253D"/>
          </a:solidFill>
          <a:ln cap="flat" cmpd="sng" w="10150">
            <a:solidFill>
              <a:srgbClr val="38BDF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 name="Google Shape;99;p1"/>
          <p:cNvSpPr/>
          <p:nvPr/>
        </p:nvSpPr>
        <p:spPr>
          <a:xfrm>
            <a:off x="749808" y="3886200"/>
            <a:ext cx="73152" cy="1234440"/>
          </a:xfrm>
          <a:prstGeom prst="rect">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 name="Google Shape;100;p1"/>
          <p:cNvSpPr txBox="1"/>
          <p:nvPr/>
        </p:nvSpPr>
        <p:spPr>
          <a:xfrm>
            <a:off x="1024128" y="4096512"/>
            <a:ext cx="16002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00" u="none" cap="none" strike="noStrike">
                <a:solidFill>
                  <a:srgbClr val="EC4899"/>
                </a:solidFill>
                <a:latin typeface="Arial"/>
                <a:ea typeface="Arial"/>
                <a:cs typeface="Arial"/>
                <a:sym typeface="Arial"/>
              </a:rPr>
              <a:t>CHAMPION MODEL</a:t>
            </a:r>
            <a:endParaRPr/>
          </a:p>
        </p:txBody>
      </p:sp>
      <p:sp>
        <p:nvSpPr>
          <p:cNvPr id="101" name="Google Shape;101;p1"/>
          <p:cNvSpPr txBox="1"/>
          <p:nvPr/>
        </p:nvSpPr>
        <p:spPr>
          <a:xfrm>
            <a:off x="1005840" y="4370832"/>
            <a:ext cx="1965960" cy="4114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300" u="none" cap="none" strike="noStrike">
                <a:solidFill>
                  <a:srgbClr val="F8FAFC"/>
                </a:solidFill>
                <a:latin typeface="Arial"/>
                <a:ea typeface="Arial"/>
                <a:cs typeface="Arial"/>
                <a:sym typeface="Arial"/>
              </a:rPr>
              <a:t>MARBERTv2</a:t>
            </a:r>
            <a:endParaRPr/>
          </a:p>
        </p:txBody>
      </p:sp>
      <p:cxnSp>
        <p:nvCxnSpPr>
          <p:cNvPr id="102" name="Google Shape;102;p1"/>
          <p:cNvCxnSpPr/>
          <p:nvPr/>
        </p:nvCxnSpPr>
        <p:spPr>
          <a:xfrm>
            <a:off x="3127248" y="4151376"/>
            <a:ext cx="0" cy="694944"/>
          </a:xfrm>
          <a:prstGeom prst="straightConnector1">
            <a:avLst/>
          </a:prstGeom>
          <a:noFill/>
          <a:ln cap="flat" cmpd="sng" w="12700">
            <a:solidFill>
              <a:srgbClr val="475569"/>
            </a:solidFill>
            <a:prstDash val="solid"/>
            <a:round/>
            <a:headEnd len="sm" w="sm" type="none"/>
            <a:tailEnd len="sm" w="sm" type="none"/>
          </a:ln>
          <a:effectLst>
            <a:outerShdw blurRad="40000" rotWithShape="0" dir="5400000" dist="20000">
              <a:srgbClr val="000000">
                <a:alpha val="38039"/>
              </a:srgbClr>
            </a:outerShdw>
          </a:effectLst>
        </p:spPr>
      </p:cxnSp>
      <p:sp>
        <p:nvSpPr>
          <p:cNvPr id="103" name="Google Shape;103;p1"/>
          <p:cNvSpPr txBox="1"/>
          <p:nvPr/>
        </p:nvSpPr>
        <p:spPr>
          <a:xfrm>
            <a:off x="3438144" y="4105656"/>
            <a:ext cx="196596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30" u="none" cap="none" strike="noStrike">
                <a:solidFill>
                  <a:srgbClr val="94A3B8"/>
                </a:solidFill>
                <a:latin typeface="Arial"/>
                <a:ea typeface="Arial"/>
                <a:cs typeface="Arial"/>
                <a:sym typeface="Arial"/>
              </a:rPr>
              <a:t>UNSEEN TEST ACCURACY</a:t>
            </a:r>
            <a:endParaRPr/>
          </a:p>
        </p:txBody>
      </p:sp>
      <p:sp>
        <p:nvSpPr>
          <p:cNvPr id="104" name="Google Shape;104;p1"/>
          <p:cNvSpPr txBox="1"/>
          <p:nvPr/>
        </p:nvSpPr>
        <p:spPr>
          <a:xfrm>
            <a:off x="3429000" y="4379976"/>
            <a:ext cx="1828800" cy="4114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38BDF8"/>
                </a:solidFill>
                <a:latin typeface="Arial"/>
                <a:ea typeface="Arial"/>
                <a:cs typeface="Arial"/>
                <a:sym typeface="Arial"/>
              </a:rPr>
              <a:t>92.25%</a:t>
            </a:r>
            <a:endParaRPr/>
          </a:p>
        </p:txBody>
      </p:sp>
      <p:cxnSp>
        <p:nvCxnSpPr>
          <p:cNvPr id="105" name="Google Shape;105;p1"/>
          <p:cNvCxnSpPr/>
          <p:nvPr/>
        </p:nvCxnSpPr>
        <p:spPr>
          <a:xfrm>
            <a:off x="5559552" y="4151376"/>
            <a:ext cx="0" cy="694944"/>
          </a:xfrm>
          <a:prstGeom prst="straightConnector1">
            <a:avLst/>
          </a:prstGeom>
          <a:noFill/>
          <a:ln cap="flat" cmpd="sng" w="12700">
            <a:solidFill>
              <a:srgbClr val="475569"/>
            </a:solidFill>
            <a:prstDash val="solid"/>
            <a:round/>
            <a:headEnd len="sm" w="sm" type="none"/>
            <a:tailEnd len="sm" w="sm" type="none"/>
          </a:ln>
          <a:effectLst>
            <a:outerShdw blurRad="40000" rotWithShape="0" dir="5400000" dist="20000">
              <a:srgbClr val="000000">
                <a:alpha val="38039"/>
              </a:srgbClr>
            </a:outerShdw>
          </a:effectLst>
        </p:spPr>
      </p:cxnSp>
      <p:sp>
        <p:nvSpPr>
          <p:cNvPr id="106" name="Google Shape;106;p1"/>
          <p:cNvSpPr txBox="1"/>
          <p:nvPr/>
        </p:nvSpPr>
        <p:spPr>
          <a:xfrm>
            <a:off x="5870448" y="4105656"/>
            <a:ext cx="164592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30" u="none" cap="none" strike="noStrike">
                <a:solidFill>
                  <a:srgbClr val="94A3B8"/>
                </a:solidFill>
                <a:latin typeface="Arial"/>
                <a:ea typeface="Arial"/>
                <a:cs typeface="Arial"/>
                <a:sym typeface="Arial"/>
              </a:rPr>
              <a:t>MACRO F1</a:t>
            </a:r>
            <a:endParaRPr/>
          </a:p>
        </p:txBody>
      </p:sp>
      <p:sp>
        <p:nvSpPr>
          <p:cNvPr id="107" name="Google Shape;107;p1"/>
          <p:cNvSpPr txBox="1"/>
          <p:nvPr/>
        </p:nvSpPr>
        <p:spPr>
          <a:xfrm>
            <a:off x="5852160" y="4379976"/>
            <a:ext cx="1828800" cy="4114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16A34A"/>
                </a:solidFill>
                <a:latin typeface="Arial"/>
                <a:ea typeface="Arial"/>
                <a:cs typeface="Arial"/>
                <a:sym typeface="Arial"/>
              </a:rPr>
              <a:t>92.24%</a:t>
            </a:r>
            <a:endParaRPr/>
          </a:p>
        </p:txBody>
      </p:sp>
      <p:sp>
        <p:nvSpPr>
          <p:cNvPr id="108" name="Google Shape;108;p1"/>
          <p:cNvSpPr txBox="1"/>
          <p:nvPr/>
        </p:nvSpPr>
        <p:spPr>
          <a:xfrm>
            <a:off x="768096" y="5669280"/>
            <a:ext cx="1371600" cy="17373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38BDF8"/>
                </a:solidFill>
                <a:latin typeface="Arial"/>
                <a:ea typeface="Arial"/>
                <a:cs typeface="Arial"/>
                <a:sym typeface="Arial"/>
              </a:rPr>
              <a:t>TARGET DIALECTS</a:t>
            </a:r>
            <a:endParaRPr/>
          </a:p>
        </p:txBody>
      </p:sp>
      <p:sp>
        <p:nvSpPr>
          <p:cNvPr id="109" name="Google Shape;109;p1"/>
          <p:cNvSpPr txBox="1"/>
          <p:nvPr/>
        </p:nvSpPr>
        <p:spPr>
          <a:xfrm>
            <a:off x="2148840" y="5641848"/>
            <a:ext cx="4480560" cy="2194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00" u="none" cap="none" strike="noStrike">
                <a:solidFill>
                  <a:srgbClr val="F8FAFC"/>
                </a:solidFill>
                <a:latin typeface="Arial"/>
                <a:ea typeface="Arial"/>
                <a:cs typeface="Arial"/>
                <a:sym typeface="Arial"/>
              </a:rPr>
              <a:t>Beirut  •  Cairo  •  Doha  •  MSA  •  Tunis</a:t>
            </a:r>
            <a:endParaRPr/>
          </a:p>
        </p:txBody>
      </p:sp>
      <p:sp>
        <p:nvSpPr>
          <p:cNvPr id="110" name="Google Shape;110;p1"/>
          <p:cNvSpPr txBox="1"/>
          <p:nvPr/>
        </p:nvSpPr>
        <p:spPr>
          <a:xfrm>
            <a:off x="768096" y="6071616"/>
            <a:ext cx="6309360" cy="1920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00" u="none" cap="none" strike="noStrike">
                <a:solidFill>
                  <a:srgbClr val="94A3B8"/>
                </a:solidFill>
                <a:latin typeface="Arial"/>
                <a:ea typeface="Arial"/>
                <a:cs typeface="Arial"/>
                <a:sym typeface="Arial"/>
              </a:rPr>
              <a:t>GitHub  /  meedooatef22/arabic-dialect-classification</a:t>
            </a:r>
            <a:endParaRPr/>
          </a:p>
        </p:txBody>
      </p:sp>
      <p:sp>
        <p:nvSpPr>
          <p:cNvPr id="111" name="Google Shape;111;p1"/>
          <p:cNvSpPr/>
          <p:nvPr/>
        </p:nvSpPr>
        <p:spPr>
          <a:xfrm>
            <a:off x="9308592" y="4937760"/>
            <a:ext cx="1920240" cy="384048"/>
          </a:xfrm>
          <a:prstGeom prst="roundRect">
            <a:avLst>
              <a:gd fmla="val 16667" name="adj"/>
            </a:avLst>
          </a:prstGeom>
          <a:solidFill>
            <a:srgbClr val="311A3A"/>
          </a:solidFill>
          <a:ln cap="flat" cmpd="sng" w="10150">
            <a:solidFill>
              <a:srgbClr val="EC48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 name="Google Shape;112;p1"/>
          <p:cNvSpPr txBox="1"/>
          <p:nvPr/>
        </p:nvSpPr>
        <p:spPr>
          <a:xfrm>
            <a:off x="9418320" y="5038344"/>
            <a:ext cx="1700784" cy="164592"/>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19" u="none" cap="none" strike="noStrike">
                <a:solidFill>
                  <a:srgbClr val="FBCFE8"/>
                </a:solidFill>
                <a:latin typeface="Arial"/>
                <a:ea typeface="Arial"/>
                <a:cs typeface="Arial"/>
                <a:sym typeface="Arial"/>
              </a:rPr>
              <a:t>DIALECT-AWARE NLP</a:t>
            </a:r>
            <a:endParaRPr/>
          </a:p>
        </p:txBody>
      </p:sp>
      <p:sp>
        <p:nvSpPr>
          <p:cNvPr id="113" name="Google Shape;113;p1"/>
          <p:cNvSpPr txBox="1"/>
          <p:nvPr/>
        </p:nvSpPr>
        <p:spPr>
          <a:xfrm>
            <a:off x="768100" y="2234375"/>
            <a:ext cx="74799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800">
                <a:solidFill>
                  <a:schemeClr val="lt1"/>
                </a:solidFill>
                <a:latin typeface="Calibri"/>
                <a:ea typeface="Calibri"/>
                <a:cs typeface="Calibri"/>
                <a:sym typeface="Calibri"/>
              </a:rPr>
              <a:t>Presented by: Yassmin Reda</a:t>
            </a:r>
            <a:r>
              <a:rPr lang="en-US" sz="2800">
                <a:solidFill>
                  <a:schemeClr val="lt1"/>
                </a:solidFill>
                <a:latin typeface="Calibri"/>
                <a:ea typeface="Calibri"/>
                <a:cs typeface="Calibri"/>
                <a:sym typeface="Calibri"/>
              </a:rPr>
              <a:t> &amp;Mohamed Atef Ali</a:t>
            </a:r>
            <a:endParaRPr sz="2800">
              <a:solidFill>
                <a:schemeClr val="lt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18" name="Shape 118"/>
        <p:cNvGrpSpPr/>
        <p:nvPr/>
      </p:nvGrpSpPr>
      <p:grpSpPr>
        <a:xfrm>
          <a:off x="0" y="0"/>
          <a:ext cx="0" cy="0"/>
          <a:chOff x="0" y="0"/>
          <a:chExt cx="0" cy="0"/>
        </a:xfrm>
      </p:grpSpPr>
      <p:sp>
        <p:nvSpPr>
          <p:cNvPr id="119" name="Google Shape;119;p2"/>
          <p:cNvSpPr/>
          <p:nvPr/>
        </p:nvSpPr>
        <p:spPr>
          <a:xfrm>
            <a:off x="0" y="0"/>
            <a:ext cx="12191695" cy="128016"/>
          </a:xfrm>
          <a:prstGeom prst="rect">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0" name="Google Shape;120;p2"/>
          <p:cNvSpPr/>
          <p:nvPr/>
        </p:nvSpPr>
        <p:spPr>
          <a:xfrm>
            <a:off x="0" y="0"/>
            <a:ext cx="2011680" cy="12801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1" name="Google Shape;121;p2"/>
          <p:cNvSpPr txBox="1"/>
          <p:nvPr/>
        </p:nvSpPr>
        <p:spPr>
          <a:xfrm>
            <a:off x="603504" y="274320"/>
            <a:ext cx="27432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2563EB"/>
                </a:solidFill>
                <a:latin typeface="Arial"/>
                <a:ea typeface="Arial"/>
                <a:cs typeface="Arial"/>
                <a:sym typeface="Arial"/>
              </a:rPr>
              <a:t>THE PROBLEM</a:t>
            </a:r>
            <a:endParaRPr/>
          </a:p>
        </p:txBody>
      </p:sp>
      <p:sp>
        <p:nvSpPr>
          <p:cNvPr id="122" name="Google Shape;122;p2"/>
          <p:cNvSpPr txBox="1"/>
          <p:nvPr/>
        </p:nvSpPr>
        <p:spPr>
          <a:xfrm>
            <a:off x="594360" y="521207"/>
            <a:ext cx="10972800" cy="53035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800" u="none" cap="none" strike="noStrike">
                <a:solidFill>
                  <a:srgbClr val="0F172A"/>
                </a:solidFill>
                <a:latin typeface="Arial"/>
                <a:ea typeface="Arial"/>
                <a:cs typeface="Arial"/>
                <a:sym typeface="Arial"/>
              </a:rPr>
              <a:t>Why Is Arabic Dialect Classification Challenging?</a:t>
            </a:r>
            <a:endParaRPr/>
          </a:p>
        </p:txBody>
      </p:sp>
      <p:sp>
        <p:nvSpPr>
          <p:cNvPr id="123" name="Google Shape;123;p2"/>
          <p:cNvSpPr/>
          <p:nvPr/>
        </p:nvSpPr>
        <p:spPr>
          <a:xfrm>
            <a:off x="11411712" y="347472"/>
            <a:ext cx="164592" cy="164592"/>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 name="Google Shape;124;p2"/>
          <p:cNvSpPr/>
          <p:nvPr/>
        </p:nvSpPr>
        <p:spPr>
          <a:xfrm>
            <a:off x="11612880" y="347472"/>
            <a:ext cx="164592" cy="16459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5" name="Google Shape;125;p2"/>
          <p:cNvSpPr/>
          <p:nvPr/>
        </p:nvSpPr>
        <p:spPr>
          <a:xfrm>
            <a:off x="11814048" y="347472"/>
            <a:ext cx="164592" cy="164592"/>
          </a:xfrm>
          <a:prstGeom prst="ellipse">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6" name="Google Shape;126;p2"/>
          <p:cNvSpPr/>
          <p:nvPr/>
        </p:nvSpPr>
        <p:spPr>
          <a:xfrm>
            <a:off x="626364" y="1394460"/>
            <a:ext cx="3547872" cy="455371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2"/>
          <p:cNvSpPr/>
          <p:nvPr/>
        </p:nvSpPr>
        <p:spPr>
          <a:xfrm>
            <a:off x="594360" y="1353312"/>
            <a:ext cx="3547872" cy="455371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 name="Google Shape;128;p2"/>
          <p:cNvSpPr/>
          <p:nvPr/>
        </p:nvSpPr>
        <p:spPr>
          <a:xfrm>
            <a:off x="594360" y="1371600"/>
            <a:ext cx="50292" cy="451713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 name="Google Shape;129;p2"/>
          <p:cNvSpPr txBox="1"/>
          <p:nvPr/>
        </p:nvSpPr>
        <p:spPr>
          <a:xfrm>
            <a:off x="813816" y="1554480"/>
            <a:ext cx="3136391"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20" u="none" cap="none" strike="noStrike">
                <a:solidFill>
                  <a:srgbClr val="1E293B"/>
                </a:solidFill>
                <a:latin typeface="Arial"/>
                <a:ea typeface="Arial"/>
                <a:cs typeface="Arial"/>
                <a:sym typeface="Arial"/>
              </a:rPr>
              <a:t>Sociolinguistic Diglossia</a:t>
            </a:r>
            <a:endParaRPr/>
          </a:p>
        </p:txBody>
      </p:sp>
      <p:sp>
        <p:nvSpPr>
          <p:cNvPr id="130" name="Google Shape;130;p2"/>
          <p:cNvSpPr/>
          <p:nvPr/>
        </p:nvSpPr>
        <p:spPr>
          <a:xfrm>
            <a:off x="3529584" y="1554480"/>
            <a:ext cx="320040" cy="320040"/>
          </a:xfrm>
          <a:prstGeom prst="ellipse">
            <a:avLst/>
          </a:prstGeom>
          <a:solidFill>
            <a:srgbClr val="E0F2F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1" name="Google Shape;131;p2"/>
          <p:cNvSpPr txBox="1"/>
          <p:nvPr/>
        </p:nvSpPr>
        <p:spPr>
          <a:xfrm>
            <a:off x="3547872" y="1618488"/>
            <a:ext cx="283464" cy="155448"/>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38BDF8"/>
                </a:solidFill>
                <a:latin typeface="Arial"/>
                <a:ea typeface="Arial"/>
                <a:cs typeface="Arial"/>
                <a:sym typeface="Arial"/>
              </a:rPr>
              <a:t>01</a:t>
            </a:r>
            <a:endParaRPr/>
          </a:p>
        </p:txBody>
      </p:sp>
      <p:sp>
        <p:nvSpPr>
          <p:cNvPr id="132" name="Google Shape;132;p2"/>
          <p:cNvSpPr txBox="1"/>
          <p:nvPr/>
        </p:nvSpPr>
        <p:spPr>
          <a:xfrm>
            <a:off x="795528" y="2148840"/>
            <a:ext cx="3145536" cy="3246120"/>
          </a:xfrm>
          <a:prstGeom prst="rect">
            <a:avLst/>
          </a:prstGeom>
          <a:noFill/>
          <a:ln>
            <a:noFill/>
          </a:ln>
        </p:spPr>
        <p:txBody>
          <a:bodyPr anchorCtr="0" anchor="t" bIns="18275" lIns="54850" spcFirstLastPara="1" rIns="36575" wrap="square" tIns="27425">
            <a:spAutoFit/>
          </a:bodyPr>
          <a:lstStyle/>
          <a:p>
            <a:pPr indent="0" lvl="0" marL="0" marR="0" rtl="0" algn="l">
              <a:lnSpc>
                <a:spcPct val="105000"/>
              </a:lnSpc>
              <a:spcBef>
                <a:spcPts val="0"/>
              </a:spcBef>
              <a:spcAft>
                <a:spcPts val="0"/>
              </a:spcAft>
              <a:buNone/>
            </a:pPr>
            <a:r>
              <a:rPr b="0" i="0" lang="en-US" sz="1340" u="none" cap="none" strike="noStrike">
                <a:solidFill>
                  <a:srgbClr val="1E293B"/>
                </a:solidFill>
                <a:latin typeface="Arial"/>
                <a:ea typeface="Arial"/>
                <a:cs typeface="Arial"/>
                <a:sym typeface="Arial"/>
              </a:rPr>
              <a:t>•  Formal MSA coexists with regional spoken dialects (Ammiya) used in everyday social media.</a:t>
            </a:r>
            <a:endParaRPr/>
          </a:p>
          <a:p>
            <a:pPr indent="0" lvl="0" marL="0" marR="0" rtl="0" algn="l">
              <a:lnSpc>
                <a:spcPct val="105000"/>
              </a:lnSpc>
              <a:spcBef>
                <a:spcPts val="1900"/>
              </a:spcBef>
              <a:spcAft>
                <a:spcPts val="0"/>
              </a:spcAft>
              <a:buNone/>
            </a:pPr>
            <a:r>
              <a:rPr b="0" i="0" lang="en-US" sz="1340" u="none" cap="none" strike="noStrike">
                <a:solidFill>
                  <a:srgbClr val="1E293B"/>
                </a:solidFill>
                <a:latin typeface="Arial"/>
                <a:ea typeface="Arial"/>
                <a:cs typeface="Arial"/>
                <a:sym typeface="Arial"/>
              </a:rPr>
              <a:t>•  No standardized spelling: Hamza (أ/إ/ا), Ya (ى/ي), and Ta-Marbuta (ة/ه) vary.</a:t>
            </a:r>
            <a:endParaRPr/>
          </a:p>
        </p:txBody>
      </p:sp>
      <p:cxnSp>
        <p:nvCxnSpPr>
          <p:cNvPr id="133" name="Google Shape;133;p2"/>
          <p:cNvCxnSpPr/>
          <p:nvPr/>
        </p:nvCxnSpPr>
        <p:spPr>
          <a:xfrm>
            <a:off x="813816" y="5394960"/>
            <a:ext cx="3127248" cy="0"/>
          </a:xfrm>
          <a:prstGeom prst="straightConnector1">
            <a:avLst/>
          </a:prstGeom>
          <a:noFill/>
          <a:ln cap="flat" cmpd="sng" w="10150">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134" name="Google Shape;134;p2"/>
          <p:cNvSpPr txBox="1"/>
          <p:nvPr/>
        </p:nvSpPr>
        <p:spPr>
          <a:xfrm>
            <a:off x="813816" y="5522976"/>
            <a:ext cx="3090672" cy="17373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19" u="none" cap="none" strike="noStrike">
                <a:solidFill>
                  <a:srgbClr val="38BDF8"/>
                </a:solidFill>
                <a:latin typeface="Arial"/>
                <a:ea typeface="Arial"/>
                <a:cs typeface="Arial"/>
                <a:sym typeface="Arial"/>
              </a:rPr>
              <a:t>ORTHOGRAPHIC VARIATION</a:t>
            </a:r>
            <a:endParaRPr/>
          </a:p>
        </p:txBody>
      </p:sp>
      <p:sp>
        <p:nvSpPr>
          <p:cNvPr id="135" name="Google Shape;135;p2"/>
          <p:cNvSpPr/>
          <p:nvPr/>
        </p:nvSpPr>
        <p:spPr>
          <a:xfrm>
            <a:off x="4494276" y="1394460"/>
            <a:ext cx="3547872" cy="455371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 name="Google Shape;136;p2"/>
          <p:cNvSpPr/>
          <p:nvPr/>
        </p:nvSpPr>
        <p:spPr>
          <a:xfrm>
            <a:off x="4462272" y="1353312"/>
            <a:ext cx="3547872" cy="455371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 name="Google Shape;137;p2"/>
          <p:cNvSpPr/>
          <p:nvPr/>
        </p:nvSpPr>
        <p:spPr>
          <a:xfrm>
            <a:off x="4462272" y="1371600"/>
            <a:ext cx="50292" cy="4517136"/>
          </a:xfrm>
          <a:prstGeom prst="rect">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 name="Google Shape;138;p2"/>
          <p:cNvSpPr txBox="1"/>
          <p:nvPr/>
        </p:nvSpPr>
        <p:spPr>
          <a:xfrm>
            <a:off x="4681728" y="1554480"/>
            <a:ext cx="3136391"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20" u="none" cap="none" strike="noStrike">
                <a:solidFill>
                  <a:srgbClr val="1E293B"/>
                </a:solidFill>
                <a:latin typeface="Arial"/>
                <a:ea typeface="Arial"/>
                <a:cs typeface="Arial"/>
                <a:sym typeface="Arial"/>
              </a:rPr>
              <a:t>Heavy Morphological Agglutination</a:t>
            </a:r>
            <a:endParaRPr/>
          </a:p>
        </p:txBody>
      </p:sp>
      <p:sp>
        <p:nvSpPr>
          <p:cNvPr id="139" name="Google Shape;139;p2"/>
          <p:cNvSpPr/>
          <p:nvPr/>
        </p:nvSpPr>
        <p:spPr>
          <a:xfrm>
            <a:off x="7397496" y="1554480"/>
            <a:ext cx="320040" cy="320040"/>
          </a:xfrm>
          <a:prstGeom prst="ellipse">
            <a:avLst/>
          </a:prstGeom>
          <a:solidFill>
            <a:srgbClr val="FCE7F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 name="Google Shape;140;p2"/>
          <p:cNvSpPr txBox="1"/>
          <p:nvPr/>
        </p:nvSpPr>
        <p:spPr>
          <a:xfrm>
            <a:off x="7415783" y="1618488"/>
            <a:ext cx="283464" cy="155448"/>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EC4899"/>
                </a:solidFill>
                <a:latin typeface="Arial"/>
                <a:ea typeface="Arial"/>
                <a:cs typeface="Arial"/>
                <a:sym typeface="Arial"/>
              </a:rPr>
              <a:t>02</a:t>
            </a:r>
            <a:endParaRPr/>
          </a:p>
        </p:txBody>
      </p:sp>
      <p:sp>
        <p:nvSpPr>
          <p:cNvPr id="141" name="Google Shape;141;p2"/>
          <p:cNvSpPr txBox="1"/>
          <p:nvPr/>
        </p:nvSpPr>
        <p:spPr>
          <a:xfrm>
            <a:off x="4663440" y="2148840"/>
            <a:ext cx="3145536" cy="3246120"/>
          </a:xfrm>
          <a:prstGeom prst="rect">
            <a:avLst/>
          </a:prstGeom>
          <a:noFill/>
          <a:ln>
            <a:noFill/>
          </a:ln>
        </p:spPr>
        <p:txBody>
          <a:bodyPr anchorCtr="0" anchor="t" bIns="18275" lIns="54850" spcFirstLastPara="1" rIns="36575" wrap="square" tIns="27425">
            <a:spAutoFit/>
          </a:bodyPr>
          <a:lstStyle/>
          <a:p>
            <a:pPr indent="0" lvl="0" marL="0" marR="0" rtl="0" algn="l">
              <a:lnSpc>
                <a:spcPct val="105000"/>
              </a:lnSpc>
              <a:spcBef>
                <a:spcPts val="0"/>
              </a:spcBef>
              <a:spcAft>
                <a:spcPts val="0"/>
              </a:spcAft>
              <a:buNone/>
            </a:pPr>
            <a:r>
              <a:rPr b="0" i="0" lang="en-US" sz="1340" u="none" cap="none" strike="noStrike">
                <a:solidFill>
                  <a:srgbClr val="1E293B"/>
                </a:solidFill>
                <a:latin typeface="Arial"/>
                <a:ea typeface="Arial"/>
                <a:cs typeface="Arial"/>
                <a:sym typeface="Arial"/>
              </a:rPr>
              <a:t>•  Prepositions, negations, and pronouns fuse directly into word stems.</a:t>
            </a:r>
            <a:endParaRPr/>
          </a:p>
          <a:p>
            <a:pPr indent="0" lvl="0" marL="0" marR="0" rtl="0" algn="l">
              <a:lnSpc>
                <a:spcPct val="105000"/>
              </a:lnSpc>
              <a:spcBef>
                <a:spcPts val="1900"/>
              </a:spcBef>
              <a:spcAft>
                <a:spcPts val="0"/>
              </a:spcAft>
              <a:buNone/>
            </a:pPr>
            <a:r>
              <a:rPr b="0" i="0" lang="en-US" sz="1340" u="none" cap="none" strike="noStrike">
                <a:solidFill>
                  <a:srgbClr val="1E293B"/>
                </a:solidFill>
                <a:latin typeface="Arial"/>
                <a:ea typeface="Arial"/>
                <a:cs typeface="Arial"/>
                <a:sym typeface="Arial"/>
              </a:rPr>
              <a:t>•  Examples: “شورايك” (Beirut), “هالفيش” (Doha), “فماش” (Tunis) drive high OOV rates.</a:t>
            </a:r>
            <a:endParaRPr/>
          </a:p>
        </p:txBody>
      </p:sp>
      <p:cxnSp>
        <p:nvCxnSpPr>
          <p:cNvPr id="142" name="Google Shape;142;p2"/>
          <p:cNvCxnSpPr/>
          <p:nvPr/>
        </p:nvCxnSpPr>
        <p:spPr>
          <a:xfrm>
            <a:off x="4681728" y="5394960"/>
            <a:ext cx="3127247" cy="0"/>
          </a:xfrm>
          <a:prstGeom prst="straightConnector1">
            <a:avLst/>
          </a:prstGeom>
          <a:noFill/>
          <a:ln cap="flat" cmpd="sng" w="10150">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143" name="Google Shape;143;p2"/>
          <p:cNvSpPr txBox="1"/>
          <p:nvPr/>
        </p:nvSpPr>
        <p:spPr>
          <a:xfrm>
            <a:off x="4681728" y="5522976"/>
            <a:ext cx="3090672" cy="17373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19" u="none" cap="none" strike="noStrike">
                <a:solidFill>
                  <a:srgbClr val="EC4899"/>
                </a:solidFill>
                <a:latin typeface="Arial"/>
                <a:ea typeface="Arial"/>
                <a:cs typeface="Arial"/>
                <a:sym typeface="Arial"/>
              </a:rPr>
              <a:t>SUBWORD COMPLEXITY</a:t>
            </a:r>
            <a:endParaRPr/>
          </a:p>
        </p:txBody>
      </p:sp>
      <p:sp>
        <p:nvSpPr>
          <p:cNvPr id="144" name="Google Shape;144;p2"/>
          <p:cNvSpPr/>
          <p:nvPr/>
        </p:nvSpPr>
        <p:spPr>
          <a:xfrm>
            <a:off x="8362188" y="1394460"/>
            <a:ext cx="3547872" cy="455371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 name="Google Shape;145;p2"/>
          <p:cNvSpPr/>
          <p:nvPr/>
        </p:nvSpPr>
        <p:spPr>
          <a:xfrm>
            <a:off x="8330183" y="1353312"/>
            <a:ext cx="3547872" cy="455371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 name="Google Shape;146;p2"/>
          <p:cNvSpPr/>
          <p:nvPr/>
        </p:nvSpPr>
        <p:spPr>
          <a:xfrm>
            <a:off x="8330183" y="1371600"/>
            <a:ext cx="50292" cy="4517136"/>
          </a:xfrm>
          <a:prstGeom prst="rect">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7" name="Google Shape;147;p2"/>
          <p:cNvSpPr txBox="1"/>
          <p:nvPr/>
        </p:nvSpPr>
        <p:spPr>
          <a:xfrm>
            <a:off x="8549640" y="1554480"/>
            <a:ext cx="3136391"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20" u="none" cap="none" strike="noStrike">
                <a:solidFill>
                  <a:srgbClr val="1E293B"/>
                </a:solidFill>
                <a:latin typeface="Arial"/>
                <a:ea typeface="Arial"/>
                <a:cs typeface="Arial"/>
                <a:sym typeface="Arial"/>
              </a:rPr>
              <a:t>Lexical Overlap &amp; Short Text</a:t>
            </a:r>
            <a:endParaRPr/>
          </a:p>
        </p:txBody>
      </p:sp>
      <p:sp>
        <p:nvSpPr>
          <p:cNvPr id="148" name="Google Shape;148;p2"/>
          <p:cNvSpPr/>
          <p:nvPr/>
        </p:nvSpPr>
        <p:spPr>
          <a:xfrm>
            <a:off x="11265407" y="1554480"/>
            <a:ext cx="320040" cy="320040"/>
          </a:xfrm>
          <a:prstGeom prst="ellipse">
            <a:avLst/>
          </a:prstGeom>
          <a:solidFill>
            <a:srgbClr val="E0F2F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2"/>
          <p:cNvSpPr txBox="1"/>
          <p:nvPr/>
        </p:nvSpPr>
        <p:spPr>
          <a:xfrm>
            <a:off x="11283695" y="1618488"/>
            <a:ext cx="283464" cy="155448"/>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2563EB"/>
                </a:solidFill>
                <a:latin typeface="Arial"/>
                <a:ea typeface="Arial"/>
                <a:cs typeface="Arial"/>
                <a:sym typeface="Arial"/>
              </a:rPr>
              <a:t>03</a:t>
            </a:r>
            <a:endParaRPr/>
          </a:p>
        </p:txBody>
      </p:sp>
      <p:sp>
        <p:nvSpPr>
          <p:cNvPr id="150" name="Google Shape;150;p2"/>
          <p:cNvSpPr txBox="1"/>
          <p:nvPr/>
        </p:nvSpPr>
        <p:spPr>
          <a:xfrm>
            <a:off x="8531352" y="2148840"/>
            <a:ext cx="3145536" cy="3246120"/>
          </a:xfrm>
          <a:prstGeom prst="rect">
            <a:avLst/>
          </a:prstGeom>
          <a:noFill/>
          <a:ln>
            <a:noFill/>
          </a:ln>
        </p:spPr>
        <p:txBody>
          <a:bodyPr anchorCtr="0" anchor="t" bIns="18275" lIns="54850" spcFirstLastPara="1" rIns="36575" wrap="square" tIns="27425">
            <a:spAutoFit/>
          </a:bodyPr>
          <a:lstStyle/>
          <a:p>
            <a:pPr indent="0" lvl="0" marL="0" marR="0" rtl="0" algn="l">
              <a:lnSpc>
                <a:spcPct val="105000"/>
              </a:lnSpc>
              <a:spcBef>
                <a:spcPts val="0"/>
              </a:spcBef>
              <a:spcAft>
                <a:spcPts val="0"/>
              </a:spcAft>
              <a:buNone/>
            </a:pPr>
            <a:r>
              <a:rPr b="0" i="0" lang="en-US" sz="1340" u="none" cap="none" strike="noStrike">
                <a:solidFill>
                  <a:srgbClr val="1E293B"/>
                </a:solidFill>
                <a:latin typeface="Arial"/>
                <a:ea typeface="Arial"/>
                <a:cs typeface="Arial"/>
                <a:sym typeface="Arial"/>
              </a:rPr>
              <a:t>•  Neighboring dialects such as Beirut and Doha share vocabulary in unvocalized writing.</a:t>
            </a:r>
            <a:endParaRPr/>
          </a:p>
          <a:p>
            <a:pPr indent="0" lvl="0" marL="0" marR="0" rtl="0" algn="l">
              <a:lnSpc>
                <a:spcPct val="105000"/>
              </a:lnSpc>
              <a:spcBef>
                <a:spcPts val="1900"/>
              </a:spcBef>
              <a:spcAft>
                <a:spcPts val="0"/>
              </a:spcAft>
              <a:buNone/>
            </a:pPr>
            <a:r>
              <a:rPr b="0" i="0" lang="en-US" sz="1340" u="none" cap="none" strike="noStrike">
                <a:solidFill>
                  <a:srgbClr val="1E293B"/>
                </a:solidFill>
                <a:latin typeface="Arial"/>
                <a:ea typeface="Arial"/>
                <a:cs typeface="Arial"/>
                <a:sym typeface="Arial"/>
              </a:rPr>
              <a:t>•  Conversational messages are often only 2–4 words, providing minimal context.</a:t>
            </a:r>
            <a:endParaRPr/>
          </a:p>
        </p:txBody>
      </p:sp>
      <p:cxnSp>
        <p:nvCxnSpPr>
          <p:cNvPr id="151" name="Google Shape;151;p2"/>
          <p:cNvCxnSpPr/>
          <p:nvPr/>
        </p:nvCxnSpPr>
        <p:spPr>
          <a:xfrm>
            <a:off x="8549640" y="5394960"/>
            <a:ext cx="3127247" cy="0"/>
          </a:xfrm>
          <a:prstGeom prst="straightConnector1">
            <a:avLst/>
          </a:prstGeom>
          <a:noFill/>
          <a:ln cap="flat" cmpd="sng" w="10150">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152" name="Google Shape;152;p2"/>
          <p:cNvSpPr txBox="1"/>
          <p:nvPr/>
        </p:nvSpPr>
        <p:spPr>
          <a:xfrm>
            <a:off x="8549640" y="5522976"/>
            <a:ext cx="3090672" cy="17373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19" u="none" cap="none" strike="noStrike">
                <a:solidFill>
                  <a:srgbClr val="2563EB"/>
                </a:solidFill>
                <a:latin typeface="Arial"/>
                <a:ea typeface="Arial"/>
                <a:cs typeface="Arial"/>
                <a:sym typeface="Arial"/>
              </a:rPr>
              <a:t>LOW-CONTEXT AMBIGUITY</a:t>
            </a:r>
            <a:endParaRPr/>
          </a:p>
        </p:txBody>
      </p:sp>
      <p:cxnSp>
        <p:nvCxnSpPr>
          <p:cNvPr id="153" name="Google Shape;153;p2"/>
          <p:cNvCxnSpPr/>
          <p:nvPr/>
        </p:nvCxnSpPr>
        <p:spPr>
          <a:xfrm>
            <a:off x="594360" y="6473952"/>
            <a:ext cx="11000232" cy="0"/>
          </a:xfrm>
          <a:prstGeom prst="straightConnector1">
            <a:avLst/>
          </a:prstGeom>
          <a:noFill/>
          <a:ln cap="flat" cmpd="sng" w="9525">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154" name="Google Shape;154;p2"/>
          <p:cNvSpPr txBox="1"/>
          <p:nvPr/>
        </p:nvSpPr>
        <p:spPr>
          <a:xfrm>
            <a:off x="603504" y="6547104"/>
            <a:ext cx="45720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64748B"/>
                </a:solidFill>
                <a:latin typeface="Arial"/>
                <a:ea typeface="Arial"/>
                <a:cs typeface="Arial"/>
                <a:sym typeface="Arial"/>
              </a:rPr>
              <a:t>ARABIC DIALECT CLASSIFICATION</a:t>
            </a:r>
            <a:endParaRPr/>
          </a:p>
        </p:txBody>
      </p:sp>
      <p:sp>
        <p:nvSpPr>
          <p:cNvPr id="155" name="Google Shape;155;p2"/>
          <p:cNvSpPr txBox="1"/>
          <p:nvPr/>
        </p:nvSpPr>
        <p:spPr>
          <a:xfrm>
            <a:off x="10652760" y="6528816"/>
            <a:ext cx="914400" cy="18288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850" u="none" cap="none" strike="noStrike">
                <a:solidFill>
                  <a:srgbClr val="64748B"/>
                </a:solidFill>
                <a:latin typeface="Arial"/>
                <a:ea typeface="Arial"/>
                <a:cs typeface="Arial"/>
                <a:sym typeface="Arial"/>
              </a:rPr>
              <a:t>02  /  12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160" name="Shape 160"/>
        <p:cNvGrpSpPr/>
        <p:nvPr/>
      </p:nvGrpSpPr>
      <p:grpSpPr>
        <a:xfrm>
          <a:off x="0" y="0"/>
          <a:ext cx="0" cy="0"/>
          <a:chOff x="0" y="0"/>
          <a:chExt cx="0" cy="0"/>
        </a:xfrm>
      </p:grpSpPr>
      <p:sp>
        <p:nvSpPr>
          <p:cNvPr id="161" name="Google Shape;161;p3"/>
          <p:cNvSpPr/>
          <p:nvPr/>
        </p:nvSpPr>
        <p:spPr>
          <a:xfrm>
            <a:off x="0" y="0"/>
            <a:ext cx="12191695" cy="128016"/>
          </a:xfrm>
          <a:prstGeom prst="rect">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 name="Google Shape;162;p3"/>
          <p:cNvSpPr/>
          <p:nvPr/>
        </p:nvSpPr>
        <p:spPr>
          <a:xfrm>
            <a:off x="0" y="0"/>
            <a:ext cx="2011680" cy="12801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3"/>
          <p:cNvSpPr txBox="1"/>
          <p:nvPr/>
        </p:nvSpPr>
        <p:spPr>
          <a:xfrm>
            <a:off x="603504" y="274320"/>
            <a:ext cx="27432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2563EB"/>
                </a:solidFill>
                <a:latin typeface="Arial"/>
                <a:ea typeface="Arial"/>
                <a:cs typeface="Arial"/>
                <a:sym typeface="Arial"/>
              </a:rPr>
              <a:t>DATA &amp; VALIDATION</a:t>
            </a:r>
            <a:endParaRPr/>
          </a:p>
        </p:txBody>
      </p:sp>
      <p:sp>
        <p:nvSpPr>
          <p:cNvPr id="164" name="Google Shape;164;p3"/>
          <p:cNvSpPr txBox="1"/>
          <p:nvPr/>
        </p:nvSpPr>
        <p:spPr>
          <a:xfrm>
            <a:off x="594360" y="521207"/>
            <a:ext cx="10972800" cy="53035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800" u="none" cap="none" strike="noStrike">
                <a:solidFill>
                  <a:srgbClr val="0F172A"/>
                </a:solidFill>
                <a:latin typeface="Arial"/>
                <a:ea typeface="Arial"/>
                <a:cs typeface="Arial"/>
                <a:sym typeface="Arial"/>
              </a:rPr>
              <a:t>Dataset Overview &amp; Strict Data Hygiene (MADAR Corpus)</a:t>
            </a:r>
            <a:endParaRPr/>
          </a:p>
        </p:txBody>
      </p:sp>
      <p:sp>
        <p:nvSpPr>
          <p:cNvPr id="165" name="Google Shape;165;p3"/>
          <p:cNvSpPr/>
          <p:nvPr/>
        </p:nvSpPr>
        <p:spPr>
          <a:xfrm>
            <a:off x="11411712" y="347472"/>
            <a:ext cx="164592" cy="164592"/>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 name="Google Shape;166;p3"/>
          <p:cNvSpPr/>
          <p:nvPr/>
        </p:nvSpPr>
        <p:spPr>
          <a:xfrm>
            <a:off x="11612880" y="347472"/>
            <a:ext cx="164592" cy="16459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 name="Google Shape;167;p3"/>
          <p:cNvSpPr/>
          <p:nvPr/>
        </p:nvSpPr>
        <p:spPr>
          <a:xfrm>
            <a:off x="11814048" y="347472"/>
            <a:ext cx="164592" cy="164592"/>
          </a:xfrm>
          <a:prstGeom prst="ellipse">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 name="Google Shape;168;p3"/>
          <p:cNvSpPr/>
          <p:nvPr/>
        </p:nvSpPr>
        <p:spPr>
          <a:xfrm>
            <a:off x="626364" y="1357884"/>
            <a:ext cx="5349240" cy="4846320"/>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 name="Google Shape;169;p3"/>
          <p:cNvSpPr/>
          <p:nvPr/>
        </p:nvSpPr>
        <p:spPr>
          <a:xfrm>
            <a:off x="594360" y="1316736"/>
            <a:ext cx="5349240" cy="4846320"/>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0" name="Google Shape;170;p3"/>
          <p:cNvSpPr/>
          <p:nvPr/>
        </p:nvSpPr>
        <p:spPr>
          <a:xfrm>
            <a:off x="594360" y="1335024"/>
            <a:ext cx="50292" cy="4809744"/>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 name="Google Shape;171;p3"/>
          <p:cNvSpPr txBox="1"/>
          <p:nvPr/>
        </p:nvSpPr>
        <p:spPr>
          <a:xfrm>
            <a:off x="813816" y="1517904"/>
            <a:ext cx="4937759"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700" u="none" cap="none" strike="noStrike">
                <a:solidFill>
                  <a:srgbClr val="1E293B"/>
                </a:solidFill>
                <a:latin typeface="Arial"/>
                <a:ea typeface="Arial"/>
                <a:cs typeface="Arial"/>
                <a:sym typeface="Arial"/>
              </a:rPr>
              <a:t>Corpus &amp; Split Integrity</a:t>
            </a:r>
            <a:endParaRPr/>
          </a:p>
        </p:txBody>
      </p:sp>
      <p:sp>
        <p:nvSpPr>
          <p:cNvPr id="172" name="Google Shape;172;p3"/>
          <p:cNvSpPr/>
          <p:nvPr/>
        </p:nvSpPr>
        <p:spPr>
          <a:xfrm>
            <a:off x="841248" y="1920240"/>
            <a:ext cx="1481328" cy="795528"/>
          </a:xfrm>
          <a:prstGeom prst="roundRect">
            <a:avLst>
              <a:gd fmla="val 16667" name="adj"/>
            </a:avLst>
          </a:prstGeom>
          <a:solidFill>
            <a:srgbClr val="F1F5F9"/>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 name="Google Shape;173;p3"/>
          <p:cNvSpPr txBox="1"/>
          <p:nvPr/>
        </p:nvSpPr>
        <p:spPr>
          <a:xfrm>
            <a:off x="932688" y="2029968"/>
            <a:ext cx="1298448" cy="155448"/>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740" u="none" cap="none" strike="noStrike">
                <a:solidFill>
                  <a:srgbClr val="64748B"/>
                </a:solidFill>
                <a:latin typeface="Arial"/>
                <a:ea typeface="Arial"/>
                <a:cs typeface="Arial"/>
                <a:sym typeface="Arial"/>
              </a:rPr>
              <a:t>RAW CORPUS</a:t>
            </a:r>
            <a:endParaRPr/>
          </a:p>
        </p:txBody>
      </p:sp>
      <p:sp>
        <p:nvSpPr>
          <p:cNvPr id="174" name="Google Shape;174;p3"/>
          <p:cNvSpPr txBox="1"/>
          <p:nvPr/>
        </p:nvSpPr>
        <p:spPr>
          <a:xfrm>
            <a:off x="914400" y="2258568"/>
            <a:ext cx="1335024" cy="27432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750" u="none" cap="none" strike="noStrike">
                <a:solidFill>
                  <a:srgbClr val="2563EB"/>
                </a:solidFill>
                <a:latin typeface="Arial"/>
                <a:ea typeface="Arial"/>
                <a:cs typeface="Arial"/>
                <a:sym typeface="Arial"/>
              </a:rPr>
              <a:t>40,000</a:t>
            </a:r>
            <a:endParaRPr/>
          </a:p>
        </p:txBody>
      </p:sp>
      <p:sp>
        <p:nvSpPr>
          <p:cNvPr id="175" name="Google Shape;175;p3"/>
          <p:cNvSpPr/>
          <p:nvPr/>
        </p:nvSpPr>
        <p:spPr>
          <a:xfrm>
            <a:off x="2487168" y="1920240"/>
            <a:ext cx="1481328" cy="795528"/>
          </a:xfrm>
          <a:prstGeom prst="roundRect">
            <a:avLst>
              <a:gd fmla="val 16667" name="adj"/>
            </a:avLst>
          </a:prstGeom>
          <a:solidFill>
            <a:srgbClr val="F1F5F9"/>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 name="Google Shape;176;p3"/>
          <p:cNvSpPr txBox="1"/>
          <p:nvPr/>
        </p:nvSpPr>
        <p:spPr>
          <a:xfrm>
            <a:off x="2578608" y="2029968"/>
            <a:ext cx="1298448" cy="155448"/>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740" u="none" cap="none" strike="noStrike">
                <a:solidFill>
                  <a:srgbClr val="64748B"/>
                </a:solidFill>
                <a:latin typeface="Arial"/>
                <a:ea typeface="Arial"/>
                <a:cs typeface="Arial"/>
                <a:sym typeface="Arial"/>
              </a:rPr>
              <a:t>DEDUPLICATED</a:t>
            </a:r>
            <a:endParaRPr/>
          </a:p>
        </p:txBody>
      </p:sp>
      <p:sp>
        <p:nvSpPr>
          <p:cNvPr id="177" name="Google Shape;177;p3"/>
          <p:cNvSpPr txBox="1"/>
          <p:nvPr/>
        </p:nvSpPr>
        <p:spPr>
          <a:xfrm>
            <a:off x="2560320" y="2258568"/>
            <a:ext cx="1335024" cy="27432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750" u="none" cap="none" strike="noStrike">
                <a:solidFill>
                  <a:srgbClr val="16A34A"/>
                </a:solidFill>
                <a:latin typeface="Arial"/>
                <a:ea typeface="Arial"/>
                <a:cs typeface="Arial"/>
                <a:sym typeface="Arial"/>
              </a:rPr>
              <a:t>38,963</a:t>
            </a:r>
            <a:endParaRPr/>
          </a:p>
        </p:txBody>
      </p:sp>
      <p:sp>
        <p:nvSpPr>
          <p:cNvPr id="178" name="Google Shape;178;p3"/>
          <p:cNvSpPr/>
          <p:nvPr/>
        </p:nvSpPr>
        <p:spPr>
          <a:xfrm>
            <a:off x="4133088" y="1920240"/>
            <a:ext cx="1481328" cy="795528"/>
          </a:xfrm>
          <a:prstGeom prst="roundRect">
            <a:avLst>
              <a:gd fmla="val 16667" name="adj"/>
            </a:avLst>
          </a:prstGeom>
          <a:solidFill>
            <a:srgbClr val="F1F5F9"/>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 name="Google Shape;179;p3"/>
          <p:cNvSpPr txBox="1"/>
          <p:nvPr/>
        </p:nvSpPr>
        <p:spPr>
          <a:xfrm>
            <a:off x="4224528" y="2029968"/>
            <a:ext cx="1298448" cy="155448"/>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740" u="none" cap="none" strike="noStrike">
                <a:solidFill>
                  <a:srgbClr val="64748B"/>
                </a:solidFill>
                <a:latin typeface="Arial"/>
                <a:ea typeface="Arial"/>
                <a:cs typeface="Arial"/>
                <a:sym typeface="Arial"/>
              </a:rPr>
              <a:t>DUPLICATES</a:t>
            </a:r>
            <a:endParaRPr/>
          </a:p>
        </p:txBody>
      </p:sp>
      <p:sp>
        <p:nvSpPr>
          <p:cNvPr id="180" name="Google Shape;180;p3"/>
          <p:cNvSpPr txBox="1"/>
          <p:nvPr/>
        </p:nvSpPr>
        <p:spPr>
          <a:xfrm>
            <a:off x="4206240" y="2258568"/>
            <a:ext cx="1335024" cy="27432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750" u="none" cap="none" strike="noStrike">
                <a:solidFill>
                  <a:srgbClr val="EC4899"/>
                </a:solidFill>
                <a:latin typeface="Arial"/>
                <a:ea typeface="Arial"/>
                <a:cs typeface="Arial"/>
                <a:sym typeface="Arial"/>
              </a:rPr>
              <a:t>1,037</a:t>
            </a:r>
            <a:endParaRPr/>
          </a:p>
        </p:txBody>
      </p:sp>
      <p:sp>
        <p:nvSpPr>
          <p:cNvPr id="181" name="Google Shape;181;p3"/>
          <p:cNvSpPr txBox="1"/>
          <p:nvPr/>
        </p:nvSpPr>
        <p:spPr>
          <a:xfrm>
            <a:off x="868680" y="2843784"/>
            <a:ext cx="4663440" cy="2468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00" u="none" cap="none" strike="noStrike">
                <a:solidFill>
                  <a:srgbClr val="1E293B"/>
                </a:solidFill>
                <a:latin typeface="Arial"/>
                <a:ea typeface="Arial"/>
                <a:cs typeface="Arial"/>
                <a:sym typeface="Arial"/>
              </a:rPr>
              <a:t>5 balanced classes  •  8,000 raw sentences per dialect</a:t>
            </a:r>
            <a:endParaRPr/>
          </a:p>
        </p:txBody>
      </p:sp>
      <p:sp>
        <p:nvSpPr>
          <p:cNvPr id="182" name="Google Shape;182;p3"/>
          <p:cNvSpPr txBox="1"/>
          <p:nvPr/>
        </p:nvSpPr>
        <p:spPr>
          <a:xfrm>
            <a:off x="868680" y="3246120"/>
            <a:ext cx="4480560"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2563EB"/>
                </a:solidFill>
                <a:latin typeface="Arial"/>
                <a:ea typeface="Arial"/>
                <a:cs typeface="Arial"/>
                <a:sym typeface="Arial"/>
              </a:rPr>
              <a:t>Duplicates removed before splitting</a:t>
            </a:r>
            <a:endParaRPr/>
          </a:p>
        </p:txBody>
      </p:sp>
      <p:sp>
        <p:nvSpPr>
          <p:cNvPr id="183" name="Google Shape;183;p3"/>
          <p:cNvSpPr txBox="1"/>
          <p:nvPr/>
        </p:nvSpPr>
        <p:spPr>
          <a:xfrm>
            <a:off x="868680" y="3520440"/>
            <a:ext cx="4526280" cy="6217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140" u="none" cap="none" strike="noStrike">
                <a:solidFill>
                  <a:srgbClr val="64748B"/>
                </a:solidFill>
                <a:latin typeface="Arial"/>
                <a:ea typeface="Arial"/>
                <a:cs typeface="Arial"/>
                <a:sym typeface="Arial"/>
              </a:rPr>
              <a:t>Exact and post-cleaning deduplication prevents the same or normalized-equivalent sentence from crossing train/test boundaries.</a:t>
            </a:r>
            <a:endParaRPr/>
          </a:p>
        </p:txBody>
      </p:sp>
      <p:sp>
        <p:nvSpPr>
          <p:cNvPr id="184" name="Google Shape;184;p3"/>
          <p:cNvSpPr txBox="1"/>
          <p:nvPr/>
        </p:nvSpPr>
        <p:spPr>
          <a:xfrm>
            <a:off x="868680" y="4251960"/>
            <a:ext cx="4480560" cy="1828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60" u="none" cap="none" strike="noStrike">
                <a:solidFill>
                  <a:srgbClr val="64748B"/>
                </a:solidFill>
                <a:latin typeface="Arial"/>
                <a:ea typeface="Arial"/>
                <a:cs typeface="Arial"/>
                <a:sym typeface="Arial"/>
              </a:rPr>
              <a:t>STRATIFIED 70 / 15 / 15 SPLIT</a:t>
            </a:r>
            <a:endParaRPr/>
          </a:p>
        </p:txBody>
      </p:sp>
      <p:sp>
        <p:nvSpPr>
          <p:cNvPr id="185" name="Google Shape;185;p3"/>
          <p:cNvSpPr/>
          <p:nvPr/>
        </p:nvSpPr>
        <p:spPr>
          <a:xfrm>
            <a:off x="868680" y="4553712"/>
            <a:ext cx="3168396" cy="256032"/>
          </a:xfrm>
          <a:prstGeom prst="rect">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 name="Google Shape;186;p3"/>
          <p:cNvSpPr/>
          <p:nvPr/>
        </p:nvSpPr>
        <p:spPr>
          <a:xfrm>
            <a:off x="4037076" y="4553712"/>
            <a:ext cx="678942" cy="256032"/>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3"/>
          <p:cNvSpPr/>
          <p:nvPr/>
        </p:nvSpPr>
        <p:spPr>
          <a:xfrm>
            <a:off x="4716018" y="4553712"/>
            <a:ext cx="678942" cy="256032"/>
          </a:xfrm>
          <a:prstGeom prst="rect">
            <a:avLst/>
          </a:prstGeom>
          <a:solidFill>
            <a:srgbClr val="16A3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 name="Google Shape;188;p3"/>
          <p:cNvSpPr txBox="1"/>
          <p:nvPr/>
        </p:nvSpPr>
        <p:spPr>
          <a:xfrm>
            <a:off x="868680" y="4937760"/>
            <a:ext cx="1920240" cy="2194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2563EB"/>
                </a:solidFill>
                <a:latin typeface="Arial"/>
                <a:ea typeface="Arial"/>
                <a:cs typeface="Arial"/>
                <a:sym typeface="Arial"/>
              </a:rPr>
              <a:t>Train  27,274 (70%)</a:t>
            </a:r>
            <a:endParaRPr/>
          </a:p>
        </p:txBody>
      </p:sp>
      <p:sp>
        <p:nvSpPr>
          <p:cNvPr id="189" name="Google Shape;189;p3"/>
          <p:cNvSpPr txBox="1"/>
          <p:nvPr/>
        </p:nvSpPr>
        <p:spPr>
          <a:xfrm>
            <a:off x="2880360" y="4937760"/>
            <a:ext cx="2240280" cy="2194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38BDF8"/>
                </a:solidFill>
                <a:latin typeface="Arial"/>
                <a:ea typeface="Arial"/>
                <a:cs typeface="Arial"/>
                <a:sym typeface="Arial"/>
              </a:rPr>
              <a:t>Validation  5,844 (15%)</a:t>
            </a:r>
            <a:endParaRPr/>
          </a:p>
        </p:txBody>
      </p:sp>
      <p:sp>
        <p:nvSpPr>
          <p:cNvPr id="190" name="Google Shape;190;p3"/>
          <p:cNvSpPr txBox="1"/>
          <p:nvPr/>
        </p:nvSpPr>
        <p:spPr>
          <a:xfrm>
            <a:off x="868680" y="5358384"/>
            <a:ext cx="4526280"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30" u="none" cap="none" strike="noStrike">
                <a:solidFill>
                  <a:srgbClr val="16A34A"/>
                </a:solidFill>
                <a:latin typeface="Arial"/>
                <a:ea typeface="Arial"/>
                <a:cs typeface="Arial"/>
                <a:sym typeface="Arial"/>
              </a:rPr>
              <a:t>Unseen test: 5,845 sentences (15%)</a:t>
            </a:r>
            <a:endParaRPr/>
          </a:p>
        </p:txBody>
      </p:sp>
      <p:sp>
        <p:nvSpPr>
          <p:cNvPr id="191" name="Google Shape;191;p3"/>
          <p:cNvSpPr txBox="1"/>
          <p:nvPr/>
        </p:nvSpPr>
        <p:spPr>
          <a:xfrm>
            <a:off x="868680" y="5715000"/>
            <a:ext cx="452628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1" lang="en-US" sz="860" u="none" cap="none" strike="noStrike">
                <a:solidFill>
                  <a:srgbClr val="64748B"/>
                </a:solidFill>
                <a:latin typeface="Arial"/>
                <a:ea typeface="Arial"/>
                <a:cs typeface="Arial"/>
                <a:sym typeface="Arial"/>
              </a:rPr>
              <a:t>Split after de-duplication  •  no intentional overlap</a:t>
            </a:r>
            <a:endParaRPr/>
          </a:p>
        </p:txBody>
      </p:sp>
      <p:cxnSp>
        <p:nvCxnSpPr>
          <p:cNvPr id="192" name="Google Shape;192;p3"/>
          <p:cNvCxnSpPr/>
          <p:nvPr/>
        </p:nvCxnSpPr>
        <p:spPr>
          <a:xfrm>
            <a:off x="594360" y="6473952"/>
            <a:ext cx="11000232" cy="0"/>
          </a:xfrm>
          <a:prstGeom prst="straightConnector1">
            <a:avLst/>
          </a:prstGeom>
          <a:noFill/>
          <a:ln cap="flat" cmpd="sng" w="9525">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193" name="Google Shape;193;p3"/>
          <p:cNvSpPr txBox="1"/>
          <p:nvPr/>
        </p:nvSpPr>
        <p:spPr>
          <a:xfrm>
            <a:off x="603504" y="6547104"/>
            <a:ext cx="45720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64748B"/>
                </a:solidFill>
                <a:latin typeface="Arial"/>
                <a:ea typeface="Arial"/>
                <a:cs typeface="Arial"/>
                <a:sym typeface="Arial"/>
              </a:rPr>
              <a:t>ARABIC DIALECT CLASSIFICATION</a:t>
            </a:r>
            <a:endParaRPr/>
          </a:p>
        </p:txBody>
      </p:sp>
      <p:sp>
        <p:nvSpPr>
          <p:cNvPr id="194" name="Google Shape;194;p3"/>
          <p:cNvSpPr txBox="1"/>
          <p:nvPr/>
        </p:nvSpPr>
        <p:spPr>
          <a:xfrm>
            <a:off x="10652760" y="6528816"/>
            <a:ext cx="914400" cy="18288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850" u="none" cap="none" strike="noStrike">
                <a:solidFill>
                  <a:srgbClr val="64748B"/>
                </a:solidFill>
                <a:latin typeface="Arial"/>
                <a:ea typeface="Arial"/>
                <a:cs typeface="Arial"/>
                <a:sym typeface="Arial"/>
              </a:rPr>
              <a:t>03  /  12</a:t>
            </a:r>
            <a:endParaRPr/>
          </a:p>
        </p:txBody>
      </p:sp>
      <p:pic>
        <p:nvPicPr>
          <p:cNvPr id="195" name="Google Shape;195;p3"/>
          <p:cNvPicPr preferRelativeResize="0"/>
          <p:nvPr/>
        </p:nvPicPr>
        <p:blipFill rotWithShape="1">
          <a:blip r:embed="rId3">
            <a:alphaModFix/>
          </a:blip>
          <a:srcRect b="0" l="0" r="0" t="0"/>
          <a:stretch/>
        </p:blipFill>
        <p:spPr>
          <a:xfrm>
            <a:off x="6108193" y="1418801"/>
            <a:ext cx="5870448" cy="2350010"/>
          </a:xfrm>
          <a:prstGeom prst="rect">
            <a:avLst/>
          </a:prstGeom>
          <a:noFill/>
          <a:ln>
            <a:noFill/>
          </a:ln>
        </p:spPr>
      </p:pic>
      <p:pic>
        <p:nvPicPr>
          <p:cNvPr id="196" name="Google Shape;196;p3"/>
          <p:cNvPicPr preferRelativeResize="0"/>
          <p:nvPr/>
        </p:nvPicPr>
        <p:blipFill rotWithShape="1">
          <a:blip r:embed="rId4">
            <a:alphaModFix/>
          </a:blip>
          <a:srcRect b="0" l="0" r="0" t="0"/>
          <a:stretch/>
        </p:blipFill>
        <p:spPr>
          <a:xfrm>
            <a:off x="6176033" y="3674642"/>
            <a:ext cx="5802607" cy="2470126"/>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01" name="Shape 201"/>
        <p:cNvGrpSpPr/>
        <p:nvPr/>
      </p:nvGrpSpPr>
      <p:grpSpPr>
        <a:xfrm>
          <a:off x="0" y="0"/>
          <a:ext cx="0" cy="0"/>
          <a:chOff x="0" y="0"/>
          <a:chExt cx="0" cy="0"/>
        </a:xfrm>
      </p:grpSpPr>
      <p:sp>
        <p:nvSpPr>
          <p:cNvPr id="202" name="Google Shape;202;p4"/>
          <p:cNvSpPr/>
          <p:nvPr/>
        </p:nvSpPr>
        <p:spPr>
          <a:xfrm>
            <a:off x="0" y="0"/>
            <a:ext cx="12191695" cy="128016"/>
          </a:xfrm>
          <a:prstGeom prst="rect">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 name="Google Shape;203;p4"/>
          <p:cNvSpPr/>
          <p:nvPr/>
        </p:nvSpPr>
        <p:spPr>
          <a:xfrm>
            <a:off x="0" y="0"/>
            <a:ext cx="2011680" cy="12801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 name="Google Shape;204;p4"/>
          <p:cNvSpPr txBox="1"/>
          <p:nvPr/>
        </p:nvSpPr>
        <p:spPr>
          <a:xfrm>
            <a:off x="603504" y="274320"/>
            <a:ext cx="27432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2563EB"/>
                </a:solidFill>
                <a:latin typeface="Arial"/>
                <a:ea typeface="Arial"/>
                <a:cs typeface="Arial"/>
                <a:sym typeface="Arial"/>
              </a:rPr>
              <a:t>TEXT ENGINEERING</a:t>
            </a:r>
            <a:endParaRPr/>
          </a:p>
        </p:txBody>
      </p:sp>
      <p:sp>
        <p:nvSpPr>
          <p:cNvPr id="205" name="Google Shape;205;p4"/>
          <p:cNvSpPr txBox="1"/>
          <p:nvPr/>
        </p:nvSpPr>
        <p:spPr>
          <a:xfrm>
            <a:off x="594360" y="521207"/>
            <a:ext cx="10972800" cy="53035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800" u="none" cap="none" strike="noStrike">
                <a:solidFill>
                  <a:srgbClr val="0F172A"/>
                </a:solidFill>
                <a:latin typeface="Arial"/>
                <a:ea typeface="Arial"/>
                <a:cs typeface="Arial"/>
                <a:sym typeface="Arial"/>
              </a:rPr>
              <a:t>Domain-Specific Arabic Preprocessing Pipeline</a:t>
            </a:r>
            <a:endParaRPr/>
          </a:p>
        </p:txBody>
      </p:sp>
      <p:sp>
        <p:nvSpPr>
          <p:cNvPr id="206" name="Google Shape;206;p4"/>
          <p:cNvSpPr/>
          <p:nvPr/>
        </p:nvSpPr>
        <p:spPr>
          <a:xfrm>
            <a:off x="11411712" y="347472"/>
            <a:ext cx="164592" cy="164592"/>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 name="Google Shape;207;p4"/>
          <p:cNvSpPr/>
          <p:nvPr/>
        </p:nvSpPr>
        <p:spPr>
          <a:xfrm>
            <a:off x="11612880" y="347472"/>
            <a:ext cx="164592" cy="16459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8" name="Google Shape;208;p4"/>
          <p:cNvSpPr/>
          <p:nvPr/>
        </p:nvSpPr>
        <p:spPr>
          <a:xfrm>
            <a:off x="11814048" y="347472"/>
            <a:ext cx="164592" cy="164592"/>
          </a:xfrm>
          <a:prstGeom prst="ellipse">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 name="Google Shape;209;p4"/>
          <p:cNvSpPr/>
          <p:nvPr/>
        </p:nvSpPr>
        <p:spPr>
          <a:xfrm>
            <a:off x="626364" y="1348739"/>
            <a:ext cx="5413248" cy="2148840"/>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 name="Google Shape;210;p4"/>
          <p:cNvSpPr/>
          <p:nvPr/>
        </p:nvSpPr>
        <p:spPr>
          <a:xfrm>
            <a:off x="594360" y="1307592"/>
            <a:ext cx="5413248" cy="2148840"/>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4"/>
          <p:cNvSpPr/>
          <p:nvPr/>
        </p:nvSpPr>
        <p:spPr>
          <a:xfrm>
            <a:off x="594360" y="1325880"/>
            <a:ext cx="50292" cy="2112264"/>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 name="Google Shape;212;p4"/>
          <p:cNvSpPr txBox="1"/>
          <p:nvPr/>
        </p:nvSpPr>
        <p:spPr>
          <a:xfrm>
            <a:off x="813816" y="1508760"/>
            <a:ext cx="5001768"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30" u="none" cap="none" strike="noStrike">
                <a:solidFill>
                  <a:srgbClr val="1E293B"/>
                </a:solidFill>
                <a:latin typeface="Arial"/>
                <a:ea typeface="Arial"/>
                <a:cs typeface="Arial"/>
                <a:sym typeface="Arial"/>
              </a:rPr>
              <a:t>01  Retain Arabic Stopwords</a:t>
            </a:r>
            <a:endParaRPr/>
          </a:p>
        </p:txBody>
      </p:sp>
      <p:sp>
        <p:nvSpPr>
          <p:cNvPr id="213" name="Google Shape;213;p4"/>
          <p:cNvSpPr txBox="1"/>
          <p:nvPr/>
        </p:nvSpPr>
        <p:spPr>
          <a:xfrm>
            <a:off x="813816" y="2020824"/>
            <a:ext cx="5001768" cy="1051560"/>
          </a:xfrm>
          <a:prstGeom prst="rect">
            <a:avLst/>
          </a:prstGeom>
          <a:noFill/>
          <a:ln>
            <a:noFill/>
          </a:ln>
        </p:spPr>
        <p:txBody>
          <a:bodyPr anchorCtr="0" anchor="t" bIns="18275" lIns="54850" spcFirstLastPara="1" rIns="36575" wrap="square" tIns="27425">
            <a:spAutoFit/>
          </a:bodyPr>
          <a:lstStyle/>
          <a:p>
            <a:pPr indent="0" lvl="0" marL="0" marR="0" rtl="0" algn="l">
              <a:lnSpc>
                <a:spcPct val="105000"/>
              </a:lnSpc>
              <a:spcBef>
                <a:spcPts val="0"/>
              </a:spcBef>
              <a:spcAft>
                <a:spcPts val="0"/>
              </a:spcAft>
              <a:buNone/>
            </a:pPr>
            <a:r>
              <a:rPr b="0" i="0" lang="en-US" sz="1200" u="none" cap="none" strike="noStrike">
                <a:solidFill>
                  <a:srgbClr val="1E293B"/>
                </a:solidFill>
                <a:latin typeface="Arial"/>
                <a:ea typeface="Arial"/>
                <a:cs typeface="Arial"/>
                <a:sym typeface="Arial"/>
              </a:rPr>
              <a:t>•  Generic lists can delete negations, pronouns, and interrogatives.</a:t>
            </a:r>
            <a:endParaRPr/>
          </a:p>
          <a:p>
            <a:pPr indent="0" lvl="0" marL="0" marR="0" rtl="0" algn="l">
              <a:lnSpc>
                <a:spcPct val="105000"/>
              </a:lnSpc>
              <a:spcBef>
                <a:spcPts val="700"/>
              </a:spcBef>
              <a:spcAft>
                <a:spcPts val="0"/>
              </a:spcAft>
              <a:buNone/>
            </a:pPr>
            <a:r>
              <a:rPr b="0" i="0" lang="en-US" sz="1200" u="none" cap="none" strike="noStrike">
                <a:solidFill>
                  <a:srgbClr val="1E293B"/>
                </a:solidFill>
                <a:latin typeface="Arial"/>
                <a:ea typeface="Arial"/>
                <a:cs typeface="Arial"/>
                <a:sym typeface="Arial"/>
              </a:rPr>
              <a:t>•  Here, function words are strong dialect fingerprints.</a:t>
            </a:r>
            <a:endParaRPr/>
          </a:p>
        </p:txBody>
      </p:sp>
      <p:sp>
        <p:nvSpPr>
          <p:cNvPr id="214" name="Google Shape;214;p4"/>
          <p:cNvSpPr txBox="1"/>
          <p:nvPr/>
        </p:nvSpPr>
        <p:spPr>
          <a:xfrm>
            <a:off x="813816" y="2971800"/>
            <a:ext cx="5001768"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69" u="none" cap="none" strike="noStrike">
                <a:solidFill>
                  <a:srgbClr val="2563EB"/>
                </a:solidFill>
                <a:latin typeface="Arial"/>
                <a:ea typeface="Arial"/>
                <a:cs typeface="Arial"/>
                <a:sym typeface="Arial"/>
              </a:rPr>
              <a:t>Cairo: إيه / مش / عايز   •   Beirut: شو / ما / بدي</a:t>
            </a:r>
            <a:endParaRPr/>
          </a:p>
        </p:txBody>
      </p:sp>
      <p:sp>
        <p:nvSpPr>
          <p:cNvPr id="215" name="Google Shape;215;p4"/>
          <p:cNvSpPr txBox="1"/>
          <p:nvPr/>
        </p:nvSpPr>
        <p:spPr>
          <a:xfrm>
            <a:off x="813816" y="3209544"/>
            <a:ext cx="5001768" cy="1828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30" u="none" cap="none" strike="noStrike">
                <a:solidFill>
                  <a:srgbClr val="2563EB"/>
                </a:solidFill>
                <a:latin typeface="Arial"/>
                <a:ea typeface="Arial"/>
                <a:cs typeface="Arial"/>
                <a:sym typeface="Arial"/>
              </a:rPr>
              <a:t>Tunis: شنوة / برشا / فماش   •   Doha: وش / مو / ابغى</a:t>
            </a:r>
            <a:endParaRPr/>
          </a:p>
        </p:txBody>
      </p:sp>
      <p:sp>
        <p:nvSpPr>
          <p:cNvPr id="216" name="Google Shape;216;p4"/>
          <p:cNvSpPr/>
          <p:nvPr/>
        </p:nvSpPr>
        <p:spPr>
          <a:xfrm>
            <a:off x="6222492" y="1348739"/>
            <a:ext cx="5413248" cy="2148840"/>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 name="Google Shape;217;p4"/>
          <p:cNvSpPr/>
          <p:nvPr/>
        </p:nvSpPr>
        <p:spPr>
          <a:xfrm>
            <a:off x="6190488" y="1307592"/>
            <a:ext cx="5413248" cy="2148840"/>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 name="Google Shape;218;p4"/>
          <p:cNvSpPr/>
          <p:nvPr/>
        </p:nvSpPr>
        <p:spPr>
          <a:xfrm>
            <a:off x="6190488" y="1325880"/>
            <a:ext cx="50292" cy="2112264"/>
          </a:xfrm>
          <a:prstGeom prst="rect">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 name="Google Shape;219;p4"/>
          <p:cNvSpPr txBox="1"/>
          <p:nvPr/>
        </p:nvSpPr>
        <p:spPr>
          <a:xfrm>
            <a:off x="6409944" y="1508760"/>
            <a:ext cx="5001768"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30" u="none" cap="none" strike="noStrike">
                <a:solidFill>
                  <a:srgbClr val="1E293B"/>
                </a:solidFill>
                <a:latin typeface="Arial"/>
                <a:ea typeface="Arial"/>
                <a:cs typeface="Arial"/>
                <a:sym typeface="Arial"/>
              </a:rPr>
              <a:t>02  Retain Short Sentences</a:t>
            </a:r>
            <a:endParaRPr/>
          </a:p>
        </p:txBody>
      </p:sp>
      <p:sp>
        <p:nvSpPr>
          <p:cNvPr id="220" name="Google Shape;220;p4"/>
          <p:cNvSpPr txBox="1"/>
          <p:nvPr/>
        </p:nvSpPr>
        <p:spPr>
          <a:xfrm>
            <a:off x="6409944" y="2066543"/>
            <a:ext cx="4974336" cy="1078992"/>
          </a:xfrm>
          <a:prstGeom prst="rect">
            <a:avLst/>
          </a:prstGeom>
          <a:noFill/>
          <a:ln>
            <a:noFill/>
          </a:ln>
        </p:spPr>
        <p:txBody>
          <a:bodyPr anchorCtr="0" anchor="t" bIns="18275" lIns="54850" spcFirstLastPara="1" rIns="36575" wrap="square" tIns="27425">
            <a:spAutoFit/>
          </a:bodyPr>
          <a:lstStyle/>
          <a:p>
            <a:pPr indent="0" lvl="0" marL="0" marR="0" rtl="0" algn="l">
              <a:lnSpc>
                <a:spcPct val="105000"/>
              </a:lnSpc>
              <a:spcBef>
                <a:spcPts val="0"/>
              </a:spcBef>
              <a:spcAft>
                <a:spcPts val="0"/>
              </a:spcAft>
              <a:buNone/>
            </a:pPr>
            <a:r>
              <a:rPr b="0" i="0" lang="en-US" sz="1220" u="none" cap="none" strike="noStrike">
                <a:solidFill>
                  <a:srgbClr val="1E293B"/>
                </a:solidFill>
                <a:latin typeface="Arial"/>
                <a:ea typeface="Arial"/>
                <a:cs typeface="Arial"/>
                <a:sym typeface="Arial"/>
              </a:rPr>
              <a:t>•  One- and two-word turns may carry concentrated regional signals.</a:t>
            </a:r>
            <a:endParaRPr/>
          </a:p>
          <a:p>
            <a:pPr indent="0" lvl="0" marL="0" marR="0" rtl="0" algn="l">
              <a:lnSpc>
                <a:spcPct val="105000"/>
              </a:lnSpc>
              <a:spcBef>
                <a:spcPts val="1000"/>
              </a:spcBef>
              <a:spcAft>
                <a:spcPts val="0"/>
              </a:spcAft>
              <a:buNone/>
            </a:pPr>
            <a:r>
              <a:rPr b="0" i="0" lang="en-US" sz="1220" u="none" cap="none" strike="noStrike">
                <a:solidFill>
                  <a:srgbClr val="1E293B"/>
                </a:solidFill>
                <a:latin typeface="Arial"/>
                <a:ea typeface="Arial"/>
                <a:cs typeface="Arial"/>
                <a:sym typeface="Arial"/>
              </a:rPr>
              <a:t>•  Examples: “يعيشك”, “شورايك”, and “معلش”.</a:t>
            </a:r>
            <a:endParaRPr/>
          </a:p>
        </p:txBody>
      </p:sp>
      <p:sp>
        <p:nvSpPr>
          <p:cNvPr id="221" name="Google Shape;221;p4"/>
          <p:cNvSpPr/>
          <p:nvPr/>
        </p:nvSpPr>
        <p:spPr>
          <a:xfrm>
            <a:off x="6446520" y="3026663"/>
            <a:ext cx="2176272" cy="256032"/>
          </a:xfrm>
          <a:prstGeom prst="roundRect">
            <a:avLst>
              <a:gd fmla="val 16667" name="adj"/>
            </a:avLst>
          </a:prstGeom>
          <a:solidFill>
            <a:srgbClr val="FCE7F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2" name="Google Shape;222;p4"/>
          <p:cNvSpPr txBox="1"/>
          <p:nvPr/>
        </p:nvSpPr>
        <p:spPr>
          <a:xfrm>
            <a:off x="6547103" y="3090672"/>
            <a:ext cx="1975104" cy="12801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30" u="none" cap="none" strike="noStrike">
                <a:solidFill>
                  <a:srgbClr val="EC4899"/>
                </a:solidFill>
                <a:latin typeface="Arial"/>
                <a:ea typeface="Arial"/>
                <a:cs typeface="Arial"/>
                <a:sym typeface="Arial"/>
              </a:rPr>
              <a:t>DON’T DISCARD SIGNAL</a:t>
            </a:r>
            <a:endParaRPr/>
          </a:p>
        </p:txBody>
      </p:sp>
      <p:sp>
        <p:nvSpPr>
          <p:cNvPr id="223" name="Google Shape;223;p4"/>
          <p:cNvSpPr/>
          <p:nvPr/>
        </p:nvSpPr>
        <p:spPr>
          <a:xfrm>
            <a:off x="626364" y="3744468"/>
            <a:ext cx="5413248" cy="2148840"/>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 name="Google Shape;224;p4"/>
          <p:cNvSpPr/>
          <p:nvPr/>
        </p:nvSpPr>
        <p:spPr>
          <a:xfrm>
            <a:off x="594360" y="3703320"/>
            <a:ext cx="5413248" cy="2148840"/>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5" name="Google Shape;225;p4"/>
          <p:cNvSpPr/>
          <p:nvPr/>
        </p:nvSpPr>
        <p:spPr>
          <a:xfrm>
            <a:off x="594360" y="3721607"/>
            <a:ext cx="50292" cy="2112264"/>
          </a:xfrm>
          <a:prstGeom prst="rect">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6" name="Google Shape;226;p4"/>
          <p:cNvSpPr txBox="1"/>
          <p:nvPr/>
        </p:nvSpPr>
        <p:spPr>
          <a:xfrm>
            <a:off x="813816" y="3904487"/>
            <a:ext cx="5001768"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u="none" cap="none" strike="noStrike">
                <a:solidFill>
                  <a:srgbClr val="1E293B"/>
                </a:solidFill>
                <a:latin typeface="Arial"/>
                <a:ea typeface="Arial"/>
                <a:cs typeface="Arial"/>
                <a:sym typeface="Arial"/>
              </a:rPr>
              <a:t>03  Deterministic Regex Normalization</a:t>
            </a:r>
            <a:endParaRPr/>
          </a:p>
        </p:txBody>
      </p:sp>
      <p:sp>
        <p:nvSpPr>
          <p:cNvPr id="227" name="Google Shape;227;p4"/>
          <p:cNvSpPr txBox="1"/>
          <p:nvPr/>
        </p:nvSpPr>
        <p:spPr>
          <a:xfrm>
            <a:off x="822960" y="4407408"/>
            <a:ext cx="2148840"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120" u="none" cap="none" strike="noStrike">
                <a:solidFill>
                  <a:srgbClr val="2563EB"/>
                </a:solidFill>
                <a:latin typeface="Arial"/>
                <a:ea typeface="Arial"/>
                <a:cs typeface="Arial"/>
                <a:sym typeface="Arial"/>
              </a:rPr>
              <a:t>clean_arabic_text</a:t>
            </a:r>
            <a:endParaRPr/>
          </a:p>
        </p:txBody>
      </p:sp>
      <p:sp>
        <p:nvSpPr>
          <p:cNvPr id="228" name="Google Shape;228;p4"/>
          <p:cNvSpPr txBox="1"/>
          <p:nvPr/>
        </p:nvSpPr>
        <p:spPr>
          <a:xfrm>
            <a:off x="813816" y="4690872"/>
            <a:ext cx="4974336" cy="950976"/>
          </a:xfrm>
          <a:prstGeom prst="rect">
            <a:avLst/>
          </a:prstGeom>
          <a:noFill/>
          <a:ln>
            <a:noFill/>
          </a:ln>
        </p:spPr>
        <p:txBody>
          <a:bodyPr anchorCtr="0" anchor="t" bIns="18275" lIns="54850" spcFirstLastPara="1" rIns="36575" wrap="square" tIns="27425">
            <a:spAutoFit/>
          </a:bodyPr>
          <a:lstStyle/>
          <a:p>
            <a:pPr indent="0" lvl="0" marL="0" marR="0" rtl="0" algn="l">
              <a:lnSpc>
                <a:spcPct val="105000"/>
              </a:lnSpc>
              <a:spcBef>
                <a:spcPts val="0"/>
              </a:spcBef>
              <a:spcAft>
                <a:spcPts val="0"/>
              </a:spcAft>
              <a:buNone/>
            </a:pPr>
            <a:r>
              <a:rPr b="0" i="0" lang="en-US" sz="1170" u="none" cap="none" strike="noStrike">
                <a:solidFill>
                  <a:srgbClr val="1E293B"/>
                </a:solidFill>
                <a:latin typeface="Arial"/>
                <a:ea typeface="Arial"/>
                <a:cs typeface="Arial"/>
                <a:sym typeface="Arial"/>
              </a:rPr>
              <a:t>•  Strip tashkeel, tatweel, URLs, digits, and non-Arabic characters.</a:t>
            </a:r>
            <a:endParaRPr/>
          </a:p>
          <a:p>
            <a:pPr indent="0" lvl="0" marL="0" marR="0" rtl="0" algn="l">
              <a:lnSpc>
                <a:spcPct val="105000"/>
              </a:lnSpc>
              <a:spcBef>
                <a:spcPts val="700"/>
              </a:spcBef>
              <a:spcAft>
                <a:spcPts val="0"/>
              </a:spcAft>
              <a:buNone/>
            </a:pPr>
            <a:r>
              <a:rPr b="0" i="0" lang="en-US" sz="1170" u="none" cap="none" strike="noStrike">
                <a:solidFill>
                  <a:srgbClr val="1E293B"/>
                </a:solidFill>
                <a:latin typeface="Arial"/>
                <a:ea typeface="Arial"/>
                <a:cs typeface="Arial"/>
                <a:sym typeface="Arial"/>
              </a:rPr>
              <a:t>•  Normalize variants: (إ / أ / آ → ا), (ى → ي), (ة → ه).</a:t>
            </a:r>
            <a:endParaRPr/>
          </a:p>
        </p:txBody>
      </p:sp>
      <p:sp>
        <p:nvSpPr>
          <p:cNvPr id="229" name="Google Shape;229;p4"/>
          <p:cNvSpPr/>
          <p:nvPr/>
        </p:nvSpPr>
        <p:spPr>
          <a:xfrm>
            <a:off x="6222492" y="3744468"/>
            <a:ext cx="5413248" cy="2148840"/>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0" name="Google Shape;230;p4"/>
          <p:cNvSpPr/>
          <p:nvPr/>
        </p:nvSpPr>
        <p:spPr>
          <a:xfrm>
            <a:off x="6190488" y="3703320"/>
            <a:ext cx="5413248" cy="2148840"/>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 name="Google Shape;231;p4"/>
          <p:cNvSpPr/>
          <p:nvPr/>
        </p:nvSpPr>
        <p:spPr>
          <a:xfrm>
            <a:off x="6190488" y="3721607"/>
            <a:ext cx="50292" cy="2112264"/>
          </a:xfrm>
          <a:prstGeom prst="rect">
            <a:avLst/>
          </a:prstGeom>
          <a:solidFill>
            <a:srgbClr val="16A3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 name="Google Shape;232;p4"/>
          <p:cNvSpPr txBox="1"/>
          <p:nvPr/>
        </p:nvSpPr>
        <p:spPr>
          <a:xfrm>
            <a:off x="6409944" y="3904487"/>
            <a:ext cx="5001768"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30" u="none" cap="none" strike="noStrike">
                <a:solidFill>
                  <a:srgbClr val="1E293B"/>
                </a:solidFill>
                <a:latin typeface="Arial"/>
                <a:ea typeface="Arial"/>
                <a:cs typeface="Arial"/>
                <a:sym typeface="Arial"/>
              </a:rPr>
              <a:t>04  Before → After</a:t>
            </a:r>
            <a:endParaRPr/>
          </a:p>
        </p:txBody>
      </p:sp>
      <p:sp>
        <p:nvSpPr>
          <p:cNvPr id="233" name="Google Shape;233;p4"/>
          <p:cNvSpPr txBox="1"/>
          <p:nvPr/>
        </p:nvSpPr>
        <p:spPr>
          <a:xfrm>
            <a:off x="6409944" y="4443983"/>
            <a:ext cx="9144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30" u="none" cap="none" strike="noStrike">
                <a:solidFill>
                  <a:srgbClr val="64748B"/>
                </a:solidFill>
                <a:latin typeface="Arial"/>
                <a:ea typeface="Arial"/>
                <a:cs typeface="Arial"/>
                <a:sym typeface="Arial"/>
              </a:rPr>
              <a:t>RAW INPUT</a:t>
            </a:r>
            <a:endParaRPr/>
          </a:p>
        </p:txBody>
      </p:sp>
      <p:sp>
        <p:nvSpPr>
          <p:cNvPr id="234" name="Google Shape;234;p4"/>
          <p:cNvSpPr txBox="1"/>
          <p:nvPr/>
        </p:nvSpPr>
        <p:spPr>
          <a:xfrm>
            <a:off x="6409944" y="4672583"/>
            <a:ext cx="4956048" cy="30175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1E293B"/>
                </a:solidFill>
                <a:latin typeface="Arial"/>
                <a:ea typeface="Arial"/>
                <a:cs typeface="Arial"/>
                <a:sym typeface="Arial"/>
              </a:rPr>
              <a:t>“شُورَأْيَك بـ 10 دولار للتلاتة؟!!”</a:t>
            </a:r>
            <a:endParaRPr/>
          </a:p>
        </p:txBody>
      </p:sp>
      <p:cxnSp>
        <p:nvCxnSpPr>
          <p:cNvPr id="235" name="Google Shape;235;p4"/>
          <p:cNvCxnSpPr/>
          <p:nvPr/>
        </p:nvCxnSpPr>
        <p:spPr>
          <a:xfrm>
            <a:off x="6409944" y="5056631"/>
            <a:ext cx="4974336" cy="0"/>
          </a:xfrm>
          <a:prstGeom prst="straightConnector1">
            <a:avLst/>
          </a:prstGeom>
          <a:noFill/>
          <a:ln cap="flat" cmpd="sng" w="10150">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236" name="Google Shape;236;p4"/>
          <p:cNvSpPr txBox="1"/>
          <p:nvPr/>
        </p:nvSpPr>
        <p:spPr>
          <a:xfrm>
            <a:off x="6409944" y="5157216"/>
            <a:ext cx="16002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30" u="none" cap="none" strike="noStrike">
                <a:solidFill>
                  <a:srgbClr val="16A34A"/>
                </a:solidFill>
                <a:latin typeface="Arial"/>
                <a:ea typeface="Arial"/>
                <a:cs typeface="Arial"/>
                <a:sym typeface="Arial"/>
              </a:rPr>
              <a:t>NORMALIZED OUTPUT</a:t>
            </a:r>
            <a:endParaRPr/>
          </a:p>
        </p:txBody>
      </p:sp>
      <p:sp>
        <p:nvSpPr>
          <p:cNvPr id="237" name="Google Shape;237;p4"/>
          <p:cNvSpPr txBox="1"/>
          <p:nvPr/>
        </p:nvSpPr>
        <p:spPr>
          <a:xfrm>
            <a:off x="6409944" y="5394960"/>
            <a:ext cx="4956048" cy="28346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20" u="none" cap="none" strike="noStrike">
                <a:solidFill>
                  <a:srgbClr val="16A34A"/>
                </a:solidFill>
                <a:latin typeface="Arial"/>
                <a:ea typeface="Arial"/>
                <a:cs typeface="Arial"/>
                <a:sym typeface="Arial"/>
              </a:rPr>
              <a:t>“شورايك ب دولار للتلاته”</a:t>
            </a:r>
            <a:endParaRPr/>
          </a:p>
        </p:txBody>
      </p:sp>
      <p:cxnSp>
        <p:nvCxnSpPr>
          <p:cNvPr id="238" name="Google Shape;238;p4"/>
          <p:cNvCxnSpPr/>
          <p:nvPr/>
        </p:nvCxnSpPr>
        <p:spPr>
          <a:xfrm>
            <a:off x="594360" y="6473952"/>
            <a:ext cx="11000232" cy="0"/>
          </a:xfrm>
          <a:prstGeom prst="straightConnector1">
            <a:avLst/>
          </a:prstGeom>
          <a:noFill/>
          <a:ln cap="flat" cmpd="sng" w="9525">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239" name="Google Shape;239;p4"/>
          <p:cNvSpPr txBox="1"/>
          <p:nvPr/>
        </p:nvSpPr>
        <p:spPr>
          <a:xfrm>
            <a:off x="603504" y="6547104"/>
            <a:ext cx="45720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64748B"/>
                </a:solidFill>
                <a:latin typeface="Arial"/>
                <a:ea typeface="Arial"/>
                <a:cs typeface="Arial"/>
                <a:sym typeface="Arial"/>
              </a:rPr>
              <a:t>ARABIC DIALECT CLASSIFICATION</a:t>
            </a:r>
            <a:endParaRPr/>
          </a:p>
        </p:txBody>
      </p:sp>
      <p:sp>
        <p:nvSpPr>
          <p:cNvPr id="240" name="Google Shape;240;p4"/>
          <p:cNvSpPr txBox="1"/>
          <p:nvPr/>
        </p:nvSpPr>
        <p:spPr>
          <a:xfrm>
            <a:off x="10652760" y="6528816"/>
            <a:ext cx="914400" cy="18288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850" u="none" cap="none" strike="noStrike">
                <a:solidFill>
                  <a:srgbClr val="64748B"/>
                </a:solidFill>
                <a:latin typeface="Arial"/>
                <a:ea typeface="Arial"/>
                <a:cs typeface="Arial"/>
                <a:sym typeface="Arial"/>
              </a:rPr>
              <a:t>04  /  12</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245" name="Shape 245"/>
        <p:cNvGrpSpPr/>
        <p:nvPr/>
      </p:nvGrpSpPr>
      <p:grpSpPr>
        <a:xfrm>
          <a:off x="0" y="0"/>
          <a:ext cx="0" cy="0"/>
          <a:chOff x="0" y="0"/>
          <a:chExt cx="0" cy="0"/>
        </a:xfrm>
      </p:grpSpPr>
      <p:sp>
        <p:nvSpPr>
          <p:cNvPr id="246" name="Google Shape;246;p5"/>
          <p:cNvSpPr/>
          <p:nvPr/>
        </p:nvSpPr>
        <p:spPr>
          <a:xfrm>
            <a:off x="0" y="0"/>
            <a:ext cx="12191695" cy="128016"/>
          </a:xfrm>
          <a:prstGeom prst="rect">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5"/>
          <p:cNvSpPr/>
          <p:nvPr/>
        </p:nvSpPr>
        <p:spPr>
          <a:xfrm>
            <a:off x="0" y="0"/>
            <a:ext cx="2011680" cy="12801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8" name="Google Shape;248;p5"/>
          <p:cNvSpPr txBox="1"/>
          <p:nvPr/>
        </p:nvSpPr>
        <p:spPr>
          <a:xfrm>
            <a:off x="603504" y="274320"/>
            <a:ext cx="27432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2563EB"/>
                </a:solidFill>
                <a:latin typeface="Arial"/>
                <a:ea typeface="Arial"/>
                <a:cs typeface="Arial"/>
                <a:sym typeface="Arial"/>
              </a:rPr>
              <a:t>MODEL DEVELOPMENT</a:t>
            </a:r>
            <a:endParaRPr/>
          </a:p>
        </p:txBody>
      </p:sp>
      <p:sp>
        <p:nvSpPr>
          <p:cNvPr id="249" name="Google Shape;249;p5"/>
          <p:cNvSpPr txBox="1"/>
          <p:nvPr/>
        </p:nvSpPr>
        <p:spPr>
          <a:xfrm>
            <a:off x="594360" y="521207"/>
            <a:ext cx="10972800" cy="53035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800" u="none" cap="none" strike="noStrike">
                <a:solidFill>
                  <a:srgbClr val="0F172A"/>
                </a:solidFill>
                <a:latin typeface="Arial"/>
                <a:ea typeface="Arial"/>
                <a:cs typeface="Arial"/>
                <a:sym typeface="Arial"/>
              </a:rPr>
              <a:t>End-to-End Modeling Progression</a:t>
            </a:r>
            <a:endParaRPr/>
          </a:p>
        </p:txBody>
      </p:sp>
      <p:sp>
        <p:nvSpPr>
          <p:cNvPr id="250" name="Google Shape;250;p5"/>
          <p:cNvSpPr/>
          <p:nvPr/>
        </p:nvSpPr>
        <p:spPr>
          <a:xfrm>
            <a:off x="11411712" y="347472"/>
            <a:ext cx="164592" cy="164592"/>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1" name="Google Shape;251;p5"/>
          <p:cNvSpPr/>
          <p:nvPr/>
        </p:nvSpPr>
        <p:spPr>
          <a:xfrm>
            <a:off x="11612880" y="347472"/>
            <a:ext cx="164592" cy="16459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2" name="Google Shape;252;p5"/>
          <p:cNvSpPr/>
          <p:nvPr/>
        </p:nvSpPr>
        <p:spPr>
          <a:xfrm>
            <a:off x="11814048" y="347472"/>
            <a:ext cx="164592" cy="164592"/>
          </a:xfrm>
          <a:prstGeom prst="ellipse">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3" name="Google Shape;253;p5"/>
          <p:cNvSpPr/>
          <p:nvPr/>
        </p:nvSpPr>
        <p:spPr>
          <a:xfrm>
            <a:off x="626364" y="1394460"/>
            <a:ext cx="3383280" cy="473659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4" name="Google Shape;254;p5"/>
          <p:cNvSpPr/>
          <p:nvPr/>
        </p:nvSpPr>
        <p:spPr>
          <a:xfrm>
            <a:off x="594360" y="1353312"/>
            <a:ext cx="3383280" cy="473659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5" name="Google Shape;255;p5"/>
          <p:cNvSpPr/>
          <p:nvPr/>
        </p:nvSpPr>
        <p:spPr>
          <a:xfrm>
            <a:off x="594360" y="1371600"/>
            <a:ext cx="50292" cy="470001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6" name="Google Shape;256;p5"/>
          <p:cNvSpPr txBox="1"/>
          <p:nvPr/>
        </p:nvSpPr>
        <p:spPr>
          <a:xfrm>
            <a:off x="813816" y="1490472"/>
            <a:ext cx="29718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38BDF8"/>
                </a:solidFill>
                <a:latin typeface="Arial"/>
                <a:ea typeface="Arial"/>
                <a:cs typeface="Arial"/>
                <a:sym typeface="Arial"/>
              </a:rPr>
              <a:t>PHASE 01</a:t>
            </a:r>
            <a:endParaRPr/>
          </a:p>
        </p:txBody>
      </p:sp>
      <p:sp>
        <p:nvSpPr>
          <p:cNvPr id="257" name="Google Shape;257;p5"/>
          <p:cNvSpPr txBox="1"/>
          <p:nvPr/>
        </p:nvSpPr>
        <p:spPr>
          <a:xfrm>
            <a:off x="813816" y="1709928"/>
            <a:ext cx="2971800"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10" u="none" cap="none" strike="noStrike">
                <a:solidFill>
                  <a:srgbClr val="1E293B"/>
                </a:solidFill>
                <a:latin typeface="Arial"/>
                <a:ea typeface="Arial"/>
                <a:cs typeface="Arial"/>
                <a:sym typeface="Arial"/>
              </a:rPr>
              <a:t>Classical ML &amp; Stacking</a:t>
            </a:r>
            <a:endParaRPr/>
          </a:p>
        </p:txBody>
      </p:sp>
      <p:sp>
        <p:nvSpPr>
          <p:cNvPr id="258" name="Google Shape;258;p5"/>
          <p:cNvSpPr/>
          <p:nvPr/>
        </p:nvSpPr>
        <p:spPr>
          <a:xfrm>
            <a:off x="4439412" y="1394460"/>
            <a:ext cx="3383280" cy="473659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5"/>
          <p:cNvSpPr/>
          <p:nvPr/>
        </p:nvSpPr>
        <p:spPr>
          <a:xfrm>
            <a:off x="4407408" y="1353312"/>
            <a:ext cx="3383280" cy="473659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0" name="Google Shape;260;p5"/>
          <p:cNvSpPr/>
          <p:nvPr/>
        </p:nvSpPr>
        <p:spPr>
          <a:xfrm>
            <a:off x="4407408" y="1371600"/>
            <a:ext cx="50292" cy="4700016"/>
          </a:xfrm>
          <a:prstGeom prst="rect">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1" name="Google Shape;261;p5"/>
          <p:cNvSpPr txBox="1"/>
          <p:nvPr/>
        </p:nvSpPr>
        <p:spPr>
          <a:xfrm>
            <a:off x="4626864" y="1490472"/>
            <a:ext cx="29718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2563EB"/>
                </a:solidFill>
                <a:latin typeface="Arial"/>
                <a:ea typeface="Arial"/>
                <a:cs typeface="Arial"/>
                <a:sym typeface="Arial"/>
              </a:rPr>
              <a:t>PHASE 02</a:t>
            </a:r>
            <a:endParaRPr/>
          </a:p>
        </p:txBody>
      </p:sp>
      <p:sp>
        <p:nvSpPr>
          <p:cNvPr id="262" name="Google Shape;262;p5"/>
          <p:cNvSpPr txBox="1"/>
          <p:nvPr/>
        </p:nvSpPr>
        <p:spPr>
          <a:xfrm>
            <a:off x="4626864" y="1709928"/>
            <a:ext cx="2971800"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10" u="none" cap="none" strike="noStrike">
                <a:solidFill>
                  <a:srgbClr val="1E293B"/>
                </a:solidFill>
                <a:latin typeface="Arial"/>
                <a:ea typeface="Arial"/>
                <a:cs typeface="Arial"/>
                <a:sym typeface="Arial"/>
              </a:rPr>
              <a:t>AraBERTv02 Fine-Tuning</a:t>
            </a:r>
            <a:endParaRPr/>
          </a:p>
        </p:txBody>
      </p:sp>
      <p:sp>
        <p:nvSpPr>
          <p:cNvPr id="263" name="Google Shape;263;p5"/>
          <p:cNvSpPr/>
          <p:nvPr/>
        </p:nvSpPr>
        <p:spPr>
          <a:xfrm>
            <a:off x="8252460" y="1394460"/>
            <a:ext cx="3383280" cy="473659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4" name="Google Shape;264;p5"/>
          <p:cNvSpPr/>
          <p:nvPr/>
        </p:nvSpPr>
        <p:spPr>
          <a:xfrm>
            <a:off x="8220456" y="1353312"/>
            <a:ext cx="3383280" cy="4736592"/>
          </a:xfrm>
          <a:prstGeom prst="roundRect">
            <a:avLst>
              <a:gd fmla="val 16667" name="adj"/>
            </a:avLst>
          </a:prstGeom>
          <a:solidFill>
            <a:srgbClr val="FFFAFD"/>
          </a:solidFill>
          <a:ln cap="flat" cmpd="sng" w="10150">
            <a:solidFill>
              <a:srgbClr val="EC48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5" name="Google Shape;265;p5"/>
          <p:cNvSpPr/>
          <p:nvPr/>
        </p:nvSpPr>
        <p:spPr>
          <a:xfrm>
            <a:off x="8220456" y="1371600"/>
            <a:ext cx="50292" cy="4700016"/>
          </a:xfrm>
          <a:prstGeom prst="rect">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6" name="Google Shape;266;p5"/>
          <p:cNvSpPr txBox="1"/>
          <p:nvPr/>
        </p:nvSpPr>
        <p:spPr>
          <a:xfrm>
            <a:off x="8439912" y="1490472"/>
            <a:ext cx="29718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EC4899"/>
                </a:solidFill>
                <a:latin typeface="Arial"/>
                <a:ea typeface="Arial"/>
                <a:cs typeface="Arial"/>
                <a:sym typeface="Arial"/>
              </a:rPr>
              <a:t>PHASE 03  /  CHAMPION</a:t>
            </a:r>
            <a:endParaRPr/>
          </a:p>
        </p:txBody>
      </p:sp>
      <p:sp>
        <p:nvSpPr>
          <p:cNvPr id="267" name="Google Shape;267;p5"/>
          <p:cNvSpPr txBox="1"/>
          <p:nvPr/>
        </p:nvSpPr>
        <p:spPr>
          <a:xfrm>
            <a:off x="8439912" y="1709928"/>
            <a:ext cx="2971800"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10" u="none" cap="none" strike="noStrike">
                <a:solidFill>
                  <a:srgbClr val="1E293B"/>
                </a:solidFill>
                <a:latin typeface="Arial"/>
                <a:ea typeface="Arial"/>
                <a:cs typeface="Arial"/>
                <a:sym typeface="Arial"/>
              </a:rPr>
              <a:t>MARBERTv2 Fine-Tuning</a:t>
            </a:r>
            <a:endParaRPr/>
          </a:p>
        </p:txBody>
      </p:sp>
      <p:sp>
        <p:nvSpPr>
          <p:cNvPr id="268" name="Google Shape;268;p5"/>
          <p:cNvSpPr txBox="1"/>
          <p:nvPr/>
        </p:nvSpPr>
        <p:spPr>
          <a:xfrm>
            <a:off x="804672" y="2194560"/>
            <a:ext cx="2971800" cy="2194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80" u="none" cap="none" strike="noStrike">
                <a:solidFill>
                  <a:srgbClr val="2563EB"/>
                </a:solidFill>
                <a:latin typeface="Arial"/>
                <a:ea typeface="Arial"/>
                <a:cs typeface="Arial"/>
                <a:sym typeface="Arial"/>
              </a:rPr>
              <a:t>HYBRID TF-IDF  •  150,000 FEATURES</a:t>
            </a:r>
            <a:endParaRPr/>
          </a:p>
        </p:txBody>
      </p:sp>
      <p:sp>
        <p:nvSpPr>
          <p:cNvPr id="269" name="Google Shape;269;p5"/>
          <p:cNvSpPr txBox="1"/>
          <p:nvPr/>
        </p:nvSpPr>
        <p:spPr>
          <a:xfrm>
            <a:off x="777240" y="2578608"/>
            <a:ext cx="3026664" cy="2560320"/>
          </a:xfrm>
          <a:prstGeom prst="rect">
            <a:avLst/>
          </a:prstGeom>
          <a:noFill/>
          <a:ln>
            <a:noFill/>
          </a:ln>
        </p:spPr>
        <p:txBody>
          <a:bodyPr anchorCtr="0" anchor="t" bIns="18275" lIns="54850" spcFirstLastPara="1" rIns="36575" wrap="square" tIns="27425">
            <a:spAutoFit/>
          </a:bodyPr>
          <a:lstStyle/>
          <a:p>
            <a:pPr indent="0" lvl="0" marL="0" marR="0" rtl="0" algn="l">
              <a:lnSpc>
                <a:spcPct val="105000"/>
              </a:lnSpc>
              <a:spcBef>
                <a:spcPts val="0"/>
              </a:spcBef>
              <a:spcAft>
                <a:spcPts val="0"/>
              </a:spcAft>
              <a:buNone/>
            </a:pPr>
            <a:r>
              <a:rPr b="0" i="0" lang="en-US" sz="1130" u="none" cap="none" strike="noStrike">
                <a:solidFill>
                  <a:srgbClr val="1E293B"/>
                </a:solidFill>
                <a:latin typeface="Arial"/>
                <a:ea typeface="Arial"/>
                <a:cs typeface="Arial"/>
                <a:sym typeface="Arial"/>
              </a:rPr>
              <a:t>•  Word n-grams (1–3): 75k features for words and idioms.</a:t>
            </a:r>
            <a:endParaRPr/>
          </a:p>
          <a:p>
            <a:pPr indent="0" lvl="0" marL="0" marR="0" rtl="0" algn="l">
              <a:lnSpc>
                <a:spcPct val="105000"/>
              </a:lnSpc>
              <a:spcBef>
                <a:spcPts val="900"/>
              </a:spcBef>
              <a:spcAft>
                <a:spcPts val="0"/>
              </a:spcAft>
              <a:buNone/>
            </a:pPr>
            <a:r>
              <a:rPr b="0" i="0" lang="en-US" sz="1130" u="none" cap="none" strike="noStrike">
                <a:solidFill>
                  <a:srgbClr val="1E293B"/>
                </a:solidFill>
                <a:latin typeface="Arial"/>
                <a:ea typeface="Arial"/>
                <a:cs typeface="Arial"/>
                <a:sym typeface="Arial"/>
              </a:rPr>
              <a:t>•  Character n-grams (2–5), char_wb: 75k features for subword patterns.</a:t>
            </a:r>
            <a:endParaRPr/>
          </a:p>
          <a:p>
            <a:pPr indent="0" lvl="0" marL="0" marR="0" rtl="0" algn="l">
              <a:lnSpc>
                <a:spcPct val="105000"/>
              </a:lnSpc>
              <a:spcBef>
                <a:spcPts val="900"/>
              </a:spcBef>
              <a:spcAft>
                <a:spcPts val="0"/>
              </a:spcAft>
              <a:buNone/>
            </a:pPr>
            <a:r>
              <a:rPr b="0" i="0" lang="en-US" sz="1130" u="none" cap="none" strike="noStrike">
                <a:solidFill>
                  <a:srgbClr val="1E293B"/>
                </a:solidFill>
                <a:latin typeface="Arial"/>
                <a:ea typeface="Arial"/>
                <a:cs typeface="Arial"/>
                <a:sym typeface="Arial"/>
              </a:rPr>
              <a:t>•  LinearSVC, Logistic Regression, MultinomialNB, and SGD.</a:t>
            </a:r>
            <a:endParaRPr/>
          </a:p>
          <a:p>
            <a:pPr indent="0" lvl="0" marL="0" marR="0" rtl="0" algn="l">
              <a:lnSpc>
                <a:spcPct val="105000"/>
              </a:lnSpc>
              <a:spcBef>
                <a:spcPts val="900"/>
              </a:spcBef>
              <a:spcAft>
                <a:spcPts val="0"/>
              </a:spcAft>
              <a:buNone/>
            </a:pPr>
            <a:r>
              <a:rPr b="0" i="0" lang="en-US" sz="1130" u="none" cap="none" strike="noStrike">
                <a:solidFill>
                  <a:srgbClr val="1E293B"/>
                </a:solidFill>
                <a:latin typeface="Arial"/>
                <a:ea typeface="Arial"/>
                <a:cs typeface="Arial"/>
                <a:sym typeface="Arial"/>
              </a:rPr>
              <a:t>•  5-fold StackingClassifier meta-learner.</a:t>
            </a:r>
            <a:endParaRPr/>
          </a:p>
        </p:txBody>
      </p:sp>
      <p:sp>
        <p:nvSpPr>
          <p:cNvPr id="270" name="Google Shape;270;p5"/>
          <p:cNvSpPr/>
          <p:nvPr/>
        </p:nvSpPr>
        <p:spPr>
          <a:xfrm>
            <a:off x="795528" y="5431536"/>
            <a:ext cx="2971800" cy="365760"/>
          </a:xfrm>
          <a:prstGeom prst="roundRect">
            <a:avLst>
              <a:gd fmla="val 16667" name="adj"/>
            </a:avLst>
          </a:prstGeom>
          <a:solidFill>
            <a:srgbClr val="E0F2F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5"/>
          <p:cNvSpPr txBox="1"/>
          <p:nvPr/>
        </p:nvSpPr>
        <p:spPr>
          <a:xfrm>
            <a:off x="877824" y="5541264"/>
            <a:ext cx="2807208" cy="146304"/>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00" u="none" cap="none" strike="noStrike">
                <a:solidFill>
                  <a:srgbClr val="2563EB"/>
                </a:solidFill>
                <a:latin typeface="Arial"/>
                <a:ea typeface="Arial"/>
                <a:cs typeface="Arial"/>
                <a:sym typeface="Arial"/>
              </a:rPr>
              <a:t>STRONG CLASSICAL BASELINE</a:t>
            </a:r>
            <a:endParaRPr/>
          </a:p>
        </p:txBody>
      </p:sp>
      <p:sp>
        <p:nvSpPr>
          <p:cNvPr id="272" name="Google Shape;272;p5"/>
          <p:cNvSpPr txBox="1"/>
          <p:nvPr/>
        </p:nvSpPr>
        <p:spPr>
          <a:xfrm>
            <a:off x="4626864" y="2194560"/>
            <a:ext cx="2962656" cy="3474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30" u="none" cap="none" strike="noStrike">
                <a:solidFill>
                  <a:srgbClr val="2563EB"/>
                </a:solidFill>
                <a:latin typeface="Arial"/>
                <a:ea typeface="Arial"/>
                <a:cs typeface="Arial"/>
                <a:sym typeface="Arial"/>
              </a:rPr>
              <a:t>aubmindlab/bert-base-arabertv02</a:t>
            </a:r>
            <a:endParaRPr/>
          </a:p>
        </p:txBody>
      </p:sp>
      <p:sp>
        <p:nvSpPr>
          <p:cNvPr id="273" name="Google Shape;273;p5"/>
          <p:cNvSpPr/>
          <p:nvPr/>
        </p:nvSpPr>
        <p:spPr>
          <a:xfrm>
            <a:off x="4649724" y="2702052"/>
            <a:ext cx="1371600" cy="89611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4" name="Google Shape;274;p5"/>
          <p:cNvSpPr/>
          <p:nvPr/>
        </p:nvSpPr>
        <p:spPr>
          <a:xfrm>
            <a:off x="4626864" y="2670048"/>
            <a:ext cx="1371600" cy="89611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5"/>
          <p:cNvSpPr/>
          <p:nvPr/>
        </p:nvSpPr>
        <p:spPr>
          <a:xfrm>
            <a:off x="4626864" y="2670048"/>
            <a:ext cx="54864" cy="896112"/>
          </a:xfrm>
          <a:prstGeom prst="rect">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6" name="Google Shape;276;p5"/>
          <p:cNvSpPr txBox="1"/>
          <p:nvPr/>
        </p:nvSpPr>
        <p:spPr>
          <a:xfrm>
            <a:off x="4828032" y="2798064"/>
            <a:ext cx="1005840" cy="1920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64748B"/>
                </a:solidFill>
                <a:latin typeface="Arial"/>
                <a:ea typeface="Arial"/>
                <a:cs typeface="Arial"/>
                <a:sym typeface="Arial"/>
              </a:rPr>
              <a:t>PARAMETERS</a:t>
            </a:r>
            <a:endParaRPr/>
          </a:p>
        </p:txBody>
      </p:sp>
      <p:sp>
        <p:nvSpPr>
          <p:cNvPr id="277" name="Google Shape;277;p5"/>
          <p:cNvSpPr txBox="1"/>
          <p:nvPr/>
        </p:nvSpPr>
        <p:spPr>
          <a:xfrm>
            <a:off x="4828032" y="2999232"/>
            <a:ext cx="10058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700" u="none" cap="none" strike="noStrike">
                <a:solidFill>
                  <a:srgbClr val="2563EB"/>
                </a:solidFill>
                <a:latin typeface="Arial"/>
                <a:ea typeface="Arial"/>
                <a:cs typeface="Arial"/>
                <a:sym typeface="Arial"/>
              </a:rPr>
              <a:t>136M</a:t>
            </a:r>
            <a:endParaRPr/>
          </a:p>
        </p:txBody>
      </p:sp>
      <p:sp>
        <p:nvSpPr>
          <p:cNvPr id="278" name="Google Shape;278;p5"/>
          <p:cNvSpPr/>
          <p:nvPr/>
        </p:nvSpPr>
        <p:spPr>
          <a:xfrm>
            <a:off x="6176772" y="2702052"/>
            <a:ext cx="1371600" cy="89611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9" name="Google Shape;279;p5"/>
          <p:cNvSpPr/>
          <p:nvPr/>
        </p:nvSpPr>
        <p:spPr>
          <a:xfrm>
            <a:off x="6153912" y="2670048"/>
            <a:ext cx="1371600" cy="89611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0" name="Google Shape;280;p5"/>
          <p:cNvSpPr/>
          <p:nvPr/>
        </p:nvSpPr>
        <p:spPr>
          <a:xfrm>
            <a:off x="6153912" y="2670048"/>
            <a:ext cx="54864" cy="896112"/>
          </a:xfrm>
          <a:prstGeom prst="rect">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1" name="Google Shape;281;p5"/>
          <p:cNvSpPr txBox="1"/>
          <p:nvPr/>
        </p:nvSpPr>
        <p:spPr>
          <a:xfrm>
            <a:off x="6355080" y="2798064"/>
            <a:ext cx="1005840" cy="1920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64748B"/>
                </a:solidFill>
                <a:latin typeface="Arial"/>
                <a:ea typeface="Arial"/>
                <a:cs typeface="Arial"/>
                <a:sym typeface="Arial"/>
              </a:rPr>
              <a:t>EPOCHS</a:t>
            </a:r>
            <a:endParaRPr/>
          </a:p>
        </p:txBody>
      </p:sp>
      <p:sp>
        <p:nvSpPr>
          <p:cNvPr id="282" name="Google Shape;282;p5"/>
          <p:cNvSpPr txBox="1"/>
          <p:nvPr/>
        </p:nvSpPr>
        <p:spPr>
          <a:xfrm>
            <a:off x="6355080" y="2999232"/>
            <a:ext cx="10058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700" u="none" cap="none" strike="noStrike">
                <a:solidFill>
                  <a:srgbClr val="2563EB"/>
                </a:solidFill>
                <a:latin typeface="Arial"/>
                <a:ea typeface="Arial"/>
                <a:cs typeface="Arial"/>
                <a:sym typeface="Arial"/>
              </a:rPr>
              <a:t>4</a:t>
            </a:r>
            <a:endParaRPr/>
          </a:p>
        </p:txBody>
      </p:sp>
      <p:sp>
        <p:nvSpPr>
          <p:cNvPr id="283" name="Google Shape;283;p5"/>
          <p:cNvSpPr txBox="1"/>
          <p:nvPr/>
        </p:nvSpPr>
        <p:spPr>
          <a:xfrm>
            <a:off x="4608576" y="3794760"/>
            <a:ext cx="2999232" cy="1234440"/>
          </a:xfrm>
          <a:prstGeom prst="rect">
            <a:avLst/>
          </a:prstGeom>
          <a:noFill/>
          <a:ln>
            <a:noFill/>
          </a:ln>
        </p:spPr>
        <p:txBody>
          <a:bodyPr anchorCtr="0" anchor="t" bIns="18275" lIns="54850" spcFirstLastPara="1" rIns="36575" wrap="square" tIns="27425">
            <a:spAutoFit/>
          </a:bodyPr>
          <a:lstStyle/>
          <a:p>
            <a:pPr indent="0" lvl="0" marL="0" marR="0" rtl="0" algn="l">
              <a:lnSpc>
                <a:spcPct val="105000"/>
              </a:lnSpc>
              <a:spcBef>
                <a:spcPts val="0"/>
              </a:spcBef>
              <a:spcAft>
                <a:spcPts val="0"/>
              </a:spcAft>
              <a:buNone/>
            </a:pPr>
            <a:r>
              <a:rPr b="0" i="0" lang="en-US" sz="1150" u="none" cap="none" strike="noStrike">
                <a:solidFill>
                  <a:srgbClr val="1E293B"/>
                </a:solidFill>
                <a:latin typeface="Arial"/>
                <a:ea typeface="Arial"/>
                <a:cs typeface="Arial"/>
                <a:sym typeface="Arial"/>
              </a:rPr>
              <a:t>•  Pre-trained primarily on formal MSA news and encyclopedic text.</a:t>
            </a:r>
            <a:endParaRPr/>
          </a:p>
          <a:p>
            <a:pPr indent="0" lvl="0" marL="0" marR="0" rtl="0" algn="l">
              <a:lnSpc>
                <a:spcPct val="105000"/>
              </a:lnSpc>
              <a:spcBef>
                <a:spcPts val="1200"/>
              </a:spcBef>
              <a:spcAft>
                <a:spcPts val="0"/>
              </a:spcAft>
              <a:buNone/>
            </a:pPr>
            <a:r>
              <a:rPr b="0" i="0" lang="en-US" sz="1150" u="none" cap="none" strike="noStrike">
                <a:solidFill>
                  <a:srgbClr val="1E293B"/>
                </a:solidFill>
                <a:latin typeface="Arial"/>
                <a:ea typeface="Arial"/>
                <a:cs typeface="Arial"/>
                <a:sym typeface="Arial"/>
              </a:rPr>
              <a:t>•  Learning rate: 3e-5  •  Batch size: 32.</a:t>
            </a:r>
            <a:endParaRPr/>
          </a:p>
        </p:txBody>
      </p:sp>
      <p:sp>
        <p:nvSpPr>
          <p:cNvPr id="284" name="Google Shape;284;p5"/>
          <p:cNvSpPr txBox="1"/>
          <p:nvPr/>
        </p:nvSpPr>
        <p:spPr>
          <a:xfrm>
            <a:off x="4636008" y="5486400"/>
            <a:ext cx="2926080" cy="17373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10" u="none" cap="none" strike="noStrike">
                <a:solidFill>
                  <a:srgbClr val="2563EB"/>
                </a:solidFill>
                <a:latin typeface="Arial"/>
                <a:ea typeface="Arial"/>
                <a:cs typeface="Arial"/>
                <a:sym typeface="Arial"/>
              </a:rPr>
              <a:t>MSA-ORIENTED PRE-TRAINING</a:t>
            </a:r>
            <a:endParaRPr/>
          </a:p>
        </p:txBody>
      </p:sp>
      <p:sp>
        <p:nvSpPr>
          <p:cNvPr id="285" name="Google Shape;285;p5"/>
          <p:cNvSpPr/>
          <p:nvPr/>
        </p:nvSpPr>
        <p:spPr>
          <a:xfrm>
            <a:off x="8439912" y="2212848"/>
            <a:ext cx="2944368" cy="448056"/>
          </a:xfrm>
          <a:prstGeom prst="roundRect">
            <a:avLst>
              <a:gd fmla="val 16667" name="adj"/>
            </a:avLst>
          </a:prstGeom>
          <a:solidFill>
            <a:srgbClr val="FCE7F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6" name="Google Shape;286;p5"/>
          <p:cNvSpPr txBox="1"/>
          <p:nvPr/>
        </p:nvSpPr>
        <p:spPr>
          <a:xfrm>
            <a:off x="8531352" y="2350008"/>
            <a:ext cx="2761488" cy="17373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40" u="none" cap="none" strike="noStrike">
                <a:solidFill>
                  <a:srgbClr val="EC4899"/>
                </a:solidFill>
                <a:latin typeface="Arial"/>
                <a:ea typeface="Arial"/>
                <a:cs typeface="Arial"/>
                <a:sym typeface="Arial"/>
              </a:rPr>
              <a:t>UBC-NLP/MARBERTv2</a:t>
            </a:r>
            <a:endParaRPr/>
          </a:p>
        </p:txBody>
      </p:sp>
      <p:sp>
        <p:nvSpPr>
          <p:cNvPr id="287" name="Google Shape;287;p5"/>
          <p:cNvSpPr/>
          <p:nvPr/>
        </p:nvSpPr>
        <p:spPr>
          <a:xfrm>
            <a:off x="8462772" y="2866644"/>
            <a:ext cx="1371600" cy="89611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8" name="Google Shape;288;p5"/>
          <p:cNvSpPr/>
          <p:nvPr/>
        </p:nvSpPr>
        <p:spPr>
          <a:xfrm>
            <a:off x="8439912" y="2834640"/>
            <a:ext cx="1371600" cy="89611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9" name="Google Shape;289;p5"/>
          <p:cNvSpPr/>
          <p:nvPr/>
        </p:nvSpPr>
        <p:spPr>
          <a:xfrm>
            <a:off x="8439912" y="2834640"/>
            <a:ext cx="54864" cy="896112"/>
          </a:xfrm>
          <a:prstGeom prst="rect">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0" name="Google Shape;290;p5"/>
          <p:cNvSpPr txBox="1"/>
          <p:nvPr/>
        </p:nvSpPr>
        <p:spPr>
          <a:xfrm>
            <a:off x="8641080" y="2962656"/>
            <a:ext cx="1005840" cy="1920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64748B"/>
                </a:solidFill>
                <a:latin typeface="Arial"/>
                <a:ea typeface="Arial"/>
                <a:cs typeface="Arial"/>
                <a:sym typeface="Arial"/>
              </a:rPr>
              <a:t>PARAMETERS</a:t>
            </a:r>
            <a:endParaRPr/>
          </a:p>
        </p:txBody>
      </p:sp>
      <p:sp>
        <p:nvSpPr>
          <p:cNvPr id="291" name="Google Shape;291;p5"/>
          <p:cNvSpPr txBox="1"/>
          <p:nvPr/>
        </p:nvSpPr>
        <p:spPr>
          <a:xfrm>
            <a:off x="8641080" y="3163824"/>
            <a:ext cx="10058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700" u="none" cap="none" strike="noStrike">
                <a:solidFill>
                  <a:srgbClr val="EC4899"/>
                </a:solidFill>
                <a:latin typeface="Arial"/>
                <a:ea typeface="Arial"/>
                <a:cs typeface="Arial"/>
                <a:sym typeface="Arial"/>
              </a:rPr>
              <a:t>163M</a:t>
            </a:r>
            <a:endParaRPr/>
          </a:p>
        </p:txBody>
      </p:sp>
      <p:sp>
        <p:nvSpPr>
          <p:cNvPr id="292" name="Google Shape;292;p5"/>
          <p:cNvSpPr/>
          <p:nvPr/>
        </p:nvSpPr>
        <p:spPr>
          <a:xfrm>
            <a:off x="9989820" y="2866644"/>
            <a:ext cx="1371600" cy="89611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3" name="Google Shape;293;p5"/>
          <p:cNvSpPr/>
          <p:nvPr/>
        </p:nvSpPr>
        <p:spPr>
          <a:xfrm>
            <a:off x="9966960" y="2834640"/>
            <a:ext cx="1371600" cy="89611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4" name="Google Shape;294;p5"/>
          <p:cNvSpPr/>
          <p:nvPr/>
        </p:nvSpPr>
        <p:spPr>
          <a:xfrm>
            <a:off x="9966960" y="2834640"/>
            <a:ext cx="54864" cy="896112"/>
          </a:xfrm>
          <a:prstGeom prst="rect">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5"/>
          <p:cNvSpPr txBox="1"/>
          <p:nvPr/>
        </p:nvSpPr>
        <p:spPr>
          <a:xfrm>
            <a:off x="10168128" y="2962656"/>
            <a:ext cx="1005840" cy="1920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64748B"/>
                </a:solidFill>
                <a:latin typeface="Arial"/>
                <a:ea typeface="Arial"/>
                <a:cs typeface="Arial"/>
                <a:sym typeface="Arial"/>
              </a:rPr>
              <a:t>DIALECTAL TWEETS</a:t>
            </a:r>
            <a:endParaRPr/>
          </a:p>
        </p:txBody>
      </p:sp>
      <p:sp>
        <p:nvSpPr>
          <p:cNvPr id="296" name="Google Shape;296;p5"/>
          <p:cNvSpPr txBox="1"/>
          <p:nvPr/>
        </p:nvSpPr>
        <p:spPr>
          <a:xfrm>
            <a:off x="10168128" y="3163824"/>
            <a:ext cx="1005840"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700" u="none" cap="none" strike="noStrike">
                <a:solidFill>
                  <a:srgbClr val="EC4899"/>
                </a:solidFill>
                <a:latin typeface="Arial"/>
                <a:ea typeface="Arial"/>
                <a:cs typeface="Arial"/>
                <a:sym typeface="Arial"/>
              </a:rPr>
              <a:t>1B</a:t>
            </a:r>
            <a:endParaRPr/>
          </a:p>
        </p:txBody>
      </p:sp>
      <p:sp>
        <p:nvSpPr>
          <p:cNvPr id="297" name="Google Shape;297;p5"/>
          <p:cNvSpPr txBox="1"/>
          <p:nvPr/>
        </p:nvSpPr>
        <p:spPr>
          <a:xfrm>
            <a:off x="8421624" y="3968496"/>
            <a:ext cx="2999232" cy="1417320"/>
          </a:xfrm>
          <a:prstGeom prst="rect">
            <a:avLst/>
          </a:prstGeom>
          <a:noFill/>
          <a:ln>
            <a:noFill/>
          </a:ln>
        </p:spPr>
        <p:txBody>
          <a:bodyPr anchorCtr="0" anchor="t" bIns="18275" lIns="54850" spcFirstLastPara="1" rIns="36575" wrap="square" tIns="27425">
            <a:spAutoFit/>
          </a:bodyPr>
          <a:lstStyle/>
          <a:p>
            <a:pPr indent="0" lvl="0" marL="0" marR="0" rtl="0" algn="l">
              <a:lnSpc>
                <a:spcPct val="105000"/>
              </a:lnSpc>
              <a:spcBef>
                <a:spcPts val="0"/>
              </a:spcBef>
              <a:spcAft>
                <a:spcPts val="0"/>
              </a:spcAft>
              <a:buNone/>
            </a:pPr>
            <a:r>
              <a:rPr b="0" i="0" lang="en-US" sz="1140" u="none" cap="none" strike="noStrike">
                <a:solidFill>
                  <a:srgbClr val="1E293B"/>
                </a:solidFill>
                <a:latin typeface="Arial"/>
                <a:ea typeface="Arial"/>
                <a:cs typeface="Arial"/>
                <a:sym typeface="Arial"/>
              </a:rPr>
              <a:t>•  Pre-trained on 1 billion dialectal Arabic tweets plus MSA data.</a:t>
            </a:r>
            <a:endParaRPr/>
          </a:p>
          <a:p>
            <a:pPr indent="0" lvl="0" marL="0" marR="0" rtl="0" algn="l">
              <a:lnSpc>
                <a:spcPct val="105000"/>
              </a:lnSpc>
              <a:spcBef>
                <a:spcPts val="900"/>
              </a:spcBef>
              <a:spcAft>
                <a:spcPts val="0"/>
              </a:spcAft>
              <a:buNone/>
            </a:pPr>
            <a:r>
              <a:rPr b="0" i="0" lang="en-US" sz="1140" u="none" cap="none" strike="noStrike">
                <a:solidFill>
                  <a:srgbClr val="1E293B"/>
                </a:solidFill>
                <a:latin typeface="Arial"/>
                <a:ea typeface="Arial"/>
                <a:cs typeface="Arial"/>
                <a:sym typeface="Arial"/>
              </a:rPr>
              <a:t>•  100k dialect-aware WordPiece vocabulary.</a:t>
            </a:r>
            <a:endParaRPr/>
          </a:p>
          <a:p>
            <a:pPr indent="0" lvl="0" marL="0" marR="0" rtl="0" algn="l">
              <a:lnSpc>
                <a:spcPct val="105000"/>
              </a:lnSpc>
              <a:spcBef>
                <a:spcPts val="900"/>
              </a:spcBef>
              <a:spcAft>
                <a:spcPts val="0"/>
              </a:spcAft>
              <a:buNone/>
            </a:pPr>
            <a:r>
              <a:rPr b="0" i="0" lang="en-US" sz="1140" u="none" cap="none" strike="noStrike">
                <a:solidFill>
                  <a:srgbClr val="1E293B"/>
                </a:solidFill>
                <a:latin typeface="Arial"/>
                <a:ea typeface="Arial"/>
                <a:cs typeface="Arial"/>
                <a:sym typeface="Arial"/>
              </a:rPr>
              <a:t>•  Selected as the champion model for unseen-test performance.</a:t>
            </a:r>
            <a:endParaRPr/>
          </a:p>
        </p:txBody>
      </p:sp>
      <p:sp>
        <p:nvSpPr>
          <p:cNvPr id="298" name="Google Shape;298;p5"/>
          <p:cNvSpPr txBox="1"/>
          <p:nvPr/>
        </p:nvSpPr>
        <p:spPr>
          <a:xfrm>
            <a:off x="8449056" y="5596128"/>
            <a:ext cx="2926080" cy="173736"/>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10" u="none" cap="none" strike="noStrike">
                <a:solidFill>
                  <a:srgbClr val="EC4899"/>
                </a:solidFill>
                <a:latin typeface="Arial"/>
                <a:ea typeface="Arial"/>
                <a:cs typeface="Arial"/>
                <a:sym typeface="Arial"/>
              </a:rPr>
              <a:t>DIALECT-AWARE PRE-TRAINING</a:t>
            </a:r>
            <a:endParaRPr/>
          </a:p>
        </p:txBody>
      </p:sp>
      <p:cxnSp>
        <p:nvCxnSpPr>
          <p:cNvPr id="299" name="Google Shape;299;p5"/>
          <p:cNvCxnSpPr/>
          <p:nvPr/>
        </p:nvCxnSpPr>
        <p:spPr>
          <a:xfrm>
            <a:off x="4087368" y="1755648"/>
            <a:ext cx="201168" cy="0"/>
          </a:xfrm>
          <a:prstGeom prst="straightConnector1">
            <a:avLst/>
          </a:prstGeom>
          <a:noFill/>
          <a:ln cap="flat" cmpd="sng" w="19050">
            <a:solidFill>
              <a:srgbClr val="64748B"/>
            </a:solidFill>
            <a:prstDash val="solid"/>
            <a:round/>
            <a:headEnd len="sm" w="sm" type="none"/>
            <a:tailEnd len="sm" w="sm" type="none"/>
          </a:ln>
          <a:effectLst>
            <a:outerShdw blurRad="40000" rotWithShape="0" dir="5400000" dist="20000">
              <a:srgbClr val="000000">
                <a:alpha val="38039"/>
              </a:srgbClr>
            </a:outerShdw>
          </a:effectLst>
        </p:spPr>
      </p:cxnSp>
      <p:sp>
        <p:nvSpPr>
          <p:cNvPr id="300" name="Google Shape;300;p5"/>
          <p:cNvSpPr/>
          <p:nvPr/>
        </p:nvSpPr>
        <p:spPr>
          <a:xfrm>
            <a:off x="4233672" y="1673352"/>
            <a:ext cx="146304" cy="164592"/>
          </a:xfrm>
          <a:prstGeom prst="chevron">
            <a:avLst>
              <a:gd fmla="val 50000" name="adj"/>
            </a:avLst>
          </a:prstGeom>
          <a:solidFill>
            <a:srgbClr val="64748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cxnSp>
        <p:nvCxnSpPr>
          <p:cNvPr id="301" name="Google Shape;301;p5"/>
          <p:cNvCxnSpPr/>
          <p:nvPr/>
        </p:nvCxnSpPr>
        <p:spPr>
          <a:xfrm>
            <a:off x="7900416" y="1755648"/>
            <a:ext cx="201168" cy="0"/>
          </a:xfrm>
          <a:prstGeom prst="straightConnector1">
            <a:avLst/>
          </a:prstGeom>
          <a:noFill/>
          <a:ln cap="flat" cmpd="sng" w="19050">
            <a:solidFill>
              <a:srgbClr val="64748B"/>
            </a:solidFill>
            <a:prstDash val="solid"/>
            <a:round/>
            <a:headEnd len="sm" w="sm" type="none"/>
            <a:tailEnd len="sm" w="sm" type="none"/>
          </a:ln>
          <a:effectLst>
            <a:outerShdw blurRad="40000" rotWithShape="0" dir="5400000" dist="20000">
              <a:srgbClr val="000000">
                <a:alpha val="38039"/>
              </a:srgbClr>
            </a:outerShdw>
          </a:effectLst>
        </p:spPr>
      </p:cxnSp>
      <p:sp>
        <p:nvSpPr>
          <p:cNvPr id="302" name="Google Shape;302;p5"/>
          <p:cNvSpPr/>
          <p:nvPr/>
        </p:nvSpPr>
        <p:spPr>
          <a:xfrm>
            <a:off x="8046720" y="1673352"/>
            <a:ext cx="146304" cy="164592"/>
          </a:xfrm>
          <a:prstGeom prst="chevron">
            <a:avLst>
              <a:gd fmla="val 50000" name="adj"/>
            </a:avLst>
          </a:prstGeom>
          <a:solidFill>
            <a:srgbClr val="64748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cxnSp>
        <p:nvCxnSpPr>
          <p:cNvPr id="303" name="Google Shape;303;p5"/>
          <p:cNvCxnSpPr/>
          <p:nvPr/>
        </p:nvCxnSpPr>
        <p:spPr>
          <a:xfrm>
            <a:off x="594360" y="6473952"/>
            <a:ext cx="11000232" cy="0"/>
          </a:xfrm>
          <a:prstGeom prst="straightConnector1">
            <a:avLst/>
          </a:prstGeom>
          <a:noFill/>
          <a:ln cap="flat" cmpd="sng" w="9525">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304" name="Google Shape;304;p5"/>
          <p:cNvSpPr txBox="1"/>
          <p:nvPr/>
        </p:nvSpPr>
        <p:spPr>
          <a:xfrm>
            <a:off x="603504" y="6547104"/>
            <a:ext cx="45720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64748B"/>
                </a:solidFill>
                <a:latin typeface="Arial"/>
                <a:ea typeface="Arial"/>
                <a:cs typeface="Arial"/>
                <a:sym typeface="Arial"/>
              </a:rPr>
              <a:t>ARABIC DIALECT CLASSIFICATION</a:t>
            </a:r>
            <a:endParaRPr/>
          </a:p>
        </p:txBody>
      </p:sp>
      <p:sp>
        <p:nvSpPr>
          <p:cNvPr id="305" name="Google Shape;305;p5"/>
          <p:cNvSpPr txBox="1"/>
          <p:nvPr/>
        </p:nvSpPr>
        <p:spPr>
          <a:xfrm>
            <a:off x="10652760" y="6528816"/>
            <a:ext cx="914400" cy="18288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850" u="none" cap="none" strike="noStrike">
                <a:solidFill>
                  <a:srgbClr val="64748B"/>
                </a:solidFill>
                <a:latin typeface="Arial"/>
                <a:ea typeface="Arial"/>
                <a:cs typeface="Arial"/>
                <a:sym typeface="Arial"/>
              </a:rPr>
              <a:t>05  /  12</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310" name="Shape 310"/>
        <p:cNvGrpSpPr/>
        <p:nvPr/>
      </p:nvGrpSpPr>
      <p:grpSpPr>
        <a:xfrm>
          <a:off x="0" y="0"/>
          <a:ext cx="0" cy="0"/>
          <a:chOff x="0" y="0"/>
          <a:chExt cx="0" cy="0"/>
        </a:xfrm>
      </p:grpSpPr>
      <p:sp>
        <p:nvSpPr>
          <p:cNvPr id="311" name="Google Shape;311;p6"/>
          <p:cNvSpPr/>
          <p:nvPr/>
        </p:nvSpPr>
        <p:spPr>
          <a:xfrm>
            <a:off x="0" y="0"/>
            <a:ext cx="12191695" cy="128016"/>
          </a:xfrm>
          <a:prstGeom prst="rect">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6"/>
          <p:cNvSpPr/>
          <p:nvPr/>
        </p:nvSpPr>
        <p:spPr>
          <a:xfrm>
            <a:off x="0" y="0"/>
            <a:ext cx="2011680" cy="12801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6"/>
          <p:cNvSpPr txBox="1"/>
          <p:nvPr/>
        </p:nvSpPr>
        <p:spPr>
          <a:xfrm>
            <a:off x="603504" y="274320"/>
            <a:ext cx="27432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2563EB"/>
                </a:solidFill>
                <a:latin typeface="Arial"/>
                <a:ea typeface="Arial"/>
                <a:cs typeface="Arial"/>
                <a:sym typeface="Arial"/>
              </a:rPr>
              <a:t>TRAINING STRATEGY</a:t>
            </a:r>
            <a:endParaRPr/>
          </a:p>
        </p:txBody>
      </p:sp>
      <p:sp>
        <p:nvSpPr>
          <p:cNvPr id="314" name="Google Shape;314;p6"/>
          <p:cNvSpPr txBox="1"/>
          <p:nvPr/>
        </p:nvSpPr>
        <p:spPr>
          <a:xfrm>
            <a:off x="594360" y="521207"/>
            <a:ext cx="10972800" cy="53035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800" u="none" cap="none" strike="noStrike">
                <a:solidFill>
                  <a:srgbClr val="0F172A"/>
                </a:solidFill>
                <a:latin typeface="Arial"/>
                <a:ea typeface="Arial"/>
                <a:cs typeface="Arial"/>
                <a:sym typeface="Arial"/>
              </a:rPr>
              <a:t>Anti-Overfitting &amp; Regularization Strategy in MARBERTv2</a:t>
            </a:r>
            <a:endParaRPr/>
          </a:p>
        </p:txBody>
      </p:sp>
      <p:sp>
        <p:nvSpPr>
          <p:cNvPr id="315" name="Google Shape;315;p6"/>
          <p:cNvSpPr/>
          <p:nvPr/>
        </p:nvSpPr>
        <p:spPr>
          <a:xfrm>
            <a:off x="11411712" y="347472"/>
            <a:ext cx="164592" cy="164592"/>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6" name="Google Shape;316;p6"/>
          <p:cNvSpPr/>
          <p:nvPr/>
        </p:nvSpPr>
        <p:spPr>
          <a:xfrm>
            <a:off x="11612880" y="347472"/>
            <a:ext cx="164592" cy="16459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7" name="Google Shape;317;p6"/>
          <p:cNvSpPr/>
          <p:nvPr/>
        </p:nvSpPr>
        <p:spPr>
          <a:xfrm>
            <a:off x="11814048" y="347472"/>
            <a:ext cx="164592" cy="164592"/>
          </a:xfrm>
          <a:prstGeom prst="ellipse">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8" name="Google Shape;318;p6"/>
          <p:cNvSpPr/>
          <p:nvPr/>
        </p:nvSpPr>
        <p:spPr>
          <a:xfrm>
            <a:off x="626364" y="1412748"/>
            <a:ext cx="5394960" cy="4727448"/>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6"/>
          <p:cNvSpPr/>
          <p:nvPr/>
        </p:nvSpPr>
        <p:spPr>
          <a:xfrm>
            <a:off x="594360" y="1371600"/>
            <a:ext cx="5394960" cy="4727448"/>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6"/>
          <p:cNvSpPr/>
          <p:nvPr/>
        </p:nvSpPr>
        <p:spPr>
          <a:xfrm>
            <a:off x="594360" y="1389888"/>
            <a:ext cx="50292" cy="4690872"/>
          </a:xfrm>
          <a:prstGeom prst="rect">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1" name="Google Shape;321;p6"/>
          <p:cNvSpPr txBox="1"/>
          <p:nvPr/>
        </p:nvSpPr>
        <p:spPr>
          <a:xfrm>
            <a:off x="813816" y="1572768"/>
            <a:ext cx="4983480"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700" u="none" cap="none" strike="noStrike">
                <a:solidFill>
                  <a:srgbClr val="1E293B"/>
                </a:solidFill>
                <a:latin typeface="Arial"/>
                <a:ea typeface="Arial"/>
                <a:cs typeface="Arial"/>
                <a:sym typeface="Arial"/>
              </a:rPr>
              <a:t>The Challenge  /  AraBERTv02</a:t>
            </a:r>
            <a:endParaRPr/>
          </a:p>
        </p:txBody>
      </p:sp>
      <p:sp>
        <p:nvSpPr>
          <p:cNvPr id="322" name="Google Shape;322;p6"/>
          <p:cNvSpPr txBox="1"/>
          <p:nvPr/>
        </p:nvSpPr>
        <p:spPr>
          <a:xfrm>
            <a:off x="859536" y="2039112"/>
            <a:ext cx="4754880" cy="2194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00" u="none" cap="none" strike="noStrike">
                <a:solidFill>
                  <a:srgbClr val="EC4899"/>
                </a:solidFill>
                <a:latin typeface="Arial"/>
                <a:ea typeface="Arial"/>
                <a:cs typeface="Arial"/>
                <a:sym typeface="Arial"/>
              </a:rPr>
              <a:t>VALIDATION LOSS ROSE AFTER EPOCH 2</a:t>
            </a:r>
            <a:endParaRPr/>
          </a:p>
        </p:txBody>
      </p:sp>
      <p:cxnSp>
        <p:nvCxnSpPr>
          <p:cNvPr id="323" name="Google Shape;323;p6"/>
          <p:cNvCxnSpPr/>
          <p:nvPr/>
        </p:nvCxnSpPr>
        <p:spPr>
          <a:xfrm>
            <a:off x="969264" y="3520440"/>
            <a:ext cx="4434840" cy="0"/>
          </a:xfrm>
          <a:prstGeom prst="straightConnector1">
            <a:avLst/>
          </a:prstGeom>
          <a:noFill/>
          <a:ln cap="flat" cmpd="sng" w="12700">
            <a:solidFill>
              <a:srgbClr val="CBD5E1"/>
            </a:solidFill>
            <a:prstDash val="solid"/>
            <a:round/>
            <a:headEnd len="sm" w="sm" type="none"/>
            <a:tailEnd len="sm" w="sm" type="none"/>
          </a:ln>
          <a:effectLst>
            <a:outerShdw blurRad="40000" rotWithShape="0" dir="5400000" dist="20000">
              <a:srgbClr val="000000">
                <a:alpha val="38039"/>
              </a:srgbClr>
            </a:outerShdw>
          </a:effectLst>
        </p:spPr>
      </p:cxnSp>
      <p:cxnSp>
        <p:nvCxnSpPr>
          <p:cNvPr id="324" name="Google Shape;324;p6"/>
          <p:cNvCxnSpPr/>
          <p:nvPr/>
        </p:nvCxnSpPr>
        <p:spPr>
          <a:xfrm>
            <a:off x="969264" y="2514600"/>
            <a:ext cx="0" cy="1005840"/>
          </a:xfrm>
          <a:prstGeom prst="straightConnector1">
            <a:avLst/>
          </a:prstGeom>
          <a:noFill/>
          <a:ln cap="flat" cmpd="sng" w="12700">
            <a:solidFill>
              <a:srgbClr val="CBD5E1"/>
            </a:solidFill>
            <a:prstDash val="solid"/>
            <a:round/>
            <a:headEnd len="sm" w="sm" type="none"/>
            <a:tailEnd len="sm" w="sm" type="none"/>
          </a:ln>
          <a:effectLst>
            <a:outerShdw blurRad="40000" rotWithShape="0" dir="5400000" dist="20000">
              <a:srgbClr val="000000">
                <a:alpha val="38039"/>
              </a:srgbClr>
            </a:outerShdw>
          </a:effectLst>
        </p:spPr>
      </p:cxnSp>
      <p:cxnSp>
        <p:nvCxnSpPr>
          <p:cNvPr id="325" name="Google Shape;325;p6"/>
          <p:cNvCxnSpPr/>
          <p:nvPr/>
        </p:nvCxnSpPr>
        <p:spPr>
          <a:xfrm flipH="1" rot="10800000">
            <a:off x="1655064" y="2980944"/>
            <a:ext cx="1527048" cy="192024"/>
          </a:xfrm>
          <a:prstGeom prst="straightConnector1">
            <a:avLst/>
          </a:prstGeom>
          <a:noFill/>
          <a:ln cap="flat" cmpd="sng" w="30475">
            <a:solidFill>
              <a:srgbClr val="EC4899"/>
            </a:solidFill>
            <a:prstDash val="solid"/>
            <a:round/>
            <a:headEnd len="sm" w="sm" type="none"/>
            <a:tailEnd len="sm" w="sm" type="none"/>
          </a:ln>
          <a:effectLst>
            <a:outerShdw blurRad="40000" rotWithShape="0" dir="5400000" dist="20000">
              <a:srgbClr val="000000">
                <a:alpha val="38039"/>
              </a:srgbClr>
            </a:outerShdw>
          </a:effectLst>
        </p:spPr>
      </p:cxnSp>
      <p:cxnSp>
        <p:nvCxnSpPr>
          <p:cNvPr id="326" name="Google Shape;326;p6"/>
          <p:cNvCxnSpPr/>
          <p:nvPr/>
        </p:nvCxnSpPr>
        <p:spPr>
          <a:xfrm flipH="1" rot="10800000">
            <a:off x="3182112" y="2697480"/>
            <a:ext cx="1536192" cy="283464"/>
          </a:xfrm>
          <a:prstGeom prst="straightConnector1">
            <a:avLst/>
          </a:prstGeom>
          <a:noFill/>
          <a:ln cap="flat" cmpd="sng" w="30475">
            <a:solidFill>
              <a:srgbClr val="EC4899"/>
            </a:solidFill>
            <a:prstDash val="solid"/>
            <a:round/>
            <a:headEnd len="sm" w="sm" type="none"/>
            <a:tailEnd len="sm" w="sm" type="none"/>
          </a:ln>
          <a:effectLst>
            <a:outerShdw blurRad="40000" rotWithShape="0" dir="5400000" dist="20000">
              <a:srgbClr val="000000">
                <a:alpha val="38039"/>
              </a:srgbClr>
            </a:outerShdw>
          </a:effectLst>
        </p:spPr>
      </p:cxnSp>
      <p:sp>
        <p:nvSpPr>
          <p:cNvPr id="327" name="Google Shape;327;p6"/>
          <p:cNvSpPr/>
          <p:nvPr/>
        </p:nvSpPr>
        <p:spPr>
          <a:xfrm>
            <a:off x="1600200" y="3118103"/>
            <a:ext cx="109728" cy="109728"/>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8" name="Google Shape;328;p6"/>
          <p:cNvSpPr txBox="1"/>
          <p:nvPr/>
        </p:nvSpPr>
        <p:spPr>
          <a:xfrm>
            <a:off x="1325880" y="2889503"/>
            <a:ext cx="658368" cy="164592"/>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EC4899"/>
                </a:solidFill>
                <a:latin typeface="Arial"/>
                <a:ea typeface="Arial"/>
                <a:cs typeface="Arial"/>
                <a:sym typeface="Arial"/>
              </a:rPr>
              <a:t>0.264</a:t>
            </a:r>
            <a:endParaRPr/>
          </a:p>
        </p:txBody>
      </p:sp>
      <p:sp>
        <p:nvSpPr>
          <p:cNvPr id="329" name="Google Shape;329;p6"/>
          <p:cNvSpPr/>
          <p:nvPr/>
        </p:nvSpPr>
        <p:spPr>
          <a:xfrm>
            <a:off x="3127248" y="2926079"/>
            <a:ext cx="109728" cy="109728"/>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0" name="Google Shape;330;p6"/>
          <p:cNvSpPr txBox="1"/>
          <p:nvPr/>
        </p:nvSpPr>
        <p:spPr>
          <a:xfrm>
            <a:off x="2852928" y="2697479"/>
            <a:ext cx="658368" cy="164592"/>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EC4899"/>
                </a:solidFill>
                <a:latin typeface="Arial"/>
                <a:ea typeface="Arial"/>
                <a:cs typeface="Arial"/>
                <a:sym typeface="Arial"/>
              </a:rPr>
              <a:t>0.305</a:t>
            </a:r>
            <a:endParaRPr/>
          </a:p>
        </p:txBody>
      </p:sp>
      <p:sp>
        <p:nvSpPr>
          <p:cNvPr id="331" name="Google Shape;331;p6"/>
          <p:cNvSpPr/>
          <p:nvPr/>
        </p:nvSpPr>
        <p:spPr>
          <a:xfrm>
            <a:off x="4663440" y="2642616"/>
            <a:ext cx="109728" cy="109728"/>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2" name="Google Shape;332;p6"/>
          <p:cNvSpPr txBox="1"/>
          <p:nvPr/>
        </p:nvSpPr>
        <p:spPr>
          <a:xfrm>
            <a:off x="4389120" y="2414016"/>
            <a:ext cx="658368" cy="164592"/>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EC4899"/>
                </a:solidFill>
                <a:latin typeface="Arial"/>
                <a:ea typeface="Arial"/>
                <a:cs typeface="Arial"/>
                <a:sym typeface="Arial"/>
              </a:rPr>
              <a:t>0.371</a:t>
            </a:r>
            <a:endParaRPr/>
          </a:p>
        </p:txBody>
      </p:sp>
      <p:sp>
        <p:nvSpPr>
          <p:cNvPr id="333" name="Google Shape;333;p6"/>
          <p:cNvSpPr txBox="1"/>
          <p:nvPr/>
        </p:nvSpPr>
        <p:spPr>
          <a:xfrm>
            <a:off x="1289304" y="3611880"/>
            <a:ext cx="731520" cy="164592"/>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860" u="none" cap="none" strike="noStrike">
                <a:solidFill>
                  <a:srgbClr val="64748B"/>
                </a:solidFill>
                <a:latin typeface="Arial"/>
                <a:ea typeface="Arial"/>
                <a:cs typeface="Arial"/>
                <a:sym typeface="Arial"/>
              </a:rPr>
              <a:t>Epoch 2</a:t>
            </a:r>
            <a:endParaRPr/>
          </a:p>
        </p:txBody>
      </p:sp>
      <p:sp>
        <p:nvSpPr>
          <p:cNvPr id="334" name="Google Shape;334;p6"/>
          <p:cNvSpPr txBox="1"/>
          <p:nvPr/>
        </p:nvSpPr>
        <p:spPr>
          <a:xfrm>
            <a:off x="2816352" y="3611880"/>
            <a:ext cx="731520" cy="164592"/>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860" u="none" cap="none" strike="noStrike">
                <a:solidFill>
                  <a:srgbClr val="64748B"/>
                </a:solidFill>
                <a:latin typeface="Arial"/>
                <a:ea typeface="Arial"/>
                <a:cs typeface="Arial"/>
                <a:sym typeface="Arial"/>
              </a:rPr>
              <a:t>Epoch 3</a:t>
            </a:r>
            <a:endParaRPr/>
          </a:p>
        </p:txBody>
      </p:sp>
      <p:sp>
        <p:nvSpPr>
          <p:cNvPr id="335" name="Google Shape;335;p6"/>
          <p:cNvSpPr txBox="1"/>
          <p:nvPr/>
        </p:nvSpPr>
        <p:spPr>
          <a:xfrm>
            <a:off x="4352544" y="3611880"/>
            <a:ext cx="731520" cy="164592"/>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860" u="none" cap="none" strike="noStrike">
                <a:solidFill>
                  <a:srgbClr val="64748B"/>
                </a:solidFill>
                <a:latin typeface="Arial"/>
                <a:ea typeface="Arial"/>
                <a:cs typeface="Arial"/>
                <a:sym typeface="Arial"/>
              </a:rPr>
              <a:t>Epoch 4</a:t>
            </a:r>
            <a:endParaRPr/>
          </a:p>
        </p:txBody>
      </p:sp>
      <p:sp>
        <p:nvSpPr>
          <p:cNvPr id="336" name="Google Shape;336;p6"/>
          <p:cNvSpPr/>
          <p:nvPr/>
        </p:nvSpPr>
        <p:spPr>
          <a:xfrm>
            <a:off x="868680" y="4828032"/>
            <a:ext cx="4736592" cy="841248"/>
          </a:xfrm>
          <a:prstGeom prst="roundRect">
            <a:avLst>
              <a:gd fmla="val 16667" name="adj"/>
            </a:avLst>
          </a:prstGeom>
          <a:solidFill>
            <a:srgbClr val="FCE7F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7" name="Google Shape;337;p6"/>
          <p:cNvSpPr txBox="1"/>
          <p:nvPr/>
        </p:nvSpPr>
        <p:spPr>
          <a:xfrm>
            <a:off x="1042415" y="4974336"/>
            <a:ext cx="4389120" cy="521207"/>
          </a:xfrm>
          <a:prstGeom prst="rect">
            <a:avLst/>
          </a:prstGeom>
          <a:noFill/>
          <a:ln>
            <a:noFill/>
          </a:ln>
        </p:spPr>
        <p:txBody>
          <a:bodyPr anchorCtr="0" anchor="t" bIns="9125" lIns="9125" spcFirstLastPara="1" rIns="9125" wrap="square" tIns="9125">
            <a:spAutoFit/>
          </a:bodyPr>
          <a:lstStyle/>
          <a:p>
            <a:pPr indent="0" lvl="0" marL="0" marR="0" rtl="0" algn="l">
              <a:spcBef>
                <a:spcPts val="0"/>
              </a:spcBef>
              <a:spcAft>
                <a:spcPts val="0"/>
              </a:spcAft>
              <a:buNone/>
            </a:pPr>
            <a:r>
              <a:rPr b="0" i="0" lang="en-US" sz="1120" u="none" cap="none" strike="noStrike">
                <a:solidFill>
                  <a:srgbClr val="1E293B"/>
                </a:solidFill>
                <a:latin typeface="Arial"/>
                <a:ea typeface="Arial"/>
                <a:cs typeface="Arial"/>
                <a:sym typeface="Arial"/>
              </a:rPr>
              <a:t>Training loss reached 0.072 by Epoch 4, while validation loss kept rising. Higher learning rates encouraged memorization of short phrases.</a:t>
            </a:r>
            <a:endParaRPr/>
          </a:p>
        </p:txBody>
      </p:sp>
      <p:sp>
        <p:nvSpPr>
          <p:cNvPr id="338" name="Google Shape;338;p6"/>
          <p:cNvSpPr/>
          <p:nvPr/>
        </p:nvSpPr>
        <p:spPr>
          <a:xfrm>
            <a:off x="6231636" y="1412748"/>
            <a:ext cx="5394960" cy="4727448"/>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9" name="Google Shape;339;p6"/>
          <p:cNvSpPr/>
          <p:nvPr/>
        </p:nvSpPr>
        <p:spPr>
          <a:xfrm>
            <a:off x="6199632" y="1371600"/>
            <a:ext cx="5394960" cy="4727448"/>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0" name="Google Shape;340;p6"/>
          <p:cNvSpPr/>
          <p:nvPr/>
        </p:nvSpPr>
        <p:spPr>
          <a:xfrm>
            <a:off x="6199632" y="1389888"/>
            <a:ext cx="50292" cy="4690872"/>
          </a:xfrm>
          <a:prstGeom prst="rect">
            <a:avLst/>
          </a:prstGeom>
          <a:solidFill>
            <a:srgbClr val="16A3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1" name="Google Shape;341;p6"/>
          <p:cNvSpPr txBox="1"/>
          <p:nvPr/>
        </p:nvSpPr>
        <p:spPr>
          <a:xfrm>
            <a:off x="6419088" y="1572768"/>
            <a:ext cx="4983480"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700" u="none" cap="none" strike="noStrike">
                <a:solidFill>
                  <a:srgbClr val="1E293B"/>
                </a:solidFill>
                <a:latin typeface="Arial"/>
                <a:ea typeface="Arial"/>
                <a:cs typeface="Arial"/>
                <a:sym typeface="Arial"/>
              </a:rPr>
              <a:t>The Solution  /  MARBERTv2</a:t>
            </a:r>
            <a:endParaRPr/>
          </a:p>
        </p:txBody>
      </p:sp>
      <p:sp>
        <p:nvSpPr>
          <p:cNvPr id="342" name="Google Shape;342;p6"/>
          <p:cNvSpPr/>
          <p:nvPr/>
        </p:nvSpPr>
        <p:spPr>
          <a:xfrm>
            <a:off x="6446520" y="2057400"/>
            <a:ext cx="2139696" cy="841248"/>
          </a:xfrm>
          <a:prstGeom prst="roundRect">
            <a:avLst>
              <a:gd fmla="val 16667" name="adj"/>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6"/>
          <p:cNvSpPr txBox="1"/>
          <p:nvPr/>
        </p:nvSpPr>
        <p:spPr>
          <a:xfrm>
            <a:off x="6574536" y="2167128"/>
            <a:ext cx="804672" cy="32918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2563EB"/>
                </a:solidFill>
                <a:latin typeface="Arial"/>
                <a:ea typeface="Arial"/>
                <a:cs typeface="Arial"/>
                <a:sym typeface="Arial"/>
              </a:rPr>
              <a:t>2e-5</a:t>
            </a:r>
            <a:endParaRPr/>
          </a:p>
        </p:txBody>
      </p:sp>
      <p:sp>
        <p:nvSpPr>
          <p:cNvPr id="344" name="Google Shape;344;p6"/>
          <p:cNvSpPr txBox="1"/>
          <p:nvPr/>
        </p:nvSpPr>
        <p:spPr>
          <a:xfrm>
            <a:off x="7342631" y="2231136"/>
            <a:ext cx="1106424" cy="36576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940" u="none" cap="none" strike="noStrike">
                <a:solidFill>
                  <a:srgbClr val="1E293B"/>
                </a:solidFill>
                <a:latin typeface="Arial"/>
                <a:ea typeface="Arial"/>
                <a:cs typeface="Arial"/>
                <a:sym typeface="Arial"/>
              </a:rPr>
              <a:t>Peak learning rate</a:t>
            </a:r>
            <a:endParaRPr/>
          </a:p>
        </p:txBody>
      </p:sp>
      <p:sp>
        <p:nvSpPr>
          <p:cNvPr id="345" name="Google Shape;345;p6"/>
          <p:cNvSpPr/>
          <p:nvPr/>
        </p:nvSpPr>
        <p:spPr>
          <a:xfrm>
            <a:off x="8778240" y="2057400"/>
            <a:ext cx="2139696" cy="841248"/>
          </a:xfrm>
          <a:prstGeom prst="roundRect">
            <a:avLst>
              <a:gd fmla="val 16667" name="adj"/>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6" name="Google Shape;346;p6"/>
          <p:cNvSpPr txBox="1"/>
          <p:nvPr/>
        </p:nvSpPr>
        <p:spPr>
          <a:xfrm>
            <a:off x="8906256" y="2167128"/>
            <a:ext cx="804672" cy="32918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38BDF8"/>
                </a:solidFill>
                <a:latin typeface="Arial"/>
                <a:ea typeface="Arial"/>
                <a:cs typeface="Arial"/>
                <a:sym typeface="Arial"/>
              </a:rPr>
              <a:t>10%</a:t>
            </a:r>
            <a:endParaRPr/>
          </a:p>
        </p:txBody>
      </p:sp>
      <p:sp>
        <p:nvSpPr>
          <p:cNvPr id="347" name="Google Shape;347;p6"/>
          <p:cNvSpPr txBox="1"/>
          <p:nvPr/>
        </p:nvSpPr>
        <p:spPr>
          <a:xfrm>
            <a:off x="9674352" y="2231136"/>
            <a:ext cx="1106424" cy="36576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940" u="none" cap="none" strike="noStrike">
                <a:solidFill>
                  <a:srgbClr val="1E293B"/>
                </a:solidFill>
                <a:latin typeface="Arial"/>
                <a:ea typeface="Arial"/>
                <a:cs typeface="Arial"/>
                <a:sym typeface="Arial"/>
              </a:rPr>
              <a:t>Linear warmup</a:t>
            </a:r>
            <a:endParaRPr/>
          </a:p>
        </p:txBody>
      </p:sp>
      <p:sp>
        <p:nvSpPr>
          <p:cNvPr id="348" name="Google Shape;348;p6"/>
          <p:cNvSpPr/>
          <p:nvPr/>
        </p:nvSpPr>
        <p:spPr>
          <a:xfrm>
            <a:off x="6446520" y="3136391"/>
            <a:ext cx="2139696" cy="841248"/>
          </a:xfrm>
          <a:prstGeom prst="roundRect">
            <a:avLst>
              <a:gd fmla="val 16667" name="adj"/>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9" name="Google Shape;349;p6"/>
          <p:cNvSpPr txBox="1"/>
          <p:nvPr/>
        </p:nvSpPr>
        <p:spPr>
          <a:xfrm>
            <a:off x="6574536" y="3246120"/>
            <a:ext cx="804672" cy="32918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16A34A"/>
                </a:solidFill>
                <a:latin typeface="Arial"/>
                <a:ea typeface="Arial"/>
                <a:cs typeface="Arial"/>
                <a:sym typeface="Arial"/>
              </a:rPr>
              <a:t>0.05</a:t>
            </a:r>
            <a:endParaRPr/>
          </a:p>
        </p:txBody>
      </p:sp>
      <p:sp>
        <p:nvSpPr>
          <p:cNvPr id="350" name="Google Shape;350;p6"/>
          <p:cNvSpPr txBox="1"/>
          <p:nvPr/>
        </p:nvSpPr>
        <p:spPr>
          <a:xfrm>
            <a:off x="7342631" y="3310127"/>
            <a:ext cx="1106424" cy="36576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940" u="none" cap="none" strike="noStrike">
                <a:solidFill>
                  <a:srgbClr val="1E293B"/>
                </a:solidFill>
                <a:latin typeface="Arial"/>
                <a:ea typeface="Arial"/>
                <a:cs typeface="Arial"/>
                <a:sym typeface="Arial"/>
              </a:rPr>
              <a:t>Weight decay</a:t>
            </a:r>
            <a:endParaRPr/>
          </a:p>
        </p:txBody>
      </p:sp>
      <p:sp>
        <p:nvSpPr>
          <p:cNvPr id="351" name="Google Shape;351;p6"/>
          <p:cNvSpPr/>
          <p:nvPr/>
        </p:nvSpPr>
        <p:spPr>
          <a:xfrm>
            <a:off x="8778240" y="3136391"/>
            <a:ext cx="2139696" cy="841248"/>
          </a:xfrm>
          <a:prstGeom prst="roundRect">
            <a:avLst>
              <a:gd fmla="val 16667" name="adj"/>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2" name="Google Shape;352;p6"/>
          <p:cNvSpPr txBox="1"/>
          <p:nvPr/>
        </p:nvSpPr>
        <p:spPr>
          <a:xfrm>
            <a:off x="8906256" y="3246120"/>
            <a:ext cx="804672" cy="32918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EC4899"/>
                </a:solidFill>
                <a:latin typeface="Arial"/>
                <a:ea typeface="Arial"/>
                <a:cs typeface="Arial"/>
                <a:sym typeface="Arial"/>
              </a:rPr>
              <a:t>0.05</a:t>
            </a:r>
            <a:endParaRPr/>
          </a:p>
        </p:txBody>
      </p:sp>
      <p:sp>
        <p:nvSpPr>
          <p:cNvPr id="353" name="Google Shape;353;p6"/>
          <p:cNvSpPr txBox="1"/>
          <p:nvPr/>
        </p:nvSpPr>
        <p:spPr>
          <a:xfrm>
            <a:off x="9674352" y="3310127"/>
            <a:ext cx="1106424" cy="36576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940" u="none" cap="none" strike="noStrike">
                <a:solidFill>
                  <a:srgbClr val="1E293B"/>
                </a:solidFill>
                <a:latin typeface="Arial"/>
                <a:ea typeface="Arial"/>
                <a:cs typeface="Arial"/>
                <a:sym typeface="Arial"/>
              </a:rPr>
              <a:t>Label smoothing</a:t>
            </a:r>
            <a:endParaRPr/>
          </a:p>
        </p:txBody>
      </p:sp>
      <p:sp>
        <p:nvSpPr>
          <p:cNvPr id="354" name="Google Shape;354;p6"/>
          <p:cNvSpPr/>
          <p:nvPr/>
        </p:nvSpPr>
        <p:spPr>
          <a:xfrm>
            <a:off x="6446520" y="4389120"/>
            <a:ext cx="4617720" cy="1152144"/>
          </a:xfrm>
          <a:prstGeom prst="roundRect">
            <a:avLst>
              <a:gd fmla="val 16667" name="adj"/>
            </a:avLst>
          </a:prstGeom>
          <a:solidFill>
            <a:srgbClr val="DCFCE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6"/>
          <p:cNvSpPr txBox="1"/>
          <p:nvPr/>
        </p:nvSpPr>
        <p:spPr>
          <a:xfrm>
            <a:off x="6656832" y="4544568"/>
            <a:ext cx="1920240" cy="1828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16A34A"/>
                </a:solidFill>
                <a:latin typeface="Arial"/>
                <a:ea typeface="Arial"/>
                <a:cs typeface="Arial"/>
                <a:sym typeface="Arial"/>
              </a:rPr>
              <a:t>TRAINING CONTROLS</a:t>
            </a:r>
            <a:endParaRPr/>
          </a:p>
        </p:txBody>
      </p:sp>
      <p:sp>
        <p:nvSpPr>
          <p:cNvPr id="356" name="Google Shape;356;p6"/>
          <p:cNvSpPr txBox="1"/>
          <p:nvPr/>
        </p:nvSpPr>
        <p:spPr>
          <a:xfrm>
            <a:off x="6629400" y="4791456"/>
            <a:ext cx="4187952" cy="621792"/>
          </a:xfrm>
          <a:prstGeom prst="rect">
            <a:avLst/>
          </a:prstGeom>
          <a:noFill/>
          <a:ln>
            <a:noFill/>
          </a:ln>
        </p:spPr>
        <p:txBody>
          <a:bodyPr anchorCtr="0" anchor="t" bIns="18275" lIns="54850" spcFirstLastPara="1" rIns="36575" wrap="square" tIns="27425">
            <a:spAutoFit/>
          </a:bodyPr>
          <a:lstStyle/>
          <a:p>
            <a:pPr indent="0" lvl="0" marL="0" marR="0" rtl="0" algn="l">
              <a:lnSpc>
                <a:spcPct val="105000"/>
              </a:lnSpc>
              <a:spcBef>
                <a:spcPts val="0"/>
              </a:spcBef>
              <a:spcAft>
                <a:spcPts val="0"/>
              </a:spcAft>
              <a:buNone/>
            </a:pPr>
            <a:r>
              <a:rPr b="0" i="0" lang="en-US" sz="1019" u="none" cap="none" strike="noStrike">
                <a:solidFill>
                  <a:srgbClr val="1E293B"/>
                </a:solidFill>
                <a:latin typeface="Arial"/>
                <a:ea typeface="Arial"/>
                <a:cs typeface="Arial"/>
                <a:sym typeface="Arial"/>
              </a:rPr>
              <a:t>•  EarlyStoppingCallback: patience = 2; monitor eval_f1_macro.</a:t>
            </a:r>
            <a:endParaRPr/>
          </a:p>
          <a:p>
            <a:pPr indent="0" lvl="0" marL="0" marR="0" rtl="0" algn="l">
              <a:lnSpc>
                <a:spcPct val="105000"/>
              </a:lnSpc>
              <a:spcBef>
                <a:spcPts val="400"/>
              </a:spcBef>
              <a:spcAft>
                <a:spcPts val="0"/>
              </a:spcAft>
              <a:buNone/>
            </a:pPr>
            <a:r>
              <a:rPr b="0" i="0" lang="en-US" sz="1019" u="none" cap="none" strike="noStrike">
                <a:solidFill>
                  <a:srgbClr val="1E293B"/>
                </a:solidFill>
                <a:latin typeface="Arial"/>
                <a:ea typeface="Arial"/>
                <a:cs typeface="Arial"/>
                <a:sym typeface="Arial"/>
              </a:rPr>
              <a:t>•  load_best_model_at_end = True  •  FP16 mixed precision.</a:t>
            </a:r>
            <a:endParaRPr/>
          </a:p>
        </p:txBody>
      </p:sp>
      <p:cxnSp>
        <p:nvCxnSpPr>
          <p:cNvPr id="357" name="Google Shape;357;p6"/>
          <p:cNvCxnSpPr/>
          <p:nvPr/>
        </p:nvCxnSpPr>
        <p:spPr>
          <a:xfrm>
            <a:off x="594360" y="6473952"/>
            <a:ext cx="11000232" cy="0"/>
          </a:xfrm>
          <a:prstGeom prst="straightConnector1">
            <a:avLst/>
          </a:prstGeom>
          <a:noFill/>
          <a:ln cap="flat" cmpd="sng" w="9525">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358" name="Google Shape;358;p6"/>
          <p:cNvSpPr txBox="1"/>
          <p:nvPr/>
        </p:nvSpPr>
        <p:spPr>
          <a:xfrm>
            <a:off x="603504" y="6547104"/>
            <a:ext cx="45720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64748B"/>
                </a:solidFill>
                <a:latin typeface="Arial"/>
                <a:ea typeface="Arial"/>
                <a:cs typeface="Arial"/>
                <a:sym typeface="Arial"/>
              </a:rPr>
              <a:t>ARABIC DIALECT CLASSIFICATION</a:t>
            </a:r>
            <a:endParaRPr/>
          </a:p>
        </p:txBody>
      </p:sp>
      <p:sp>
        <p:nvSpPr>
          <p:cNvPr id="359" name="Google Shape;359;p6"/>
          <p:cNvSpPr txBox="1"/>
          <p:nvPr/>
        </p:nvSpPr>
        <p:spPr>
          <a:xfrm>
            <a:off x="10652760" y="6528816"/>
            <a:ext cx="914400" cy="18288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850" u="none" cap="none" strike="noStrike">
                <a:solidFill>
                  <a:srgbClr val="64748B"/>
                </a:solidFill>
                <a:latin typeface="Arial"/>
                <a:ea typeface="Arial"/>
                <a:cs typeface="Arial"/>
                <a:sym typeface="Arial"/>
              </a:rPr>
              <a:t>06  /  12</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364" name="Shape 364"/>
        <p:cNvGrpSpPr/>
        <p:nvPr/>
      </p:nvGrpSpPr>
      <p:grpSpPr>
        <a:xfrm>
          <a:off x="0" y="0"/>
          <a:ext cx="0" cy="0"/>
          <a:chOff x="0" y="0"/>
          <a:chExt cx="0" cy="0"/>
        </a:xfrm>
      </p:grpSpPr>
      <p:sp>
        <p:nvSpPr>
          <p:cNvPr id="365" name="Google Shape;365;p7"/>
          <p:cNvSpPr/>
          <p:nvPr/>
        </p:nvSpPr>
        <p:spPr>
          <a:xfrm>
            <a:off x="0" y="0"/>
            <a:ext cx="12191695" cy="128016"/>
          </a:xfrm>
          <a:prstGeom prst="rect">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6" name="Google Shape;366;p7"/>
          <p:cNvSpPr/>
          <p:nvPr/>
        </p:nvSpPr>
        <p:spPr>
          <a:xfrm>
            <a:off x="0" y="0"/>
            <a:ext cx="2011680" cy="12801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7"/>
          <p:cNvSpPr txBox="1"/>
          <p:nvPr/>
        </p:nvSpPr>
        <p:spPr>
          <a:xfrm>
            <a:off x="603504" y="274320"/>
            <a:ext cx="27432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2563EB"/>
                </a:solidFill>
                <a:latin typeface="Arial"/>
                <a:ea typeface="Arial"/>
                <a:cs typeface="Arial"/>
                <a:sym typeface="Arial"/>
              </a:rPr>
              <a:t>QUANTITATIVE RESULTS</a:t>
            </a:r>
            <a:endParaRPr/>
          </a:p>
        </p:txBody>
      </p:sp>
      <p:sp>
        <p:nvSpPr>
          <p:cNvPr id="368" name="Google Shape;368;p7"/>
          <p:cNvSpPr txBox="1"/>
          <p:nvPr/>
        </p:nvSpPr>
        <p:spPr>
          <a:xfrm>
            <a:off x="594360" y="521207"/>
            <a:ext cx="10972800" cy="53035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800" u="none" cap="none" strike="noStrike">
                <a:solidFill>
                  <a:srgbClr val="0F172A"/>
                </a:solidFill>
                <a:latin typeface="Arial"/>
                <a:ea typeface="Arial"/>
                <a:cs typeface="Arial"/>
                <a:sym typeface="Arial"/>
              </a:rPr>
              <a:t>Experimental Benchmark Results Across All Models</a:t>
            </a:r>
            <a:endParaRPr/>
          </a:p>
        </p:txBody>
      </p:sp>
      <p:sp>
        <p:nvSpPr>
          <p:cNvPr id="369" name="Google Shape;369;p7"/>
          <p:cNvSpPr/>
          <p:nvPr/>
        </p:nvSpPr>
        <p:spPr>
          <a:xfrm>
            <a:off x="11411712" y="347472"/>
            <a:ext cx="164592" cy="164592"/>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0" name="Google Shape;370;p7"/>
          <p:cNvSpPr/>
          <p:nvPr/>
        </p:nvSpPr>
        <p:spPr>
          <a:xfrm>
            <a:off x="11612880" y="347472"/>
            <a:ext cx="164592" cy="16459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1" name="Google Shape;371;p7"/>
          <p:cNvSpPr/>
          <p:nvPr/>
        </p:nvSpPr>
        <p:spPr>
          <a:xfrm>
            <a:off x="11814048" y="347472"/>
            <a:ext cx="164592" cy="164592"/>
          </a:xfrm>
          <a:prstGeom prst="ellipse">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2" name="Google Shape;372;p7"/>
          <p:cNvSpPr/>
          <p:nvPr/>
        </p:nvSpPr>
        <p:spPr>
          <a:xfrm>
            <a:off x="617220" y="1257300"/>
            <a:ext cx="3547872" cy="117043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3" name="Google Shape;373;p7"/>
          <p:cNvSpPr/>
          <p:nvPr/>
        </p:nvSpPr>
        <p:spPr>
          <a:xfrm>
            <a:off x="594360" y="1225296"/>
            <a:ext cx="3547872" cy="117043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4" name="Google Shape;374;p7"/>
          <p:cNvSpPr/>
          <p:nvPr/>
        </p:nvSpPr>
        <p:spPr>
          <a:xfrm>
            <a:off x="594360" y="1225296"/>
            <a:ext cx="54864" cy="1170432"/>
          </a:xfrm>
          <a:prstGeom prst="rect">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5" name="Google Shape;375;p7"/>
          <p:cNvSpPr txBox="1"/>
          <p:nvPr/>
        </p:nvSpPr>
        <p:spPr>
          <a:xfrm>
            <a:off x="795528" y="1353312"/>
            <a:ext cx="3182112" cy="1920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64748B"/>
                </a:solidFill>
                <a:latin typeface="Arial"/>
                <a:ea typeface="Arial"/>
                <a:cs typeface="Arial"/>
                <a:sym typeface="Arial"/>
              </a:rPr>
              <a:t>CLASSICAL STACKING  /  TEST ACCURACY</a:t>
            </a:r>
            <a:endParaRPr/>
          </a:p>
        </p:txBody>
      </p:sp>
      <p:sp>
        <p:nvSpPr>
          <p:cNvPr id="376" name="Google Shape;376;p7"/>
          <p:cNvSpPr txBox="1"/>
          <p:nvPr/>
        </p:nvSpPr>
        <p:spPr>
          <a:xfrm>
            <a:off x="795528" y="1554480"/>
            <a:ext cx="3182112"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700" u="none" cap="none" strike="noStrike">
                <a:solidFill>
                  <a:srgbClr val="2563EB"/>
                </a:solidFill>
                <a:latin typeface="Arial"/>
                <a:ea typeface="Arial"/>
                <a:cs typeface="Arial"/>
                <a:sym typeface="Arial"/>
              </a:rPr>
              <a:t>90.93%</a:t>
            </a:r>
            <a:endParaRPr/>
          </a:p>
        </p:txBody>
      </p:sp>
      <p:sp>
        <p:nvSpPr>
          <p:cNvPr id="377" name="Google Shape;377;p7"/>
          <p:cNvSpPr txBox="1"/>
          <p:nvPr/>
        </p:nvSpPr>
        <p:spPr>
          <a:xfrm>
            <a:off x="795528" y="2148840"/>
            <a:ext cx="3182112" cy="14630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830" u="none" cap="none" strike="noStrike">
                <a:solidFill>
                  <a:srgbClr val="64748B"/>
                </a:solidFill>
                <a:latin typeface="Arial"/>
                <a:ea typeface="Arial"/>
                <a:cs typeface="Arial"/>
                <a:sym typeface="Arial"/>
              </a:rPr>
              <a:t>4-model meta-learner</a:t>
            </a:r>
            <a:endParaRPr/>
          </a:p>
        </p:txBody>
      </p:sp>
      <p:sp>
        <p:nvSpPr>
          <p:cNvPr id="378" name="Google Shape;378;p7"/>
          <p:cNvSpPr/>
          <p:nvPr/>
        </p:nvSpPr>
        <p:spPr>
          <a:xfrm>
            <a:off x="4347972" y="1257300"/>
            <a:ext cx="3547872" cy="117043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9" name="Google Shape;379;p7"/>
          <p:cNvSpPr/>
          <p:nvPr/>
        </p:nvSpPr>
        <p:spPr>
          <a:xfrm>
            <a:off x="4325112" y="1225296"/>
            <a:ext cx="3547872" cy="117043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0" name="Google Shape;380;p7"/>
          <p:cNvSpPr/>
          <p:nvPr/>
        </p:nvSpPr>
        <p:spPr>
          <a:xfrm>
            <a:off x="4325112" y="1225296"/>
            <a:ext cx="54864" cy="1170432"/>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1" name="Google Shape;381;p7"/>
          <p:cNvSpPr txBox="1"/>
          <p:nvPr/>
        </p:nvSpPr>
        <p:spPr>
          <a:xfrm>
            <a:off x="4526280" y="1353312"/>
            <a:ext cx="3182112" cy="1920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64748B"/>
                </a:solidFill>
                <a:latin typeface="Arial"/>
                <a:ea typeface="Arial"/>
                <a:cs typeface="Arial"/>
                <a:sym typeface="Arial"/>
              </a:rPr>
              <a:t>ARABERTV02  /  VALIDATION ACCURACY</a:t>
            </a:r>
            <a:endParaRPr/>
          </a:p>
        </p:txBody>
      </p:sp>
      <p:sp>
        <p:nvSpPr>
          <p:cNvPr id="382" name="Google Shape;382;p7"/>
          <p:cNvSpPr txBox="1"/>
          <p:nvPr/>
        </p:nvSpPr>
        <p:spPr>
          <a:xfrm>
            <a:off x="4526280" y="1554480"/>
            <a:ext cx="3182112"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700" u="none" cap="none" strike="noStrike">
                <a:solidFill>
                  <a:srgbClr val="38BDF8"/>
                </a:solidFill>
                <a:latin typeface="Arial"/>
                <a:ea typeface="Arial"/>
                <a:cs typeface="Arial"/>
                <a:sym typeface="Arial"/>
              </a:rPr>
              <a:t>91.03%</a:t>
            </a:r>
            <a:endParaRPr/>
          </a:p>
        </p:txBody>
      </p:sp>
      <p:sp>
        <p:nvSpPr>
          <p:cNvPr id="383" name="Google Shape;383;p7"/>
          <p:cNvSpPr txBox="1"/>
          <p:nvPr/>
        </p:nvSpPr>
        <p:spPr>
          <a:xfrm>
            <a:off x="4526280" y="2148840"/>
            <a:ext cx="3182112" cy="14630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830" u="none" cap="none" strike="noStrike">
                <a:solidFill>
                  <a:srgbClr val="64748B"/>
                </a:solidFill>
                <a:latin typeface="Arial"/>
                <a:ea typeface="Arial"/>
                <a:cs typeface="Arial"/>
                <a:sym typeface="Arial"/>
              </a:rPr>
              <a:t>Fine-tuned transformer</a:t>
            </a:r>
            <a:endParaRPr/>
          </a:p>
        </p:txBody>
      </p:sp>
      <p:sp>
        <p:nvSpPr>
          <p:cNvPr id="384" name="Google Shape;384;p7"/>
          <p:cNvSpPr/>
          <p:nvPr/>
        </p:nvSpPr>
        <p:spPr>
          <a:xfrm>
            <a:off x="8078724" y="1257300"/>
            <a:ext cx="3547872" cy="1170432"/>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5" name="Google Shape;385;p7"/>
          <p:cNvSpPr/>
          <p:nvPr/>
        </p:nvSpPr>
        <p:spPr>
          <a:xfrm>
            <a:off x="8055864" y="1225296"/>
            <a:ext cx="3547872" cy="1170432"/>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6" name="Google Shape;386;p7"/>
          <p:cNvSpPr/>
          <p:nvPr/>
        </p:nvSpPr>
        <p:spPr>
          <a:xfrm>
            <a:off x="8055864" y="1225296"/>
            <a:ext cx="54864" cy="1170432"/>
          </a:xfrm>
          <a:prstGeom prst="rect">
            <a:avLst/>
          </a:prstGeom>
          <a:solidFill>
            <a:srgbClr val="16A3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7" name="Google Shape;387;p7"/>
          <p:cNvSpPr txBox="1"/>
          <p:nvPr/>
        </p:nvSpPr>
        <p:spPr>
          <a:xfrm>
            <a:off x="8257032" y="1353312"/>
            <a:ext cx="3182112" cy="1920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64748B"/>
                </a:solidFill>
                <a:latin typeface="Arial"/>
                <a:ea typeface="Arial"/>
                <a:cs typeface="Arial"/>
                <a:sym typeface="Arial"/>
              </a:rPr>
              <a:t>MARBERTV2  /  UNSEEN TEST ACCURACY</a:t>
            </a:r>
            <a:endParaRPr/>
          </a:p>
        </p:txBody>
      </p:sp>
      <p:sp>
        <p:nvSpPr>
          <p:cNvPr id="388" name="Google Shape;388;p7"/>
          <p:cNvSpPr txBox="1"/>
          <p:nvPr/>
        </p:nvSpPr>
        <p:spPr>
          <a:xfrm>
            <a:off x="8257032" y="1554480"/>
            <a:ext cx="3182112"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700" u="none" cap="none" strike="noStrike">
                <a:solidFill>
                  <a:srgbClr val="16A34A"/>
                </a:solidFill>
                <a:latin typeface="Arial"/>
                <a:ea typeface="Arial"/>
                <a:cs typeface="Arial"/>
                <a:sym typeface="Arial"/>
              </a:rPr>
              <a:t>92.25%</a:t>
            </a:r>
            <a:endParaRPr/>
          </a:p>
        </p:txBody>
      </p:sp>
      <p:sp>
        <p:nvSpPr>
          <p:cNvPr id="389" name="Google Shape;389;p7"/>
          <p:cNvSpPr txBox="1"/>
          <p:nvPr/>
        </p:nvSpPr>
        <p:spPr>
          <a:xfrm>
            <a:off x="8257032" y="2148840"/>
            <a:ext cx="3182112" cy="14630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830" u="none" cap="none" strike="noStrike">
                <a:solidFill>
                  <a:srgbClr val="64748B"/>
                </a:solidFill>
                <a:latin typeface="Arial"/>
                <a:ea typeface="Arial"/>
                <a:cs typeface="Arial"/>
                <a:sym typeface="Arial"/>
              </a:rPr>
              <a:t>Macro F1: 92.24%</a:t>
            </a:r>
            <a:endParaRPr/>
          </a:p>
        </p:txBody>
      </p:sp>
      <p:sp>
        <p:nvSpPr>
          <p:cNvPr id="390" name="Google Shape;390;p7"/>
          <p:cNvSpPr/>
          <p:nvPr/>
        </p:nvSpPr>
        <p:spPr>
          <a:xfrm>
            <a:off x="594360" y="2615184"/>
            <a:ext cx="2331720" cy="420624"/>
          </a:xfrm>
          <a:prstGeom prst="rect">
            <a:avLst/>
          </a:prstGeom>
          <a:solidFill>
            <a:srgbClr val="0F172A"/>
          </a:solidFill>
          <a:ln cap="flat" cmpd="sng" w="10150">
            <a:solidFill>
              <a:srgbClr val="F8FA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1" name="Google Shape;391;p7"/>
          <p:cNvSpPr txBox="1"/>
          <p:nvPr/>
        </p:nvSpPr>
        <p:spPr>
          <a:xfrm>
            <a:off x="630936" y="2633472"/>
            <a:ext cx="2258568" cy="384048"/>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910" u="none" cap="none" strike="noStrike">
                <a:solidFill>
                  <a:srgbClr val="F8FAFC"/>
                </a:solidFill>
                <a:latin typeface="Arial"/>
                <a:ea typeface="Arial"/>
                <a:cs typeface="Arial"/>
                <a:sym typeface="Arial"/>
              </a:rPr>
              <a:t>Model Architecture</a:t>
            </a:r>
            <a:endParaRPr/>
          </a:p>
        </p:txBody>
      </p:sp>
      <p:sp>
        <p:nvSpPr>
          <p:cNvPr id="392" name="Google Shape;392;p7"/>
          <p:cNvSpPr/>
          <p:nvPr/>
        </p:nvSpPr>
        <p:spPr>
          <a:xfrm>
            <a:off x="2926079" y="2615184"/>
            <a:ext cx="2926080" cy="420624"/>
          </a:xfrm>
          <a:prstGeom prst="rect">
            <a:avLst/>
          </a:prstGeom>
          <a:solidFill>
            <a:srgbClr val="0F172A"/>
          </a:solidFill>
          <a:ln cap="flat" cmpd="sng" w="10150">
            <a:solidFill>
              <a:srgbClr val="F8FA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3" name="Google Shape;393;p7"/>
          <p:cNvSpPr txBox="1"/>
          <p:nvPr/>
        </p:nvSpPr>
        <p:spPr>
          <a:xfrm>
            <a:off x="2962656" y="2633472"/>
            <a:ext cx="2852928" cy="384048"/>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1" i="0" lang="en-US" sz="910" u="none" cap="none" strike="noStrike">
                <a:solidFill>
                  <a:srgbClr val="F8FAFC"/>
                </a:solidFill>
                <a:latin typeface="Arial"/>
                <a:ea typeface="Arial"/>
                <a:cs typeface="Arial"/>
                <a:sym typeface="Arial"/>
              </a:rPr>
              <a:t>Feature Type</a:t>
            </a:r>
            <a:endParaRPr/>
          </a:p>
        </p:txBody>
      </p:sp>
      <p:sp>
        <p:nvSpPr>
          <p:cNvPr id="394" name="Google Shape;394;p7"/>
          <p:cNvSpPr/>
          <p:nvPr/>
        </p:nvSpPr>
        <p:spPr>
          <a:xfrm>
            <a:off x="5852160" y="2615184"/>
            <a:ext cx="1828800" cy="420624"/>
          </a:xfrm>
          <a:prstGeom prst="rect">
            <a:avLst/>
          </a:prstGeom>
          <a:solidFill>
            <a:srgbClr val="0F172A"/>
          </a:solidFill>
          <a:ln cap="flat" cmpd="sng" w="10150">
            <a:solidFill>
              <a:srgbClr val="F8FA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5" name="Google Shape;395;p7"/>
          <p:cNvSpPr txBox="1"/>
          <p:nvPr/>
        </p:nvSpPr>
        <p:spPr>
          <a:xfrm>
            <a:off x="5888736" y="2633472"/>
            <a:ext cx="1755648" cy="384048"/>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1" i="0" lang="en-US" sz="910" u="none" cap="none" strike="noStrike">
                <a:solidFill>
                  <a:srgbClr val="F8FAFC"/>
                </a:solidFill>
                <a:latin typeface="Arial"/>
                <a:ea typeface="Arial"/>
                <a:cs typeface="Arial"/>
                <a:sym typeface="Arial"/>
              </a:rPr>
              <a:t>Val Accuracy</a:t>
            </a:r>
            <a:endParaRPr/>
          </a:p>
        </p:txBody>
      </p:sp>
      <p:sp>
        <p:nvSpPr>
          <p:cNvPr id="396" name="Google Shape;396;p7"/>
          <p:cNvSpPr/>
          <p:nvPr/>
        </p:nvSpPr>
        <p:spPr>
          <a:xfrm>
            <a:off x="7680960" y="2615184"/>
            <a:ext cx="1965960" cy="420624"/>
          </a:xfrm>
          <a:prstGeom prst="rect">
            <a:avLst/>
          </a:prstGeom>
          <a:solidFill>
            <a:srgbClr val="0F172A"/>
          </a:solidFill>
          <a:ln cap="flat" cmpd="sng" w="10150">
            <a:solidFill>
              <a:srgbClr val="F8FA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7" name="Google Shape;397;p7"/>
          <p:cNvSpPr txBox="1"/>
          <p:nvPr/>
        </p:nvSpPr>
        <p:spPr>
          <a:xfrm>
            <a:off x="7717536" y="2633472"/>
            <a:ext cx="1892807" cy="384048"/>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1" i="0" lang="en-US" sz="910" u="none" cap="none" strike="noStrike">
                <a:solidFill>
                  <a:srgbClr val="F8FAFC"/>
                </a:solidFill>
                <a:latin typeface="Arial"/>
                <a:ea typeface="Arial"/>
                <a:cs typeface="Arial"/>
                <a:sym typeface="Arial"/>
              </a:rPr>
              <a:t>Test Accuracy</a:t>
            </a:r>
            <a:endParaRPr/>
          </a:p>
        </p:txBody>
      </p:sp>
      <p:sp>
        <p:nvSpPr>
          <p:cNvPr id="398" name="Google Shape;398;p7"/>
          <p:cNvSpPr/>
          <p:nvPr/>
        </p:nvSpPr>
        <p:spPr>
          <a:xfrm>
            <a:off x="9646920" y="2615184"/>
            <a:ext cx="1947672" cy="420624"/>
          </a:xfrm>
          <a:prstGeom prst="rect">
            <a:avLst/>
          </a:prstGeom>
          <a:solidFill>
            <a:srgbClr val="0F172A"/>
          </a:solidFill>
          <a:ln cap="flat" cmpd="sng" w="10150">
            <a:solidFill>
              <a:srgbClr val="F8FA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9" name="Google Shape;399;p7"/>
          <p:cNvSpPr txBox="1"/>
          <p:nvPr/>
        </p:nvSpPr>
        <p:spPr>
          <a:xfrm>
            <a:off x="9683496" y="2633472"/>
            <a:ext cx="1874519" cy="384048"/>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1" i="0" lang="en-US" sz="910" u="none" cap="none" strike="noStrike">
                <a:solidFill>
                  <a:srgbClr val="F8FAFC"/>
                </a:solidFill>
                <a:latin typeface="Arial"/>
                <a:ea typeface="Arial"/>
                <a:cs typeface="Arial"/>
                <a:sym typeface="Arial"/>
              </a:rPr>
              <a:t>Test Macro F1</a:t>
            </a:r>
            <a:endParaRPr/>
          </a:p>
        </p:txBody>
      </p:sp>
      <p:sp>
        <p:nvSpPr>
          <p:cNvPr id="400" name="Google Shape;400;p7"/>
          <p:cNvSpPr/>
          <p:nvPr/>
        </p:nvSpPr>
        <p:spPr>
          <a:xfrm>
            <a:off x="594360" y="3035808"/>
            <a:ext cx="233172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1" name="Google Shape;401;p7"/>
          <p:cNvSpPr txBox="1"/>
          <p:nvPr/>
        </p:nvSpPr>
        <p:spPr>
          <a:xfrm>
            <a:off x="630936" y="3044951"/>
            <a:ext cx="225856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00" u="none" cap="none" strike="noStrike">
                <a:solidFill>
                  <a:srgbClr val="1E293B"/>
                </a:solidFill>
                <a:latin typeface="Arial"/>
                <a:ea typeface="Arial"/>
                <a:cs typeface="Arial"/>
                <a:sym typeface="Arial"/>
              </a:rPr>
              <a:t>Logistic Regression</a:t>
            </a:r>
            <a:endParaRPr/>
          </a:p>
        </p:txBody>
      </p:sp>
      <p:sp>
        <p:nvSpPr>
          <p:cNvPr id="402" name="Google Shape;402;p7"/>
          <p:cNvSpPr/>
          <p:nvPr/>
        </p:nvSpPr>
        <p:spPr>
          <a:xfrm>
            <a:off x="2926079" y="3035808"/>
            <a:ext cx="292608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3" name="Google Shape;403;p7"/>
          <p:cNvSpPr txBox="1"/>
          <p:nvPr/>
        </p:nvSpPr>
        <p:spPr>
          <a:xfrm>
            <a:off x="2962656" y="3044951"/>
            <a:ext cx="285292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00" u="none" cap="none" strike="noStrike">
                <a:solidFill>
                  <a:srgbClr val="1E293B"/>
                </a:solidFill>
                <a:latin typeface="Arial"/>
                <a:ea typeface="Arial"/>
                <a:cs typeface="Arial"/>
                <a:sym typeface="Arial"/>
              </a:rPr>
              <a:t>Hybrid TF-IDF (150k)</a:t>
            </a:r>
            <a:endParaRPr/>
          </a:p>
        </p:txBody>
      </p:sp>
      <p:sp>
        <p:nvSpPr>
          <p:cNvPr id="404" name="Google Shape;404;p7"/>
          <p:cNvSpPr/>
          <p:nvPr/>
        </p:nvSpPr>
        <p:spPr>
          <a:xfrm>
            <a:off x="5852160" y="3035808"/>
            <a:ext cx="182880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5" name="Google Shape;405;p7"/>
          <p:cNvSpPr txBox="1"/>
          <p:nvPr/>
        </p:nvSpPr>
        <p:spPr>
          <a:xfrm>
            <a:off x="5888736" y="3044951"/>
            <a:ext cx="1755648"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89.37%</a:t>
            </a:r>
            <a:endParaRPr/>
          </a:p>
        </p:txBody>
      </p:sp>
      <p:sp>
        <p:nvSpPr>
          <p:cNvPr id="406" name="Google Shape;406;p7"/>
          <p:cNvSpPr/>
          <p:nvPr/>
        </p:nvSpPr>
        <p:spPr>
          <a:xfrm>
            <a:off x="7680960" y="3035808"/>
            <a:ext cx="196596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7"/>
          <p:cNvSpPr txBox="1"/>
          <p:nvPr/>
        </p:nvSpPr>
        <p:spPr>
          <a:xfrm>
            <a:off x="7717536" y="3044951"/>
            <a:ext cx="1892807"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89.70%</a:t>
            </a:r>
            <a:endParaRPr/>
          </a:p>
        </p:txBody>
      </p:sp>
      <p:sp>
        <p:nvSpPr>
          <p:cNvPr id="408" name="Google Shape;408;p7"/>
          <p:cNvSpPr/>
          <p:nvPr/>
        </p:nvSpPr>
        <p:spPr>
          <a:xfrm>
            <a:off x="9646920" y="3035808"/>
            <a:ext cx="1947672"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9" name="Google Shape;409;p7"/>
          <p:cNvSpPr txBox="1"/>
          <p:nvPr/>
        </p:nvSpPr>
        <p:spPr>
          <a:xfrm>
            <a:off x="9683496" y="3044951"/>
            <a:ext cx="1874519"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89.70%</a:t>
            </a:r>
            <a:endParaRPr/>
          </a:p>
        </p:txBody>
      </p:sp>
      <p:sp>
        <p:nvSpPr>
          <p:cNvPr id="410" name="Google Shape;410;p7"/>
          <p:cNvSpPr/>
          <p:nvPr/>
        </p:nvSpPr>
        <p:spPr>
          <a:xfrm>
            <a:off x="594360" y="3465576"/>
            <a:ext cx="233172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1" name="Google Shape;411;p7"/>
          <p:cNvSpPr txBox="1"/>
          <p:nvPr/>
        </p:nvSpPr>
        <p:spPr>
          <a:xfrm>
            <a:off x="630936" y="3474720"/>
            <a:ext cx="225856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00" u="none" cap="none" strike="noStrike">
                <a:solidFill>
                  <a:srgbClr val="1E293B"/>
                </a:solidFill>
                <a:latin typeface="Arial"/>
                <a:ea typeface="Arial"/>
                <a:cs typeface="Arial"/>
                <a:sym typeface="Arial"/>
              </a:rPr>
              <a:t>SGD Classifier</a:t>
            </a:r>
            <a:endParaRPr/>
          </a:p>
        </p:txBody>
      </p:sp>
      <p:sp>
        <p:nvSpPr>
          <p:cNvPr id="412" name="Google Shape;412;p7"/>
          <p:cNvSpPr/>
          <p:nvPr/>
        </p:nvSpPr>
        <p:spPr>
          <a:xfrm>
            <a:off x="2926079" y="3465576"/>
            <a:ext cx="292608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3" name="Google Shape;413;p7"/>
          <p:cNvSpPr txBox="1"/>
          <p:nvPr/>
        </p:nvSpPr>
        <p:spPr>
          <a:xfrm>
            <a:off x="2962656" y="3474720"/>
            <a:ext cx="285292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00" u="none" cap="none" strike="noStrike">
                <a:solidFill>
                  <a:srgbClr val="1E293B"/>
                </a:solidFill>
                <a:latin typeface="Arial"/>
                <a:ea typeface="Arial"/>
                <a:cs typeface="Arial"/>
                <a:sym typeface="Arial"/>
              </a:rPr>
              <a:t>Hybrid TF-IDF (150k)</a:t>
            </a:r>
            <a:endParaRPr/>
          </a:p>
        </p:txBody>
      </p:sp>
      <p:sp>
        <p:nvSpPr>
          <p:cNvPr id="414" name="Google Shape;414;p7"/>
          <p:cNvSpPr/>
          <p:nvPr/>
        </p:nvSpPr>
        <p:spPr>
          <a:xfrm>
            <a:off x="5852160" y="3465576"/>
            <a:ext cx="182880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5" name="Google Shape;415;p7"/>
          <p:cNvSpPr txBox="1"/>
          <p:nvPr/>
        </p:nvSpPr>
        <p:spPr>
          <a:xfrm>
            <a:off x="5888736" y="3474720"/>
            <a:ext cx="1755648"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89.90%</a:t>
            </a:r>
            <a:endParaRPr/>
          </a:p>
        </p:txBody>
      </p:sp>
      <p:sp>
        <p:nvSpPr>
          <p:cNvPr id="416" name="Google Shape;416;p7"/>
          <p:cNvSpPr/>
          <p:nvPr/>
        </p:nvSpPr>
        <p:spPr>
          <a:xfrm>
            <a:off x="7680960" y="3465576"/>
            <a:ext cx="196596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7" name="Google Shape;417;p7"/>
          <p:cNvSpPr txBox="1"/>
          <p:nvPr/>
        </p:nvSpPr>
        <p:spPr>
          <a:xfrm>
            <a:off x="7717536" y="3474720"/>
            <a:ext cx="1892807"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90.20%</a:t>
            </a:r>
            <a:endParaRPr/>
          </a:p>
        </p:txBody>
      </p:sp>
      <p:sp>
        <p:nvSpPr>
          <p:cNvPr id="418" name="Google Shape;418;p7"/>
          <p:cNvSpPr/>
          <p:nvPr/>
        </p:nvSpPr>
        <p:spPr>
          <a:xfrm>
            <a:off x="9646920" y="3465576"/>
            <a:ext cx="1947672"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9" name="Google Shape;419;p7"/>
          <p:cNvSpPr txBox="1"/>
          <p:nvPr/>
        </p:nvSpPr>
        <p:spPr>
          <a:xfrm>
            <a:off x="9683496" y="3474720"/>
            <a:ext cx="1874519"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90.20%</a:t>
            </a:r>
            <a:endParaRPr/>
          </a:p>
        </p:txBody>
      </p:sp>
      <p:sp>
        <p:nvSpPr>
          <p:cNvPr id="420" name="Google Shape;420;p7"/>
          <p:cNvSpPr/>
          <p:nvPr/>
        </p:nvSpPr>
        <p:spPr>
          <a:xfrm>
            <a:off x="594360" y="3895344"/>
            <a:ext cx="233172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1" name="Google Shape;421;p7"/>
          <p:cNvSpPr txBox="1"/>
          <p:nvPr/>
        </p:nvSpPr>
        <p:spPr>
          <a:xfrm>
            <a:off x="630936" y="3904487"/>
            <a:ext cx="225856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00" u="none" cap="none" strike="noStrike">
                <a:solidFill>
                  <a:srgbClr val="1E293B"/>
                </a:solidFill>
                <a:latin typeface="Arial"/>
                <a:ea typeface="Arial"/>
                <a:cs typeface="Arial"/>
                <a:sym typeface="Arial"/>
              </a:rPr>
              <a:t>Multinomial Naive Bayes</a:t>
            </a:r>
            <a:endParaRPr/>
          </a:p>
        </p:txBody>
      </p:sp>
      <p:sp>
        <p:nvSpPr>
          <p:cNvPr id="422" name="Google Shape;422;p7"/>
          <p:cNvSpPr/>
          <p:nvPr/>
        </p:nvSpPr>
        <p:spPr>
          <a:xfrm>
            <a:off x="2926079" y="3895344"/>
            <a:ext cx="292608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7"/>
          <p:cNvSpPr txBox="1"/>
          <p:nvPr/>
        </p:nvSpPr>
        <p:spPr>
          <a:xfrm>
            <a:off x="2962656" y="3904487"/>
            <a:ext cx="285292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00" u="none" cap="none" strike="noStrike">
                <a:solidFill>
                  <a:srgbClr val="1E293B"/>
                </a:solidFill>
                <a:latin typeface="Arial"/>
                <a:ea typeface="Arial"/>
                <a:cs typeface="Arial"/>
                <a:sym typeface="Arial"/>
              </a:rPr>
              <a:t>Hybrid TF-IDF (150k)</a:t>
            </a:r>
            <a:endParaRPr/>
          </a:p>
        </p:txBody>
      </p:sp>
      <p:sp>
        <p:nvSpPr>
          <p:cNvPr id="424" name="Google Shape;424;p7"/>
          <p:cNvSpPr/>
          <p:nvPr/>
        </p:nvSpPr>
        <p:spPr>
          <a:xfrm>
            <a:off x="5852160" y="3895344"/>
            <a:ext cx="182880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5" name="Google Shape;425;p7"/>
          <p:cNvSpPr txBox="1"/>
          <p:nvPr/>
        </p:nvSpPr>
        <p:spPr>
          <a:xfrm>
            <a:off x="5888736" y="3904487"/>
            <a:ext cx="1755648"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90.35%</a:t>
            </a:r>
            <a:endParaRPr/>
          </a:p>
        </p:txBody>
      </p:sp>
      <p:sp>
        <p:nvSpPr>
          <p:cNvPr id="426" name="Google Shape;426;p7"/>
          <p:cNvSpPr/>
          <p:nvPr/>
        </p:nvSpPr>
        <p:spPr>
          <a:xfrm>
            <a:off x="7680960" y="3895344"/>
            <a:ext cx="196596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7" name="Google Shape;427;p7"/>
          <p:cNvSpPr txBox="1"/>
          <p:nvPr/>
        </p:nvSpPr>
        <p:spPr>
          <a:xfrm>
            <a:off x="7717536" y="3904487"/>
            <a:ext cx="1892807"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90.47%</a:t>
            </a:r>
            <a:endParaRPr/>
          </a:p>
        </p:txBody>
      </p:sp>
      <p:sp>
        <p:nvSpPr>
          <p:cNvPr id="428" name="Google Shape;428;p7"/>
          <p:cNvSpPr/>
          <p:nvPr/>
        </p:nvSpPr>
        <p:spPr>
          <a:xfrm>
            <a:off x="9646920" y="3895344"/>
            <a:ext cx="1947672"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9" name="Google Shape;429;p7"/>
          <p:cNvSpPr txBox="1"/>
          <p:nvPr/>
        </p:nvSpPr>
        <p:spPr>
          <a:xfrm>
            <a:off x="9683496" y="3904487"/>
            <a:ext cx="1874519"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90.45%</a:t>
            </a:r>
            <a:endParaRPr/>
          </a:p>
        </p:txBody>
      </p:sp>
      <p:sp>
        <p:nvSpPr>
          <p:cNvPr id="430" name="Google Shape;430;p7"/>
          <p:cNvSpPr/>
          <p:nvPr/>
        </p:nvSpPr>
        <p:spPr>
          <a:xfrm>
            <a:off x="594360" y="4325112"/>
            <a:ext cx="233172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1" name="Google Shape;431;p7"/>
          <p:cNvSpPr txBox="1"/>
          <p:nvPr/>
        </p:nvSpPr>
        <p:spPr>
          <a:xfrm>
            <a:off x="630936" y="4334255"/>
            <a:ext cx="225856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00" u="none" cap="none" strike="noStrike">
                <a:solidFill>
                  <a:srgbClr val="1E293B"/>
                </a:solidFill>
                <a:latin typeface="Arial"/>
                <a:ea typeface="Arial"/>
                <a:cs typeface="Arial"/>
                <a:sym typeface="Arial"/>
              </a:rPr>
              <a:t>LinearSVC (C=0.5)</a:t>
            </a:r>
            <a:endParaRPr/>
          </a:p>
        </p:txBody>
      </p:sp>
      <p:sp>
        <p:nvSpPr>
          <p:cNvPr id="432" name="Google Shape;432;p7"/>
          <p:cNvSpPr/>
          <p:nvPr/>
        </p:nvSpPr>
        <p:spPr>
          <a:xfrm>
            <a:off x="2926079" y="4325112"/>
            <a:ext cx="292608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3" name="Google Shape;433;p7"/>
          <p:cNvSpPr txBox="1"/>
          <p:nvPr/>
        </p:nvSpPr>
        <p:spPr>
          <a:xfrm>
            <a:off x="2962656" y="4334255"/>
            <a:ext cx="285292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00" u="none" cap="none" strike="noStrike">
                <a:solidFill>
                  <a:srgbClr val="1E293B"/>
                </a:solidFill>
                <a:latin typeface="Arial"/>
                <a:ea typeface="Arial"/>
                <a:cs typeface="Arial"/>
                <a:sym typeface="Arial"/>
              </a:rPr>
              <a:t>Hybrid TF-IDF (150k)</a:t>
            </a:r>
            <a:endParaRPr/>
          </a:p>
        </p:txBody>
      </p:sp>
      <p:sp>
        <p:nvSpPr>
          <p:cNvPr id="434" name="Google Shape;434;p7"/>
          <p:cNvSpPr/>
          <p:nvPr/>
        </p:nvSpPr>
        <p:spPr>
          <a:xfrm>
            <a:off x="5852160" y="4325112"/>
            <a:ext cx="182880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7"/>
          <p:cNvSpPr txBox="1"/>
          <p:nvPr/>
        </p:nvSpPr>
        <p:spPr>
          <a:xfrm>
            <a:off x="5888736" y="4334255"/>
            <a:ext cx="1755648"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90.59%</a:t>
            </a:r>
            <a:endParaRPr/>
          </a:p>
        </p:txBody>
      </p:sp>
      <p:sp>
        <p:nvSpPr>
          <p:cNvPr id="436" name="Google Shape;436;p7"/>
          <p:cNvSpPr/>
          <p:nvPr/>
        </p:nvSpPr>
        <p:spPr>
          <a:xfrm>
            <a:off x="7680960" y="4325112"/>
            <a:ext cx="196596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7" name="Google Shape;437;p7"/>
          <p:cNvSpPr txBox="1"/>
          <p:nvPr/>
        </p:nvSpPr>
        <p:spPr>
          <a:xfrm>
            <a:off x="7717536" y="4334255"/>
            <a:ext cx="1892807"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90.52%</a:t>
            </a:r>
            <a:endParaRPr/>
          </a:p>
        </p:txBody>
      </p:sp>
      <p:sp>
        <p:nvSpPr>
          <p:cNvPr id="438" name="Google Shape;438;p7"/>
          <p:cNvSpPr/>
          <p:nvPr/>
        </p:nvSpPr>
        <p:spPr>
          <a:xfrm>
            <a:off x="9646920" y="4325112"/>
            <a:ext cx="1947672"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7"/>
          <p:cNvSpPr txBox="1"/>
          <p:nvPr/>
        </p:nvSpPr>
        <p:spPr>
          <a:xfrm>
            <a:off x="9683496" y="4334255"/>
            <a:ext cx="1874519"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90.52%</a:t>
            </a:r>
            <a:endParaRPr/>
          </a:p>
        </p:txBody>
      </p:sp>
      <p:sp>
        <p:nvSpPr>
          <p:cNvPr id="440" name="Google Shape;440;p7"/>
          <p:cNvSpPr/>
          <p:nvPr/>
        </p:nvSpPr>
        <p:spPr>
          <a:xfrm>
            <a:off x="594360" y="4754879"/>
            <a:ext cx="233172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1" name="Google Shape;441;p7"/>
          <p:cNvSpPr txBox="1"/>
          <p:nvPr/>
        </p:nvSpPr>
        <p:spPr>
          <a:xfrm>
            <a:off x="630936" y="4764023"/>
            <a:ext cx="225856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00" u="none" cap="none" strike="noStrike">
                <a:solidFill>
                  <a:srgbClr val="1E293B"/>
                </a:solidFill>
                <a:latin typeface="Arial"/>
                <a:ea typeface="Arial"/>
                <a:cs typeface="Arial"/>
                <a:sym typeface="Arial"/>
              </a:rPr>
              <a:t>Classical Stacking Ensemble</a:t>
            </a:r>
            <a:endParaRPr/>
          </a:p>
        </p:txBody>
      </p:sp>
      <p:sp>
        <p:nvSpPr>
          <p:cNvPr id="442" name="Google Shape;442;p7"/>
          <p:cNvSpPr/>
          <p:nvPr/>
        </p:nvSpPr>
        <p:spPr>
          <a:xfrm>
            <a:off x="2926079" y="4754879"/>
            <a:ext cx="292608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3" name="Google Shape;443;p7"/>
          <p:cNvSpPr txBox="1"/>
          <p:nvPr/>
        </p:nvSpPr>
        <p:spPr>
          <a:xfrm>
            <a:off x="2962656" y="4764023"/>
            <a:ext cx="285292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00" u="none" cap="none" strike="noStrike">
                <a:solidFill>
                  <a:srgbClr val="1E293B"/>
                </a:solidFill>
                <a:latin typeface="Arial"/>
                <a:ea typeface="Arial"/>
                <a:cs typeface="Arial"/>
                <a:sym typeface="Arial"/>
              </a:rPr>
              <a:t>4-Model Meta-Learner</a:t>
            </a:r>
            <a:endParaRPr/>
          </a:p>
        </p:txBody>
      </p:sp>
      <p:sp>
        <p:nvSpPr>
          <p:cNvPr id="444" name="Google Shape;444;p7"/>
          <p:cNvSpPr/>
          <p:nvPr/>
        </p:nvSpPr>
        <p:spPr>
          <a:xfrm>
            <a:off x="5852160" y="4754879"/>
            <a:ext cx="182880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5" name="Google Shape;445;p7"/>
          <p:cNvSpPr txBox="1"/>
          <p:nvPr/>
        </p:nvSpPr>
        <p:spPr>
          <a:xfrm>
            <a:off x="5888736" y="4764023"/>
            <a:ext cx="1755648"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90.85%</a:t>
            </a:r>
            <a:endParaRPr/>
          </a:p>
        </p:txBody>
      </p:sp>
      <p:sp>
        <p:nvSpPr>
          <p:cNvPr id="446" name="Google Shape;446;p7"/>
          <p:cNvSpPr/>
          <p:nvPr/>
        </p:nvSpPr>
        <p:spPr>
          <a:xfrm>
            <a:off x="7680960" y="4754879"/>
            <a:ext cx="1965960"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7" name="Google Shape;447;p7"/>
          <p:cNvSpPr txBox="1"/>
          <p:nvPr/>
        </p:nvSpPr>
        <p:spPr>
          <a:xfrm>
            <a:off x="7717536" y="4764023"/>
            <a:ext cx="1892807"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90.93%</a:t>
            </a:r>
            <a:endParaRPr/>
          </a:p>
        </p:txBody>
      </p:sp>
      <p:sp>
        <p:nvSpPr>
          <p:cNvPr id="448" name="Google Shape;448;p7"/>
          <p:cNvSpPr/>
          <p:nvPr/>
        </p:nvSpPr>
        <p:spPr>
          <a:xfrm>
            <a:off x="9646920" y="4754879"/>
            <a:ext cx="1947672" cy="429768"/>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9" name="Google Shape;449;p7"/>
          <p:cNvSpPr txBox="1"/>
          <p:nvPr/>
        </p:nvSpPr>
        <p:spPr>
          <a:xfrm>
            <a:off x="9683496" y="4764023"/>
            <a:ext cx="1874519"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90.92%</a:t>
            </a:r>
            <a:endParaRPr/>
          </a:p>
        </p:txBody>
      </p:sp>
      <p:sp>
        <p:nvSpPr>
          <p:cNvPr id="450" name="Google Shape;450;p7"/>
          <p:cNvSpPr/>
          <p:nvPr/>
        </p:nvSpPr>
        <p:spPr>
          <a:xfrm>
            <a:off x="594360" y="5184647"/>
            <a:ext cx="233172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1" name="Google Shape;451;p7"/>
          <p:cNvSpPr txBox="1"/>
          <p:nvPr/>
        </p:nvSpPr>
        <p:spPr>
          <a:xfrm>
            <a:off x="630936" y="5193791"/>
            <a:ext cx="225856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00" u="none" cap="none" strike="noStrike">
                <a:solidFill>
                  <a:srgbClr val="1E293B"/>
                </a:solidFill>
                <a:latin typeface="Arial"/>
                <a:ea typeface="Arial"/>
                <a:cs typeface="Arial"/>
                <a:sym typeface="Arial"/>
              </a:rPr>
              <a:t>AraBERTv02 (Fine-Tuned)</a:t>
            </a:r>
            <a:endParaRPr/>
          </a:p>
        </p:txBody>
      </p:sp>
      <p:sp>
        <p:nvSpPr>
          <p:cNvPr id="452" name="Google Shape;452;p7"/>
          <p:cNvSpPr/>
          <p:nvPr/>
        </p:nvSpPr>
        <p:spPr>
          <a:xfrm>
            <a:off x="2926079" y="5184647"/>
            <a:ext cx="292608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3" name="Google Shape;453;p7"/>
          <p:cNvSpPr txBox="1"/>
          <p:nvPr/>
        </p:nvSpPr>
        <p:spPr>
          <a:xfrm>
            <a:off x="2962656" y="5193791"/>
            <a:ext cx="285292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00" u="none" cap="none" strike="noStrike">
                <a:solidFill>
                  <a:srgbClr val="1E293B"/>
                </a:solidFill>
                <a:latin typeface="Arial"/>
                <a:ea typeface="Arial"/>
                <a:cs typeface="Arial"/>
                <a:sym typeface="Arial"/>
              </a:rPr>
              <a:t>Subword Transformer</a:t>
            </a:r>
            <a:endParaRPr/>
          </a:p>
        </p:txBody>
      </p:sp>
      <p:sp>
        <p:nvSpPr>
          <p:cNvPr id="454" name="Google Shape;454;p7"/>
          <p:cNvSpPr/>
          <p:nvPr/>
        </p:nvSpPr>
        <p:spPr>
          <a:xfrm>
            <a:off x="5852160" y="5184647"/>
            <a:ext cx="182880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5" name="Google Shape;455;p7"/>
          <p:cNvSpPr txBox="1"/>
          <p:nvPr/>
        </p:nvSpPr>
        <p:spPr>
          <a:xfrm>
            <a:off x="5888736" y="5193791"/>
            <a:ext cx="1755648"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91.03%</a:t>
            </a:r>
            <a:endParaRPr/>
          </a:p>
        </p:txBody>
      </p:sp>
      <p:sp>
        <p:nvSpPr>
          <p:cNvPr id="456" name="Google Shape;456;p7"/>
          <p:cNvSpPr/>
          <p:nvPr/>
        </p:nvSpPr>
        <p:spPr>
          <a:xfrm>
            <a:off x="7680960" y="5184647"/>
            <a:ext cx="1965960"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7" name="Google Shape;457;p7"/>
          <p:cNvSpPr txBox="1"/>
          <p:nvPr/>
        </p:nvSpPr>
        <p:spPr>
          <a:xfrm>
            <a:off x="7717536" y="5193791"/>
            <a:ext cx="1892807"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a:t>
            </a:r>
            <a:endParaRPr/>
          </a:p>
        </p:txBody>
      </p:sp>
      <p:sp>
        <p:nvSpPr>
          <p:cNvPr id="458" name="Google Shape;458;p7"/>
          <p:cNvSpPr/>
          <p:nvPr/>
        </p:nvSpPr>
        <p:spPr>
          <a:xfrm>
            <a:off x="9646920" y="5184647"/>
            <a:ext cx="1947672" cy="429768"/>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7"/>
          <p:cNvSpPr txBox="1"/>
          <p:nvPr/>
        </p:nvSpPr>
        <p:spPr>
          <a:xfrm>
            <a:off x="9683496" y="5193791"/>
            <a:ext cx="1874519"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1E293B"/>
                </a:solidFill>
                <a:latin typeface="Arial"/>
                <a:ea typeface="Arial"/>
                <a:cs typeface="Arial"/>
                <a:sym typeface="Arial"/>
              </a:rPr>
              <a:t>91.00%</a:t>
            </a:r>
            <a:endParaRPr/>
          </a:p>
        </p:txBody>
      </p:sp>
      <p:sp>
        <p:nvSpPr>
          <p:cNvPr id="460" name="Google Shape;460;p7"/>
          <p:cNvSpPr/>
          <p:nvPr/>
        </p:nvSpPr>
        <p:spPr>
          <a:xfrm>
            <a:off x="594360" y="5614415"/>
            <a:ext cx="2331720" cy="429768"/>
          </a:xfrm>
          <a:prstGeom prst="rect">
            <a:avLst/>
          </a:prstGeom>
          <a:solidFill>
            <a:srgbClr val="E0F2FE"/>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1" name="Google Shape;461;p7"/>
          <p:cNvSpPr txBox="1"/>
          <p:nvPr/>
        </p:nvSpPr>
        <p:spPr>
          <a:xfrm>
            <a:off x="630936" y="5623559"/>
            <a:ext cx="225856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00" u="none" cap="none" strike="noStrike">
                <a:solidFill>
                  <a:srgbClr val="1E293B"/>
                </a:solidFill>
                <a:latin typeface="Arial"/>
                <a:ea typeface="Arial"/>
                <a:cs typeface="Arial"/>
                <a:sym typeface="Arial"/>
              </a:rPr>
              <a:t>MARBERTv2 (Champion)</a:t>
            </a:r>
            <a:endParaRPr/>
          </a:p>
        </p:txBody>
      </p:sp>
      <p:sp>
        <p:nvSpPr>
          <p:cNvPr id="462" name="Google Shape;462;p7"/>
          <p:cNvSpPr/>
          <p:nvPr/>
        </p:nvSpPr>
        <p:spPr>
          <a:xfrm>
            <a:off x="2926079" y="5614415"/>
            <a:ext cx="2926080" cy="429768"/>
          </a:xfrm>
          <a:prstGeom prst="rect">
            <a:avLst/>
          </a:prstGeom>
          <a:solidFill>
            <a:srgbClr val="E0F2FE"/>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3" name="Google Shape;463;p7"/>
          <p:cNvSpPr txBox="1"/>
          <p:nvPr/>
        </p:nvSpPr>
        <p:spPr>
          <a:xfrm>
            <a:off x="2962656" y="5623559"/>
            <a:ext cx="2852928" cy="411479"/>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00" u="none" cap="none" strike="noStrike">
                <a:solidFill>
                  <a:srgbClr val="1E293B"/>
                </a:solidFill>
                <a:latin typeface="Arial"/>
                <a:ea typeface="Arial"/>
                <a:cs typeface="Arial"/>
                <a:sym typeface="Arial"/>
              </a:rPr>
              <a:t>Dialect-Aware Transformer</a:t>
            </a:r>
            <a:endParaRPr/>
          </a:p>
        </p:txBody>
      </p:sp>
      <p:sp>
        <p:nvSpPr>
          <p:cNvPr id="464" name="Google Shape;464;p7"/>
          <p:cNvSpPr/>
          <p:nvPr/>
        </p:nvSpPr>
        <p:spPr>
          <a:xfrm>
            <a:off x="5852160" y="5614415"/>
            <a:ext cx="1828800" cy="429768"/>
          </a:xfrm>
          <a:prstGeom prst="rect">
            <a:avLst/>
          </a:prstGeom>
          <a:solidFill>
            <a:srgbClr val="E0F2FE"/>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5" name="Google Shape;465;p7"/>
          <p:cNvSpPr txBox="1"/>
          <p:nvPr/>
        </p:nvSpPr>
        <p:spPr>
          <a:xfrm>
            <a:off x="5888736" y="5623559"/>
            <a:ext cx="1755648"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2563EB"/>
                </a:solidFill>
                <a:latin typeface="Arial"/>
                <a:ea typeface="Arial"/>
                <a:cs typeface="Arial"/>
                <a:sym typeface="Arial"/>
              </a:rPr>
              <a:t>92.02%</a:t>
            </a:r>
            <a:endParaRPr/>
          </a:p>
        </p:txBody>
      </p:sp>
      <p:sp>
        <p:nvSpPr>
          <p:cNvPr id="466" name="Google Shape;466;p7"/>
          <p:cNvSpPr/>
          <p:nvPr/>
        </p:nvSpPr>
        <p:spPr>
          <a:xfrm>
            <a:off x="7680960" y="5614415"/>
            <a:ext cx="1965960" cy="429768"/>
          </a:xfrm>
          <a:prstGeom prst="rect">
            <a:avLst/>
          </a:prstGeom>
          <a:solidFill>
            <a:srgbClr val="E0F2FE"/>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7" name="Google Shape;467;p7"/>
          <p:cNvSpPr txBox="1"/>
          <p:nvPr/>
        </p:nvSpPr>
        <p:spPr>
          <a:xfrm>
            <a:off x="7717536" y="5623559"/>
            <a:ext cx="1892807"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2563EB"/>
                </a:solidFill>
                <a:latin typeface="Arial"/>
                <a:ea typeface="Arial"/>
                <a:cs typeface="Arial"/>
                <a:sym typeface="Arial"/>
              </a:rPr>
              <a:t>92.25%</a:t>
            </a:r>
            <a:endParaRPr/>
          </a:p>
        </p:txBody>
      </p:sp>
      <p:sp>
        <p:nvSpPr>
          <p:cNvPr id="468" name="Google Shape;468;p7"/>
          <p:cNvSpPr/>
          <p:nvPr/>
        </p:nvSpPr>
        <p:spPr>
          <a:xfrm>
            <a:off x="9646920" y="5614415"/>
            <a:ext cx="1947672" cy="429768"/>
          </a:xfrm>
          <a:prstGeom prst="rect">
            <a:avLst/>
          </a:prstGeom>
          <a:solidFill>
            <a:srgbClr val="E0F2FE"/>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7"/>
          <p:cNvSpPr txBox="1"/>
          <p:nvPr/>
        </p:nvSpPr>
        <p:spPr>
          <a:xfrm>
            <a:off x="9683496" y="5623559"/>
            <a:ext cx="1874519" cy="411479"/>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00" u="none" cap="none" strike="noStrike">
                <a:solidFill>
                  <a:srgbClr val="2563EB"/>
                </a:solidFill>
                <a:latin typeface="Arial"/>
                <a:ea typeface="Arial"/>
                <a:cs typeface="Arial"/>
                <a:sym typeface="Arial"/>
              </a:rPr>
              <a:t>92.24%</a:t>
            </a:r>
            <a:endParaRPr/>
          </a:p>
        </p:txBody>
      </p:sp>
      <p:sp>
        <p:nvSpPr>
          <p:cNvPr id="470" name="Google Shape;470;p7"/>
          <p:cNvSpPr txBox="1"/>
          <p:nvPr/>
        </p:nvSpPr>
        <p:spPr>
          <a:xfrm>
            <a:off x="621792" y="6126480"/>
            <a:ext cx="10789920" cy="1828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1" lang="en-US" sz="869" u="none" cap="none" strike="noStrike">
                <a:solidFill>
                  <a:srgbClr val="64748B"/>
                </a:solidFill>
                <a:latin typeface="Arial"/>
                <a:ea typeface="Arial"/>
                <a:cs typeface="Arial"/>
                <a:sym typeface="Arial"/>
              </a:rPr>
              <a:t>All figures shown as reported in the project benchmark; “—” indicates no test accuracy listed for AraBERTv02.</a:t>
            </a:r>
            <a:endParaRPr/>
          </a:p>
        </p:txBody>
      </p:sp>
      <p:cxnSp>
        <p:nvCxnSpPr>
          <p:cNvPr id="471" name="Google Shape;471;p7"/>
          <p:cNvCxnSpPr/>
          <p:nvPr/>
        </p:nvCxnSpPr>
        <p:spPr>
          <a:xfrm>
            <a:off x="594360" y="6473952"/>
            <a:ext cx="11000232" cy="0"/>
          </a:xfrm>
          <a:prstGeom prst="straightConnector1">
            <a:avLst/>
          </a:prstGeom>
          <a:noFill/>
          <a:ln cap="flat" cmpd="sng" w="9525">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472" name="Google Shape;472;p7"/>
          <p:cNvSpPr txBox="1"/>
          <p:nvPr/>
        </p:nvSpPr>
        <p:spPr>
          <a:xfrm>
            <a:off x="603504" y="6547104"/>
            <a:ext cx="45720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64748B"/>
                </a:solidFill>
                <a:latin typeface="Arial"/>
                <a:ea typeface="Arial"/>
                <a:cs typeface="Arial"/>
                <a:sym typeface="Arial"/>
              </a:rPr>
              <a:t>ARABIC DIALECT CLASSIFICATION</a:t>
            </a:r>
            <a:endParaRPr/>
          </a:p>
        </p:txBody>
      </p:sp>
      <p:sp>
        <p:nvSpPr>
          <p:cNvPr id="473" name="Google Shape;473;p7"/>
          <p:cNvSpPr txBox="1"/>
          <p:nvPr/>
        </p:nvSpPr>
        <p:spPr>
          <a:xfrm>
            <a:off x="10652760" y="6528816"/>
            <a:ext cx="914400" cy="18288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850" u="none" cap="none" strike="noStrike">
                <a:solidFill>
                  <a:srgbClr val="64748B"/>
                </a:solidFill>
                <a:latin typeface="Arial"/>
                <a:ea typeface="Arial"/>
                <a:cs typeface="Arial"/>
                <a:sym typeface="Arial"/>
              </a:rPr>
              <a:t>07  /  12</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478" name="Shape 478"/>
        <p:cNvGrpSpPr/>
        <p:nvPr/>
      </p:nvGrpSpPr>
      <p:grpSpPr>
        <a:xfrm>
          <a:off x="0" y="0"/>
          <a:ext cx="0" cy="0"/>
          <a:chOff x="0" y="0"/>
          <a:chExt cx="0" cy="0"/>
        </a:xfrm>
      </p:grpSpPr>
      <p:sp>
        <p:nvSpPr>
          <p:cNvPr id="479" name="Google Shape;479;p8"/>
          <p:cNvSpPr/>
          <p:nvPr/>
        </p:nvSpPr>
        <p:spPr>
          <a:xfrm>
            <a:off x="0" y="0"/>
            <a:ext cx="12191695" cy="128016"/>
          </a:xfrm>
          <a:prstGeom prst="rect">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0" name="Google Shape;480;p8"/>
          <p:cNvSpPr/>
          <p:nvPr/>
        </p:nvSpPr>
        <p:spPr>
          <a:xfrm>
            <a:off x="0" y="0"/>
            <a:ext cx="2011680" cy="12801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1" name="Google Shape;481;p8"/>
          <p:cNvSpPr txBox="1"/>
          <p:nvPr/>
        </p:nvSpPr>
        <p:spPr>
          <a:xfrm>
            <a:off x="603504" y="274320"/>
            <a:ext cx="27432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2563EB"/>
                </a:solidFill>
                <a:latin typeface="Arial"/>
                <a:ea typeface="Arial"/>
                <a:cs typeface="Arial"/>
                <a:sym typeface="Arial"/>
              </a:rPr>
              <a:t>ERROR PROFILE</a:t>
            </a:r>
            <a:endParaRPr/>
          </a:p>
        </p:txBody>
      </p:sp>
      <p:sp>
        <p:nvSpPr>
          <p:cNvPr id="482" name="Google Shape;482;p8"/>
          <p:cNvSpPr txBox="1"/>
          <p:nvPr/>
        </p:nvSpPr>
        <p:spPr>
          <a:xfrm>
            <a:off x="594360" y="521207"/>
            <a:ext cx="10972800" cy="53035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800" u="none" cap="none" strike="noStrike">
                <a:solidFill>
                  <a:srgbClr val="0F172A"/>
                </a:solidFill>
                <a:latin typeface="Arial"/>
                <a:ea typeface="Arial"/>
                <a:cs typeface="Arial"/>
                <a:sym typeface="Arial"/>
              </a:rPr>
              <a:t>Champion Model (MARBERTv2) Per-Dialect Breakdown</a:t>
            </a:r>
            <a:endParaRPr/>
          </a:p>
        </p:txBody>
      </p:sp>
      <p:sp>
        <p:nvSpPr>
          <p:cNvPr id="483" name="Google Shape;483;p8"/>
          <p:cNvSpPr/>
          <p:nvPr/>
        </p:nvSpPr>
        <p:spPr>
          <a:xfrm>
            <a:off x="11411712" y="347472"/>
            <a:ext cx="164592" cy="164592"/>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4" name="Google Shape;484;p8"/>
          <p:cNvSpPr/>
          <p:nvPr/>
        </p:nvSpPr>
        <p:spPr>
          <a:xfrm>
            <a:off x="11612880" y="347472"/>
            <a:ext cx="164592" cy="16459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5" name="Google Shape;485;p8"/>
          <p:cNvSpPr/>
          <p:nvPr/>
        </p:nvSpPr>
        <p:spPr>
          <a:xfrm>
            <a:off x="11814048" y="347472"/>
            <a:ext cx="164592" cy="164592"/>
          </a:xfrm>
          <a:prstGeom prst="ellipse">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6" name="Google Shape;486;p8"/>
          <p:cNvSpPr/>
          <p:nvPr/>
        </p:nvSpPr>
        <p:spPr>
          <a:xfrm>
            <a:off x="594360" y="1389888"/>
            <a:ext cx="2148840" cy="429768"/>
          </a:xfrm>
          <a:prstGeom prst="rect">
            <a:avLst/>
          </a:prstGeom>
          <a:solidFill>
            <a:srgbClr val="0F172A"/>
          </a:solidFill>
          <a:ln cap="flat" cmpd="sng" w="10150">
            <a:solidFill>
              <a:srgbClr val="F8FA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7" name="Google Shape;487;p8"/>
          <p:cNvSpPr txBox="1"/>
          <p:nvPr/>
        </p:nvSpPr>
        <p:spPr>
          <a:xfrm>
            <a:off x="630936" y="1408176"/>
            <a:ext cx="2075688" cy="393192"/>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910" u="none" cap="none" strike="noStrike">
                <a:solidFill>
                  <a:srgbClr val="F8FAFC"/>
                </a:solidFill>
                <a:latin typeface="Arial"/>
                <a:ea typeface="Arial"/>
                <a:cs typeface="Arial"/>
                <a:sym typeface="Arial"/>
              </a:rPr>
              <a:t>Dialect</a:t>
            </a:r>
            <a:endParaRPr/>
          </a:p>
        </p:txBody>
      </p:sp>
      <p:sp>
        <p:nvSpPr>
          <p:cNvPr id="488" name="Google Shape;488;p8"/>
          <p:cNvSpPr/>
          <p:nvPr/>
        </p:nvSpPr>
        <p:spPr>
          <a:xfrm>
            <a:off x="2743200" y="1389888"/>
            <a:ext cx="1024128" cy="429768"/>
          </a:xfrm>
          <a:prstGeom prst="rect">
            <a:avLst/>
          </a:prstGeom>
          <a:solidFill>
            <a:srgbClr val="0F172A"/>
          </a:solidFill>
          <a:ln cap="flat" cmpd="sng" w="10150">
            <a:solidFill>
              <a:srgbClr val="F8FA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9" name="Google Shape;489;p8"/>
          <p:cNvSpPr txBox="1"/>
          <p:nvPr/>
        </p:nvSpPr>
        <p:spPr>
          <a:xfrm>
            <a:off x="2779776" y="1408176"/>
            <a:ext cx="950976" cy="39319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1" i="0" lang="en-US" sz="910" u="none" cap="none" strike="noStrike">
                <a:solidFill>
                  <a:srgbClr val="F8FAFC"/>
                </a:solidFill>
                <a:latin typeface="Arial"/>
                <a:ea typeface="Arial"/>
                <a:cs typeface="Arial"/>
                <a:sym typeface="Arial"/>
              </a:rPr>
              <a:t>Precision</a:t>
            </a:r>
            <a:endParaRPr/>
          </a:p>
        </p:txBody>
      </p:sp>
      <p:sp>
        <p:nvSpPr>
          <p:cNvPr id="490" name="Google Shape;490;p8"/>
          <p:cNvSpPr/>
          <p:nvPr/>
        </p:nvSpPr>
        <p:spPr>
          <a:xfrm>
            <a:off x="3767328" y="1389888"/>
            <a:ext cx="987552" cy="429768"/>
          </a:xfrm>
          <a:prstGeom prst="rect">
            <a:avLst/>
          </a:prstGeom>
          <a:solidFill>
            <a:srgbClr val="0F172A"/>
          </a:solidFill>
          <a:ln cap="flat" cmpd="sng" w="10150">
            <a:solidFill>
              <a:srgbClr val="F8FA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1" name="Google Shape;491;p8"/>
          <p:cNvSpPr txBox="1"/>
          <p:nvPr/>
        </p:nvSpPr>
        <p:spPr>
          <a:xfrm>
            <a:off x="3803904" y="1408176"/>
            <a:ext cx="914400" cy="39319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1" i="0" lang="en-US" sz="910" u="none" cap="none" strike="noStrike">
                <a:solidFill>
                  <a:srgbClr val="F8FAFC"/>
                </a:solidFill>
                <a:latin typeface="Arial"/>
                <a:ea typeface="Arial"/>
                <a:cs typeface="Arial"/>
                <a:sym typeface="Arial"/>
              </a:rPr>
              <a:t>Recall</a:t>
            </a:r>
            <a:endParaRPr/>
          </a:p>
        </p:txBody>
      </p:sp>
      <p:sp>
        <p:nvSpPr>
          <p:cNvPr id="492" name="Google Shape;492;p8"/>
          <p:cNvSpPr/>
          <p:nvPr/>
        </p:nvSpPr>
        <p:spPr>
          <a:xfrm>
            <a:off x="4754880" y="1389888"/>
            <a:ext cx="1024128" cy="429768"/>
          </a:xfrm>
          <a:prstGeom prst="rect">
            <a:avLst/>
          </a:prstGeom>
          <a:solidFill>
            <a:srgbClr val="0F172A"/>
          </a:solidFill>
          <a:ln cap="flat" cmpd="sng" w="10150">
            <a:solidFill>
              <a:srgbClr val="F8FA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3" name="Google Shape;493;p8"/>
          <p:cNvSpPr txBox="1"/>
          <p:nvPr/>
        </p:nvSpPr>
        <p:spPr>
          <a:xfrm>
            <a:off x="4791456" y="1408176"/>
            <a:ext cx="950976" cy="39319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1" i="0" lang="en-US" sz="910" u="none" cap="none" strike="noStrike">
                <a:solidFill>
                  <a:srgbClr val="F8FAFC"/>
                </a:solidFill>
                <a:latin typeface="Arial"/>
                <a:ea typeface="Arial"/>
                <a:cs typeface="Arial"/>
                <a:sym typeface="Arial"/>
              </a:rPr>
              <a:t>F1-Score</a:t>
            </a:r>
            <a:endParaRPr/>
          </a:p>
        </p:txBody>
      </p:sp>
      <p:sp>
        <p:nvSpPr>
          <p:cNvPr id="494" name="Google Shape;494;p8"/>
          <p:cNvSpPr/>
          <p:nvPr/>
        </p:nvSpPr>
        <p:spPr>
          <a:xfrm>
            <a:off x="5779008" y="1389888"/>
            <a:ext cx="868680" cy="429768"/>
          </a:xfrm>
          <a:prstGeom prst="rect">
            <a:avLst/>
          </a:prstGeom>
          <a:solidFill>
            <a:srgbClr val="0F172A"/>
          </a:solidFill>
          <a:ln cap="flat" cmpd="sng" w="10150">
            <a:solidFill>
              <a:srgbClr val="F8FAF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5" name="Google Shape;495;p8"/>
          <p:cNvSpPr txBox="1"/>
          <p:nvPr/>
        </p:nvSpPr>
        <p:spPr>
          <a:xfrm>
            <a:off x="5815584" y="1408176"/>
            <a:ext cx="795528" cy="39319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1" i="0" lang="en-US" sz="910" u="none" cap="none" strike="noStrike">
                <a:solidFill>
                  <a:srgbClr val="F8FAFC"/>
                </a:solidFill>
                <a:latin typeface="Arial"/>
                <a:ea typeface="Arial"/>
                <a:cs typeface="Arial"/>
                <a:sym typeface="Arial"/>
              </a:rPr>
              <a:t>Support</a:t>
            </a:r>
            <a:endParaRPr/>
          </a:p>
        </p:txBody>
      </p:sp>
      <p:sp>
        <p:nvSpPr>
          <p:cNvPr id="496" name="Google Shape;496;p8"/>
          <p:cNvSpPr/>
          <p:nvPr/>
        </p:nvSpPr>
        <p:spPr>
          <a:xfrm>
            <a:off x="594360" y="1819656"/>
            <a:ext cx="2148840"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p8"/>
          <p:cNvSpPr txBox="1"/>
          <p:nvPr/>
        </p:nvSpPr>
        <p:spPr>
          <a:xfrm>
            <a:off x="630936" y="1828800"/>
            <a:ext cx="2075688" cy="484632"/>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40" u="none" cap="none" strike="noStrike">
                <a:solidFill>
                  <a:srgbClr val="1E293B"/>
                </a:solidFill>
                <a:latin typeface="Arial"/>
                <a:ea typeface="Arial"/>
                <a:cs typeface="Arial"/>
                <a:sym typeface="Arial"/>
              </a:rPr>
              <a:t>Tunis (Maghrebi)</a:t>
            </a:r>
            <a:endParaRPr/>
          </a:p>
        </p:txBody>
      </p:sp>
      <p:sp>
        <p:nvSpPr>
          <p:cNvPr id="498" name="Google Shape;498;p8"/>
          <p:cNvSpPr/>
          <p:nvPr/>
        </p:nvSpPr>
        <p:spPr>
          <a:xfrm>
            <a:off x="2743200" y="1819656"/>
            <a:ext cx="1024128"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9" name="Google Shape;499;p8"/>
          <p:cNvSpPr txBox="1"/>
          <p:nvPr/>
        </p:nvSpPr>
        <p:spPr>
          <a:xfrm>
            <a:off x="2779776" y="1828800"/>
            <a:ext cx="950976" cy="484632"/>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40" u="none" cap="none" strike="noStrike">
                <a:solidFill>
                  <a:srgbClr val="1E293B"/>
                </a:solidFill>
                <a:latin typeface="Arial"/>
                <a:ea typeface="Arial"/>
                <a:cs typeface="Arial"/>
                <a:sym typeface="Arial"/>
              </a:rPr>
              <a:t>95.21%</a:t>
            </a:r>
            <a:endParaRPr/>
          </a:p>
        </p:txBody>
      </p:sp>
      <p:sp>
        <p:nvSpPr>
          <p:cNvPr id="500" name="Google Shape;500;p8"/>
          <p:cNvSpPr/>
          <p:nvPr/>
        </p:nvSpPr>
        <p:spPr>
          <a:xfrm>
            <a:off x="3767328" y="1819656"/>
            <a:ext cx="987552"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1" name="Google Shape;501;p8"/>
          <p:cNvSpPr txBox="1"/>
          <p:nvPr/>
        </p:nvSpPr>
        <p:spPr>
          <a:xfrm>
            <a:off x="3803904" y="1828800"/>
            <a:ext cx="914400"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93.69%</a:t>
            </a:r>
            <a:endParaRPr/>
          </a:p>
        </p:txBody>
      </p:sp>
      <p:sp>
        <p:nvSpPr>
          <p:cNvPr id="502" name="Google Shape;502;p8"/>
          <p:cNvSpPr/>
          <p:nvPr/>
        </p:nvSpPr>
        <p:spPr>
          <a:xfrm>
            <a:off x="4754880" y="1819656"/>
            <a:ext cx="1024128"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3" name="Google Shape;503;p8"/>
          <p:cNvSpPr txBox="1"/>
          <p:nvPr/>
        </p:nvSpPr>
        <p:spPr>
          <a:xfrm>
            <a:off x="4791456" y="1828800"/>
            <a:ext cx="950976"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94.44%</a:t>
            </a:r>
            <a:endParaRPr/>
          </a:p>
        </p:txBody>
      </p:sp>
      <p:sp>
        <p:nvSpPr>
          <p:cNvPr id="504" name="Google Shape;504;p8"/>
          <p:cNvSpPr/>
          <p:nvPr/>
        </p:nvSpPr>
        <p:spPr>
          <a:xfrm>
            <a:off x="5779008" y="1819656"/>
            <a:ext cx="868680"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5" name="Google Shape;505;p8"/>
          <p:cNvSpPr txBox="1"/>
          <p:nvPr/>
        </p:nvSpPr>
        <p:spPr>
          <a:xfrm>
            <a:off x="5815584" y="1828800"/>
            <a:ext cx="795528"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1,173</a:t>
            </a:r>
            <a:endParaRPr/>
          </a:p>
        </p:txBody>
      </p:sp>
      <p:sp>
        <p:nvSpPr>
          <p:cNvPr id="506" name="Google Shape;506;p8"/>
          <p:cNvSpPr/>
          <p:nvPr/>
        </p:nvSpPr>
        <p:spPr>
          <a:xfrm>
            <a:off x="594360" y="2322576"/>
            <a:ext cx="2148840" cy="502920"/>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7" name="Google Shape;507;p8"/>
          <p:cNvSpPr txBox="1"/>
          <p:nvPr/>
        </p:nvSpPr>
        <p:spPr>
          <a:xfrm>
            <a:off x="630936" y="2331720"/>
            <a:ext cx="2075688" cy="484632"/>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40" u="none" cap="none" strike="noStrike">
                <a:solidFill>
                  <a:srgbClr val="1E293B"/>
                </a:solidFill>
                <a:latin typeface="Arial"/>
                <a:ea typeface="Arial"/>
                <a:cs typeface="Arial"/>
                <a:sym typeface="Arial"/>
              </a:rPr>
              <a:t>MSA (Formal)</a:t>
            </a:r>
            <a:endParaRPr/>
          </a:p>
        </p:txBody>
      </p:sp>
      <p:sp>
        <p:nvSpPr>
          <p:cNvPr id="508" name="Google Shape;508;p8"/>
          <p:cNvSpPr/>
          <p:nvPr/>
        </p:nvSpPr>
        <p:spPr>
          <a:xfrm>
            <a:off x="2743200" y="2322576"/>
            <a:ext cx="1024128" cy="502920"/>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9" name="Google Shape;509;p8"/>
          <p:cNvSpPr txBox="1"/>
          <p:nvPr/>
        </p:nvSpPr>
        <p:spPr>
          <a:xfrm>
            <a:off x="2779776" y="2331720"/>
            <a:ext cx="950976" cy="484632"/>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40" u="none" cap="none" strike="noStrike">
                <a:solidFill>
                  <a:srgbClr val="1E293B"/>
                </a:solidFill>
                <a:latin typeface="Arial"/>
                <a:ea typeface="Arial"/>
                <a:cs typeface="Arial"/>
                <a:sym typeface="Arial"/>
              </a:rPr>
              <a:t>93.60%</a:t>
            </a:r>
            <a:endParaRPr/>
          </a:p>
        </p:txBody>
      </p:sp>
      <p:sp>
        <p:nvSpPr>
          <p:cNvPr id="510" name="Google Shape;510;p8"/>
          <p:cNvSpPr/>
          <p:nvPr/>
        </p:nvSpPr>
        <p:spPr>
          <a:xfrm>
            <a:off x="3767328" y="2322576"/>
            <a:ext cx="987552" cy="502920"/>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1" name="Google Shape;511;p8"/>
          <p:cNvSpPr txBox="1"/>
          <p:nvPr/>
        </p:nvSpPr>
        <p:spPr>
          <a:xfrm>
            <a:off x="3803904" y="2331720"/>
            <a:ext cx="914400"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94.61%</a:t>
            </a:r>
            <a:endParaRPr/>
          </a:p>
        </p:txBody>
      </p:sp>
      <p:sp>
        <p:nvSpPr>
          <p:cNvPr id="512" name="Google Shape;512;p8"/>
          <p:cNvSpPr/>
          <p:nvPr/>
        </p:nvSpPr>
        <p:spPr>
          <a:xfrm>
            <a:off x="4754880" y="2322576"/>
            <a:ext cx="1024128" cy="502920"/>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3" name="Google Shape;513;p8"/>
          <p:cNvSpPr txBox="1"/>
          <p:nvPr/>
        </p:nvSpPr>
        <p:spPr>
          <a:xfrm>
            <a:off x="4791456" y="2331720"/>
            <a:ext cx="950976"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94.10%</a:t>
            </a:r>
            <a:endParaRPr/>
          </a:p>
        </p:txBody>
      </p:sp>
      <p:sp>
        <p:nvSpPr>
          <p:cNvPr id="514" name="Google Shape;514;p8"/>
          <p:cNvSpPr/>
          <p:nvPr/>
        </p:nvSpPr>
        <p:spPr>
          <a:xfrm>
            <a:off x="5779008" y="2322576"/>
            <a:ext cx="868680" cy="502920"/>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5" name="Google Shape;515;p8"/>
          <p:cNvSpPr txBox="1"/>
          <p:nvPr/>
        </p:nvSpPr>
        <p:spPr>
          <a:xfrm>
            <a:off x="5815584" y="2331720"/>
            <a:ext cx="795528"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1,168</a:t>
            </a:r>
            <a:endParaRPr/>
          </a:p>
        </p:txBody>
      </p:sp>
      <p:sp>
        <p:nvSpPr>
          <p:cNvPr id="516" name="Google Shape;516;p8"/>
          <p:cNvSpPr/>
          <p:nvPr/>
        </p:nvSpPr>
        <p:spPr>
          <a:xfrm>
            <a:off x="594360" y="2825496"/>
            <a:ext cx="2148840"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7" name="Google Shape;517;p8"/>
          <p:cNvSpPr txBox="1"/>
          <p:nvPr/>
        </p:nvSpPr>
        <p:spPr>
          <a:xfrm>
            <a:off x="630936" y="2834639"/>
            <a:ext cx="2075688" cy="484632"/>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40" u="none" cap="none" strike="noStrike">
                <a:solidFill>
                  <a:srgbClr val="1E293B"/>
                </a:solidFill>
                <a:latin typeface="Arial"/>
                <a:ea typeface="Arial"/>
                <a:cs typeface="Arial"/>
                <a:sym typeface="Arial"/>
              </a:rPr>
              <a:t>Cairo (Egyptian)</a:t>
            </a:r>
            <a:endParaRPr/>
          </a:p>
        </p:txBody>
      </p:sp>
      <p:sp>
        <p:nvSpPr>
          <p:cNvPr id="518" name="Google Shape;518;p8"/>
          <p:cNvSpPr/>
          <p:nvPr/>
        </p:nvSpPr>
        <p:spPr>
          <a:xfrm>
            <a:off x="2743200" y="2825496"/>
            <a:ext cx="1024128"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9" name="Google Shape;519;p8"/>
          <p:cNvSpPr txBox="1"/>
          <p:nvPr/>
        </p:nvSpPr>
        <p:spPr>
          <a:xfrm>
            <a:off x="2779776" y="2834639"/>
            <a:ext cx="950976" cy="484632"/>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40" u="none" cap="none" strike="noStrike">
                <a:solidFill>
                  <a:srgbClr val="1E293B"/>
                </a:solidFill>
                <a:latin typeface="Arial"/>
                <a:ea typeface="Arial"/>
                <a:cs typeface="Arial"/>
                <a:sym typeface="Arial"/>
              </a:rPr>
              <a:t>92.42%</a:t>
            </a:r>
            <a:endParaRPr/>
          </a:p>
        </p:txBody>
      </p:sp>
      <p:sp>
        <p:nvSpPr>
          <p:cNvPr id="520" name="Google Shape;520;p8"/>
          <p:cNvSpPr/>
          <p:nvPr/>
        </p:nvSpPr>
        <p:spPr>
          <a:xfrm>
            <a:off x="3767328" y="2825496"/>
            <a:ext cx="987552"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1" name="Google Shape;521;p8"/>
          <p:cNvSpPr txBox="1"/>
          <p:nvPr/>
        </p:nvSpPr>
        <p:spPr>
          <a:xfrm>
            <a:off x="3803904" y="2834639"/>
            <a:ext cx="914400"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91.47%</a:t>
            </a:r>
            <a:endParaRPr/>
          </a:p>
        </p:txBody>
      </p:sp>
      <p:sp>
        <p:nvSpPr>
          <p:cNvPr id="522" name="Google Shape;522;p8"/>
          <p:cNvSpPr/>
          <p:nvPr/>
        </p:nvSpPr>
        <p:spPr>
          <a:xfrm>
            <a:off x="4754880" y="2825496"/>
            <a:ext cx="1024128"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8"/>
          <p:cNvSpPr txBox="1"/>
          <p:nvPr/>
        </p:nvSpPr>
        <p:spPr>
          <a:xfrm>
            <a:off x="4791456" y="2834639"/>
            <a:ext cx="950976"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91.94%</a:t>
            </a:r>
            <a:endParaRPr/>
          </a:p>
        </p:txBody>
      </p:sp>
      <p:sp>
        <p:nvSpPr>
          <p:cNvPr id="524" name="Google Shape;524;p8"/>
          <p:cNvSpPr/>
          <p:nvPr/>
        </p:nvSpPr>
        <p:spPr>
          <a:xfrm>
            <a:off x="5779008" y="2825496"/>
            <a:ext cx="868680"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5" name="Google Shape;525;p8"/>
          <p:cNvSpPr txBox="1"/>
          <p:nvPr/>
        </p:nvSpPr>
        <p:spPr>
          <a:xfrm>
            <a:off x="5815584" y="2834639"/>
            <a:ext cx="795528"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1,172</a:t>
            </a:r>
            <a:endParaRPr/>
          </a:p>
        </p:txBody>
      </p:sp>
      <p:sp>
        <p:nvSpPr>
          <p:cNvPr id="526" name="Google Shape;526;p8"/>
          <p:cNvSpPr/>
          <p:nvPr/>
        </p:nvSpPr>
        <p:spPr>
          <a:xfrm>
            <a:off x="594360" y="3328415"/>
            <a:ext cx="2148840" cy="502920"/>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7" name="Google Shape;527;p8"/>
          <p:cNvSpPr txBox="1"/>
          <p:nvPr/>
        </p:nvSpPr>
        <p:spPr>
          <a:xfrm>
            <a:off x="630936" y="3337559"/>
            <a:ext cx="2075688" cy="484632"/>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40" u="none" cap="none" strike="noStrike">
                <a:solidFill>
                  <a:srgbClr val="1E293B"/>
                </a:solidFill>
                <a:latin typeface="Arial"/>
                <a:ea typeface="Arial"/>
                <a:cs typeface="Arial"/>
                <a:sym typeface="Arial"/>
              </a:rPr>
              <a:t>Doha (Gulf)</a:t>
            </a:r>
            <a:endParaRPr/>
          </a:p>
        </p:txBody>
      </p:sp>
      <p:sp>
        <p:nvSpPr>
          <p:cNvPr id="528" name="Google Shape;528;p8"/>
          <p:cNvSpPr/>
          <p:nvPr/>
        </p:nvSpPr>
        <p:spPr>
          <a:xfrm>
            <a:off x="2743200" y="3328415"/>
            <a:ext cx="1024128" cy="502920"/>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9" name="Google Shape;529;p8"/>
          <p:cNvSpPr txBox="1"/>
          <p:nvPr/>
        </p:nvSpPr>
        <p:spPr>
          <a:xfrm>
            <a:off x="2779776" y="3337559"/>
            <a:ext cx="950976" cy="484632"/>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40" u="none" cap="none" strike="noStrike">
                <a:solidFill>
                  <a:srgbClr val="1E293B"/>
                </a:solidFill>
                <a:latin typeface="Arial"/>
                <a:ea typeface="Arial"/>
                <a:cs typeface="Arial"/>
                <a:sym typeface="Arial"/>
              </a:rPr>
              <a:t>90.02%</a:t>
            </a:r>
            <a:endParaRPr/>
          </a:p>
        </p:txBody>
      </p:sp>
      <p:sp>
        <p:nvSpPr>
          <p:cNvPr id="530" name="Google Shape;530;p8"/>
          <p:cNvSpPr/>
          <p:nvPr/>
        </p:nvSpPr>
        <p:spPr>
          <a:xfrm>
            <a:off x="3767328" y="3328415"/>
            <a:ext cx="987552" cy="502920"/>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1" name="Google Shape;531;p8"/>
          <p:cNvSpPr txBox="1"/>
          <p:nvPr/>
        </p:nvSpPr>
        <p:spPr>
          <a:xfrm>
            <a:off x="3803904" y="3337559"/>
            <a:ext cx="914400"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91.47%</a:t>
            </a:r>
            <a:endParaRPr/>
          </a:p>
        </p:txBody>
      </p:sp>
      <p:sp>
        <p:nvSpPr>
          <p:cNvPr id="532" name="Google Shape;532;p8"/>
          <p:cNvSpPr/>
          <p:nvPr/>
        </p:nvSpPr>
        <p:spPr>
          <a:xfrm>
            <a:off x="4754880" y="3328415"/>
            <a:ext cx="1024128" cy="502920"/>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8"/>
          <p:cNvSpPr txBox="1"/>
          <p:nvPr/>
        </p:nvSpPr>
        <p:spPr>
          <a:xfrm>
            <a:off x="4791456" y="3337559"/>
            <a:ext cx="950976"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90.74%</a:t>
            </a:r>
            <a:endParaRPr/>
          </a:p>
        </p:txBody>
      </p:sp>
      <p:sp>
        <p:nvSpPr>
          <p:cNvPr id="534" name="Google Shape;534;p8"/>
          <p:cNvSpPr/>
          <p:nvPr/>
        </p:nvSpPr>
        <p:spPr>
          <a:xfrm>
            <a:off x="5779008" y="3328415"/>
            <a:ext cx="868680" cy="502920"/>
          </a:xfrm>
          <a:prstGeom prst="rect">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8"/>
          <p:cNvSpPr txBox="1"/>
          <p:nvPr/>
        </p:nvSpPr>
        <p:spPr>
          <a:xfrm>
            <a:off x="5815584" y="3337559"/>
            <a:ext cx="795528"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1,172</a:t>
            </a:r>
            <a:endParaRPr/>
          </a:p>
        </p:txBody>
      </p:sp>
      <p:sp>
        <p:nvSpPr>
          <p:cNvPr id="536" name="Google Shape;536;p8"/>
          <p:cNvSpPr/>
          <p:nvPr/>
        </p:nvSpPr>
        <p:spPr>
          <a:xfrm>
            <a:off x="594360" y="3831335"/>
            <a:ext cx="2148840"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7" name="Google Shape;537;p8"/>
          <p:cNvSpPr txBox="1"/>
          <p:nvPr/>
        </p:nvSpPr>
        <p:spPr>
          <a:xfrm>
            <a:off x="630936" y="3840479"/>
            <a:ext cx="2075688" cy="484632"/>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1" i="0" lang="en-US" sz="1040" u="none" cap="none" strike="noStrike">
                <a:solidFill>
                  <a:srgbClr val="1E293B"/>
                </a:solidFill>
                <a:latin typeface="Arial"/>
                <a:ea typeface="Arial"/>
                <a:cs typeface="Arial"/>
                <a:sym typeface="Arial"/>
              </a:rPr>
              <a:t>Beirut (Levantine)</a:t>
            </a:r>
            <a:endParaRPr/>
          </a:p>
        </p:txBody>
      </p:sp>
      <p:sp>
        <p:nvSpPr>
          <p:cNvPr id="538" name="Google Shape;538;p8"/>
          <p:cNvSpPr/>
          <p:nvPr/>
        </p:nvSpPr>
        <p:spPr>
          <a:xfrm>
            <a:off x="2743200" y="3831335"/>
            <a:ext cx="1024128"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9" name="Google Shape;539;p8"/>
          <p:cNvSpPr txBox="1"/>
          <p:nvPr/>
        </p:nvSpPr>
        <p:spPr>
          <a:xfrm>
            <a:off x="2779776" y="3840479"/>
            <a:ext cx="950976" cy="484632"/>
          </a:xfrm>
          <a:prstGeom prst="rect">
            <a:avLst/>
          </a:prstGeom>
          <a:noFill/>
          <a:ln>
            <a:noFill/>
          </a:ln>
        </p:spPr>
        <p:txBody>
          <a:bodyPr anchorCtr="0" anchor="ctr" bIns="9125" lIns="9125" spcFirstLastPara="1" rIns="9125" wrap="square" tIns="9125">
            <a:spAutoFit/>
          </a:bodyPr>
          <a:lstStyle/>
          <a:p>
            <a:pPr indent="0" lvl="0" marL="0" marR="0" rtl="0" algn="l">
              <a:spcBef>
                <a:spcPts val="0"/>
              </a:spcBef>
              <a:spcAft>
                <a:spcPts val="0"/>
              </a:spcAft>
              <a:buNone/>
            </a:pPr>
            <a:r>
              <a:rPr b="0" i="0" lang="en-US" sz="1040" u="none" cap="none" strike="noStrike">
                <a:solidFill>
                  <a:srgbClr val="1E293B"/>
                </a:solidFill>
                <a:latin typeface="Arial"/>
                <a:ea typeface="Arial"/>
                <a:cs typeface="Arial"/>
                <a:sym typeface="Arial"/>
              </a:rPr>
              <a:t>90.09%</a:t>
            </a:r>
            <a:endParaRPr/>
          </a:p>
        </p:txBody>
      </p:sp>
      <p:sp>
        <p:nvSpPr>
          <p:cNvPr id="540" name="Google Shape;540;p8"/>
          <p:cNvSpPr/>
          <p:nvPr/>
        </p:nvSpPr>
        <p:spPr>
          <a:xfrm>
            <a:off x="3767328" y="3831335"/>
            <a:ext cx="987552"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1" name="Google Shape;541;p8"/>
          <p:cNvSpPr txBox="1"/>
          <p:nvPr/>
        </p:nvSpPr>
        <p:spPr>
          <a:xfrm>
            <a:off x="3803904" y="3840479"/>
            <a:ext cx="914400"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89.99%</a:t>
            </a:r>
            <a:endParaRPr/>
          </a:p>
        </p:txBody>
      </p:sp>
      <p:sp>
        <p:nvSpPr>
          <p:cNvPr id="542" name="Google Shape;542;p8"/>
          <p:cNvSpPr/>
          <p:nvPr/>
        </p:nvSpPr>
        <p:spPr>
          <a:xfrm>
            <a:off x="4754880" y="3831335"/>
            <a:ext cx="1024128"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3" name="Google Shape;543;p8"/>
          <p:cNvSpPr txBox="1"/>
          <p:nvPr/>
        </p:nvSpPr>
        <p:spPr>
          <a:xfrm>
            <a:off x="4791456" y="3840479"/>
            <a:ext cx="950976"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90.04%</a:t>
            </a:r>
            <a:endParaRPr/>
          </a:p>
        </p:txBody>
      </p:sp>
      <p:sp>
        <p:nvSpPr>
          <p:cNvPr id="544" name="Google Shape;544;p8"/>
          <p:cNvSpPr/>
          <p:nvPr/>
        </p:nvSpPr>
        <p:spPr>
          <a:xfrm>
            <a:off x="5779008" y="3831335"/>
            <a:ext cx="868680" cy="502920"/>
          </a:xfrm>
          <a:prstGeom prst="rect">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5" name="Google Shape;545;p8"/>
          <p:cNvSpPr txBox="1"/>
          <p:nvPr/>
        </p:nvSpPr>
        <p:spPr>
          <a:xfrm>
            <a:off x="5815584" y="3840479"/>
            <a:ext cx="795528" cy="484632"/>
          </a:xfrm>
          <a:prstGeom prst="rect">
            <a:avLst/>
          </a:prstGeom>
          <a:noFill/>
          <a:ln>
            <a:noFill/>
          </a:ln>
        </p:spPr>
        <p:txBody>
          <a:bodyPr anchorCtr="0" anchor="ctr" bIns="9125" lIns="9125" spcFirstLastPara="1" rIns="9125" wrap="square" tIns="9125">
            <a:spAutoFit/>
          </a:bodyPr>
          <a:lstStyle/>
          <a:p>
            <a:pPr indent="0" lvl="0" marL="0" marR="0" rtl="0" algn="ctr">
              <a:spcBef>
                <a:spcPts val="0"/>
              </a:spcBef>
              <a:spcAft>
                <a:spcPts val="0"/>
              </a:spcAft>
              <a:buNone/>
            </a:pPr>
            <a:r>
              <a:rPr b="0" i="0" lang="en-US" sz="1040" u="none" cap="none" strike="noStrike">
                <a:solidFill>
                  <a:srgbClr val="1E293B"/>
                </a:solidFill>
                <a:latin typeface="Arial"/>
                <a:ea typeface="Arial"/>
                <a:cs typeface="Arial"/>
                <a:sym typeface="Arial"/>
              </a:rPr>
              <a:t>1,160</a:t>
            </a:r>
            <a:endParaRPr/>
          </a:p>
        </p:txBody>
      </p:sp>
      <p:sp>
        <p:nvSpPr>
          <p:cNvPr id="546" name="Google Shape;546;p8"/>
          <p:cNvSpPr/>
          <p:nvPr/>
        </p:nvSpPr>
        <p:spPr>
          <a:xfrm>
            <a:off x="594360" y="4553712"/>
            <a:ext cx="6053328" cy="1234440"/>
          </a:xfrm>
          <a:prstGeom prst="roundRect">
            <a:avLst>
              <a:gd fmla="val 16667" name="adj"/>
            </a:avLst>
          </a:prstGeom>
          <a:solidFill>
            <a:srgbClr val="DCFCE7"/>
          </a:solidFill>
          <a:ln cap="flat" cmpd="sng" w="10150">
            <a:solidFill>
              <a:srgbClr val="BBF7D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8"/>
          <p:cNvSpPr txBox="1"/>
          <p:nvPr/>
        </p:nvSpPr>
        <p:spPr>
          <a:xfrm>
            <a:off x="859536" y="4736592"/>
            <a:ext cx="2103120" cy="2103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00" u="none" cap="none" strike="noStrike">
                <a:solidFill>
                  <a:srgbClr val="16A34A"/>
                </a:solidFill>
                <a:latin typeface="Arial"/>
                <a:ea typeface="Arial"/>
                <a:cs typeface="Arial"/>
                <a:sym typeface="Arial"/>
              </a:rPr>
              <a:t>77 ERRORS ELIMINATED</a:t>
            </a:r>
            <a:endParaRPr/>
          </a:p>
        </p:txBody>
      </p:sp>
      <p:sp>
        <p:nvSpPr>
          <p:cNvPr id="548" name="Google Shape;548;p8"/>
          <p:cNvSpPr txBox="1"/>
          <p:nvPr/>
        </p:nvSpPr>
        <p:spPr>
          <a:xfrm>
            <a:off x="859536" y="5010912"/>
            <a:ext cx="2057400" cy="4480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600" u="none" cap="none" strike="noStrike">
                <a:solidFill>
                  <a:srgbClr val="16A34A"/>
                </a:solidFill>
                <a:latin typeface="Arial"/>
                <a:ea typeface="Arial"/>
                <a:cs typeface="Arial"/>
                <a:sym typeface="Arial"/>
              </a:rPr>
              <a:t>530 → 453</a:t>
            </a:r>
            <a:endParaRPr/>
          </a:p>
        </p:txBody>
      </p:sp>
      <p:sp>
        <p:nvSpPr>
          <p:cNvPr id="549" name="Google Shape;549;p8"/>
          <p:cNvSpPr txBox="1"/>
          <p:nvPr/>
        </p:nvSpPr>
        <p:spPr>
          <a:xfrm>
            <a:off x="2971800" y="4974336"/>
            <a:ext cx="3246120" cy="43891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200" u="none" cap="none" strike="noStrike">
                <a:solidFill>
                  <a:srgbClr val="1E293B"/>
                </a:solidFill>
                <a:latin typeface="Arial"/>
                <a:ea typeface="Arial"/>
                <a:cs typeface="Arial"/>
                <a:sym typeface="Arial"/>
              </a:rPr>
              <a:t>14.5% fewer test errors on the same test set</a:t>
            </a:r>
            <a:endParaRPr/>
          </a:p>
        </p:txBody>
      </p:sp>
      <p:cxnSp>
        <p:nvCxnSpPr>
          <p:cNvPr id="550" name="Google Shape;550;p8"/>
          <p:cNvCxnSpPr/>
          <p:nvPr/>
        </p:nvCxnSpPr>
        <p:spPr>
          <a:xfrm>
            <a:off x="594360" y="6473952"/>
            <a:ext cx="11000232" cy="0"/>
          </a:xfrm>
          <a:prstGeom prst="straightConnector1">
            <a:avLst/>
          </a:prstGeom>
          <a:noFill/>
          <a:ln cap="flat" cmpd="sng" w="9525">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551" name="Google Shape;551;p8"/>
          <p:cNvSpPr txBox="1"/>
          <p:nvPr/>
        </p:nvSpPr>
        <p:spPr>
          <a:xfrm>
            <a:off x="603504" y="6547104"/>
            <a:ext cx="45720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64748B"/>
                </a:solidFill>
                <a:latin typeface="Arial"/>
                <a:ea typeface="Arial"/>
                <a:cs typeface="Arial"/>
                <a:sym typeface="Arial"/>
              </a:rPr>
              <a:t>ARABIC DIALECT CLASSIFICATION</a:t>
            </a:r>
            <a:endParaRPr/>
          </a:p>
        </p:txBody>
      </p:sp>
      <p:sp>
        <p:nvSpPr>
          <p:cNvPr id="552" name="Google Shape;552;p8"/>
          <p:cNvSpPr txBox="1"/>
          <p:nvPr/>
        </p:nvSpPr>
        <p:spPr>
          <a:xfrm>
            <a:off x="10652760" y="6528816"/>
            <a:ext cx="914400" cy="18288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850" u="none" cap="none" strike="noStrike">
                <a:solidFill>
                  <a:srgbClr val="64748B"/>
                </a:solidFill>
                <a:latin typeface="Arial"/>
                <a:ea typeface="Arial"/>
                <a:cs typeface="Arial"/>
                <a:sym typeface="Arial"/>
              </a:rPr>
              <a:t>08  /  12</a:t>
            </a:r>
            <a:endParaRPr/>
          </a:p>
        </p:txBody>
      </p:sp>
      <p:pic>
        <p:nvPicPr>
          <p:cNvPr id="553" name="Google Shape;553;p8"/>
          <p:cNvPicPr preferRelativeResize="0"/>
          <p:nvPr/>
        </p:nvPicPr>
        <p:blipFill rotWithShape="1">
          <a:blip r:embed="rId3">
            <a:alphaModFix/>
          </a:blip>
          <a:srcRect b="0" l="0" r="0" t="0"/>
          <a:stretch/>
        </p:blipFill>
        <p:spPr>
          <a:xfrm>
            <a:off x="6915912" y="1408177"/>
            <a:ext cx="5065776" cy="437997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558" name="Shape 558"/>
        <p:cNvGrpSpPr/>
        <p:nvPr/>
      </p:nvGrpSpPr>
      <p:grpSpPr>
        <a:xfrm>
          <a:off x="0" y="0"/>
          <a:ext cx="0" cy="0"/>
          <a:chOff x="0" y="0"/>
          <a:chExt cx="0" cy="0"/>
        </a:xfrm>
      </p:grpSpPr>
      <p:sp>
        <p:nvSpPr>
          <p:cNvPr id="559" name="Google Shape;559;p9"/>
          <p:cNvSpPr/>
          <p:nvPr/>
        </p:nvSpPr>
        <p:spPr>
          <a:xfrm>
            <a:off x="0" y="0"/>
            <a:ext cx="12191695" cy="128016"/>
          </a:xfrm>
          <a:prstGeom prst="rect">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0" name="Google Shape;560;p9"/>
          <p:cNvSpPr/>
          <p:nvPr/>
        </p:nvSpPr>
        <p:spPr>
          <a:xfrm>
            <a:off x="0" y="0"/>
            <a:ext cx="2011680" cy="12801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1" name="Google Shape;561;p9"/>
          <p:cNvSpPr txBox="1"/>
          <p:nvPr/>
        </p:nvSpPr>
        <p:spPr>
          <a:xfrm>
            <a:off x="603504" y="274320"/>
            <a:ext cx="27432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2563EB"/>
                </a:solidFill>
                <a:latin typeface="Arial"/>
                <a:ea typeface="Arial"/>
                <a:cs typeface="Arial"/>
                <a:sym typeface="Arial"/>
              </a:rPr>
              <a:t>MODEL INTERPRETABILITY</a:t>
            </a:r>
            <a:endParaRPr/>
          </a:p>
        </p:txBody>
      </p:sp>
      <p:sp>
        <p:nvSpPr>
          <p:cNvPr id="562" name="Google Shape;562;p9"/>
          <p:cNvSpPr txBox="1"/>
          <p:nvPr/>
        </p:nvSpPr>
        <p:spPr>
          <a:xfrm>
            <a:off x="594360" y="521207"/>
            <a:ext cx="10972800" cy="53035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800" u="none" cap="none" strike="noStrike">
                <a:solidFill>
                  <a:srgbClr val="0F172A"/>
                </a:solidFill>
                <a:latin typeface="Arial"/>
                <a:ea typeface="Arial"/>
                <a:cs typeface="Arial"/>
                <a:sym typeface="Arial"/>
              </a:rPr>
              <a:t>Deep Error Analysis: Why Do 7.75% (453) Errors Remain?</a:t>
            </a:r>
            <a:endParaRPr/>
          </a:p>
        </p:txBody>
      </p:sp>
      <p:sp>
        <p:nvSpPr>
          <p:cNvPr id="563" name="Google Shape;563;p9"/>
          <p:cNvSpPr/>
          <p:nvPr/>
        </p:nvSpPr>
        <p:spPr>
          <a:xfrm>
            <a:off x="11411712" y="347472"/>
            <a:ext cx="164592" cy="164592"/>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4" name="Google Shape;564;p9"/>
          <p:cNvSpPr/>
          <p:nvPr/>
        </p:nvSpPr>
        <p:spPr>
          <a:xfrm>
            <a:off x="11612880" y="347472"/>
            <a:ext cx="164592" cy="16459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5" name="Google Shape;565;p9"/>
          <p:cNvSpPr/>
          <p:nvPr/>
        </p:nvSpPr>
        <p:spPr>
          <a:xfrm>
            <a:off x="11814048" y="347472"/>
            <a:ext cx="164592" cy="164592"/>
          </a:xfrm>
          <a:prstGeom prst="ellipse">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6" name="Google Shape;566;p9"/>
          <p:cNvSpPr/>
          <p:nvPr/>
        </p:nvSpPr>
        <p:spPr>
          <a:xfrm>
            <a:off x="626364" y="1367028"/>
            <a:ext cx="5404104" cy="1499616"/>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7" name="Google Shape;567;p9"/>
          <p:cNvSpPr/>
          <p:nvPr/>
        </p:nvSpPr>
        <p:spPr>
          <a:xfrm>
            <a:off x="594360" y="1325880"/>
            <a:ext cx="5404104" cy="1499616"/>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8" name="Google Shape;568;p9"/>
          <p:cNvSpPr/>
          <p:nvPr/>
        </p:nvSpPr>
        <p:spPr>
          <a:xfrm>
            <a:off x="594360" y="1344168"/>
            <a:ext cx="50292" cy="1463039"/>
          </a:xfrm>
          <a:prstGeom prst="rect">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9" name="Google Shape;569;p9"/>
          <p:cNvSpPr txBox="1"/>
          <p:nvPr/>
        </p:nvSpPr>
        <p:spPr>
          <a:xfrm>
            <a:off x="813816" y="1527048"/>
            <a:ext cx="4992624"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0" u="none" cap="none" strike="noStrike">
                <a:solidFill>
                  <a:srgbClr val="1E293B"/>
                </a:solidFill>
                <a:latin typeface="Arial"/>
                <a:ea typeface="Arial"/>
                <a:cs typeface="Arial"/>
                <a:sym typeface="Arial"/>
              </a:rPr>
              <a:t>Average Sentence Length</a:t>
            </a:r>
            <a:endParaRPr/>
          </a:p>
        </p:txBody>
      </p:sp>
      <p:sp>
        <p:nvSpPr>
          <p:cNvPr id="570" name="Google Shape;570;p9"/>
          <p:cNvSpPr txBox="1"/>
          <p:nvPr/>
        </p:nvSpPr>
        <p:spPr>
          <a:xfrm>
            <a:off x="877824" y="1956816"/>
            <a:ext cx="1645920" cy="37490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16A34A"/>
                </a:solidFill>
                <a:latin typeface="Arial"/>
                <a:ea typeface="Arial"/>
                <a:cs typeface="Arial"/>
                <a:sym typeface="Arial"/>
              </a:rPr>
              <a:t>7.21 words</a:t>
            </a:r>
            <a:endParaRPr/>
          </a:p>
        </p:txBody>
      </p:sp>
      <p:sp>
        <p:nvSpPr>
          <p:cNvPr id="571" name="Google Shape;571;p9"/>
          <p:cNvSpPr txBox="1"/>
          <p:nvPr/>
        </p:nvSpPr>
        <p:spPr>
          <a:xfrm>
            <a:off x="886968" y="2340864"/>
            <a:ext cx="1627632" cy="33832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64748B"/>
                </a:solidFill>
                <a:latin typeface="Arial"/>
                <a:ea typeface="Arial"/>
                <a:cs typeface="Arial"/>
                <a:sym typeface="Arial"/>
              </a:rPr>
              <a:t>Correct predictions</a:t>
            </a:r>
            <a:br>
              <a:rPr b="0" i="0" lang="en-US" sz="950" u="none" cap="none" strike="noStrike">
                <a:solidFill>
                  <a:srgbClr val="64748B"/>
                </a:solidFill>
                <a:latin typeface="Arial"/>
                <a:ea typeface="Arial"/>
                <a:cs typeface="Arial"/>
                <a:sym typeface="Arial"/>
              </a:rPr>
            </a:br>
            <a:r>
              <a:rPr b="0" i="0" lang="en-US" sz="950" u="none" cap="none" strike="noStrike">
                <a:solidFill>
                  <a:srgbClr val="64748B"/>
                </a:solidFill>
                <a:latin typeface="Arial"/>
                <a:ea typeface="Arial"/>
                <a:cs typeface="Arial"/>
                <a:sym typeface="Arial"/>
              </a:rPr>
              <a:t>5,392 samples</a:t>
            </a:r>
            <a:endParaRPr/>
          </a:p>
        </p:txBody>
      </p:sp>
      <p:sp>
        <p:nvSpPr>
          <p:cNvPr id="572" name="Google Shape;572;p9"/>
          <p:cNvSpPr txBox="1"/>
          <p:nvPr/>
        </p:nvSpPr>
        <p:spPr>
          <a:xfrm>
            <a:off x="3255264" y="1956816"/>
            <a:ext cx="1645920" cy="37490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EC4899"/>
                </a:solidFill>
                <a:latin typeface="Arial"/>
                <a:ea typeface="Arial"/>
                <a:cs typeface="Arial"/>
                <a:sym typeface="Arial"/>
              </a:rPr>
              <a:t>3.86 words</a:t>
            </a:r>
            <a:endParaRPr/>
          </a:p>
        </p:txBody>
      </p:sp>
      <p:sp>
        <p:nvSpPr>
          <p:cNvPr id="573" name="Google Shape;573;p9"/>
          <p:cNvSpPr txBox="1"/>
          <p:nvPr/>
        </p:nvSpPr>
        <p:spPr>
          <a:xfrm>
            <a:off x="3264408" y="2340864"/>
            <a:ext cx="1627632" cy="33832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64748B"/>
                </a:solidFill>
                <a:latin typeface="Arial"/>
                <a:ea typeface="Arial"/>
                <a:cs typeface="Arial"/>
                <a:sym typeface="Arial"/>
              </a:rPr>
              <a:t>Misclassified</a:t>
            </a:r>
            <a:br>
              <a:rPr b="0" i="0" lang="en-US" sz="950" u="none" cap="none" strike="noStrike">
                <a:solidFill>
                  <a:srgbClr val="64748B"/>
                </a:solidFill>
                <a:latin typeface="Arial"/>
                <a:ea typeface="Arial"/>
                <a:cs typeface="Arial"/>
                <a:sym typeface="Arial"/>
              </a:rPr>
            </a:br>
            <a:r>
              <a:rPr b="0" i="0" lang="en-US" sz="950" u="none" cap="none" strike="noStrike">
                <a:solidFill>
                  <a:srgbClr val="64748B"/>
                </a:solidFill>
                <a:latin typeface="Arial"/>
                <a:ea typeface="Arial"/>
                <a:cs typeface="Arial"/>
                <a:sym typeface="Arial"/>
              </a:rPr>
              <a:t>453 samples</a:t>
            </a:r>
            <a:endParaRPr/>
          </a:p>
        </p:txBody>
      </p:sp>
      <p:sp>
        <p:nvSpPr>
          <p:cNvPr id="574" name="Google Shape;574;p9"/>
          <p:cNvSpPr/>
          <p:nvPr/>
        </p:nvSpPr>
        <p:spPr>
          <a:xfrm>
            <a:off x="2633472" y="2011680"/>
            <a:ext cx="347472" cy="274320"/>
          </a:xfrm>
          <a:prstGeom prst="chevron">
            <a:avLst>
              <a:gd fmla="val 50000" name="adj"/>
            </a:avLst>
          </a:prstGeom>
          <a:solidFill>
            <a:srgbClr val="CBD5E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5" name="Google Shape;575;p9"/>
          <p:cNvSpPr/>
          <p:nvPr/>
        </p:nvSpPr>
        <p:spPr>
          <a:xfrm>
            <a:off x="6231636" y="1367028"/>
            <a:ext cx="5394960" cy="1499616"/>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6" name="Google Shape;576;p9"/>
          <p:cNvSpPr/>
          <p:nvPr/>
        </p:nvSpPr>
        <p:spPr>
          <a:xfrm>
            <a:off x="6199632" y="1325880"/>
            <a:ext cx="5394960" cy="1499616"/>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7" name="Google Shape;577;p9"/>
          <p:cNvSpPr/>
          <p:nvPr/>
        </p:nvSpPr>
        <p:spPr>
          <a:xfrm>
            <a:off x="6199632" y="1344168"/>
            <a:ext cx="50292" cy="1463039"/>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8" name="Google Shape;578;p9"/>
          <p:cNvSpPr txBox="1"/>
          <p:nvPr/>
        </p:nvSpPr>
        <p:spPr>
          <a:xfrm>
            <a:off x="6419088" y="1527048"/>
            <a:ext cx="4983480"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0" u="none" cap="none" strike="noStrike">
                <a:solidFill>
                  <a:srgbClr val="1E293B"/>
                </a:solidFill>
                <a:latin typeface="Arial"/>
                <a:ea typeface="Arial"/>
                <a:cs typeface="Arial"/>
                <a:sym typeface="Arial"/>
              </a:rPr>
              <a:t>Average Prediction Confidence</a:t>
            </a:r>
            <a:endParaRPr/>
          </a:p>
        </p:txBody>
      </p:sp>
      <p:sp>
        <p:nvSpPr>
          <p:cNvPr id="579" name="Google Shape;579;p9"/>
          <p:cNvSpPr txBox="1"/>
          <p:nvPr/>
        </p:nvSpPr>
        <p:spPr>
          <a:xfrm>
            <a:off x="6501384" y="1956816"/>
            <a:ext cx="1645920" cy="37490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16A34A"/>
                </a:solidFill>
                <a:latin typeface="Arial"/>
                <a:ea typeface="Arial"/>
                <a:cs typeface="Arial"/>
                <a:sym typeface="Arial"/>
              </a:rPr>
              <a:t>95.83%</a:t>
            </a:r>
            <a:endParaRPr/>
          </a:p>
        </p:txBody>
      </p:sp>
      <p:sp>
        <p:nvSpPr>
          <p:cNvPr id="580" name="Google Shape;580;p9"/>
          <p:cNvSpPr txBox="1"/>
          <p:nvPr/>
        </p:nvSpPr>
        <p:spPr>
          <a:xfrm>
            <a:off x="6510528" y="2340864"/>
            <a:ext cx="1645920"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64748B"/>
                </a:solidFill>
                <a:latin typeface="Arial"/>
                <a:ea typeface="Arial"/>
                <a:cs typeface="Arial"/>
                <a:sym typeface="Arial"/>
              </a:rPr>
              <a:t>Correct predictions</a:t>
            </a:r>
            <a:endParaRPr/>
          </a:p>
        </p:txBody>
      </p:sp>
      <p:sp>
        <p:nvSpPr>
          <p:cNvPr id="581" name="Google Shape;581;p9"/>
          <p:cNvSpPr txBox="1"/>
          <p:nvPr/>
        </p:nvSpPr>
        <p:spPr>
          <a:xfrm>
            <a:off x="8887968" y="1956816"/>
            <a:ext cx="1645920" cy="37490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EC4899"/>
                </a:solidFill>
                <a:latin typeface="Arial"/>
                <a:ea typeface="Arial"/>
                <a:cs typeface="Arial"/>
                <a:sym typeface="Arial"/>
              </a:rPr>
              <a:t>77.57%</a:t>
            </a:r>
            <a:endParaRPr/>
          </a:p>
        </p:txBody>
      </p:sp>
      <p:sp>
        <p:nvSpPr>
          <p:cNvPr id="582" name="Google Shape;582;p9"/>
          <p:cNvSpPr txBox="1"/>
          <p:nvPr/>
        </p:nvSpPr>
        <p:spPr>
          <a:xfrm>
            <a:off x="8897112" y="2340864"/>
            <a:ext cx="2057400"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50" u="none" cap="none" strike="noStrike">
                <a:solidFill>
                  <a:srgbClr val="64748B"/>
                </a:solidFill>
                <a:latin typeface="Arial"/>
                <a:ea typeface="Arial"/>
                <a:cs typeface="Arial"/>
                <a:sym typeface="Arial"/>
              </a:rPr>
              <a:t>Misclassified  •  −18.26 pp</a:t>
            </a:r>
            <a:endParaRPr/>
          </a:p>
        </p:txBody>
      </p:sp>
      <p:sp>
        <p:nvSpPr>
          <p:cNvPr id="583" name="Google Shape;583;p9"/>
          <p:cNvSpPr/>
          <p:nvPr/>
        </p:nvSpPr>
        <p:spPr>
          <a:xfrm>
            <a:off x="8229600" y="2011680"/>
            <a:ext cx="347472" cy="274320"/>
          </a:xfrm>
          <a:prstGeom prst="chevron">
            <a:avLst>
              <a:gd fmla="val 50000" name="adj"/>
            </a:avLst>
          </a:prstGeom>
          <a:solidFill>
            <a:srgbClr val="CBD5E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4" name="Google Shape;584;p9"/>
          <p:cNvSpPr/>
          <p:nvPr/>
        </p:nvSpPr>
        <p:spPr>
          <a:xfrm>
            <a:off x="626364" y="3131820"/>
            <a:ext cx="11000232" cy="2990088"/>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5" name="Google Shape;585;p9"/>
          <p:cNvSpPr/>
          <p:nvPr/>
        </p:nvSpPr>
        <p:spPr>
          <a:xfrm>
            <a:off x="594360" y="3090672"/>
            <a:ext cx="11000232" cy="2990088"/>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6" name="Google Shape;586;p9"/>
          <p:cNvSpPr/>
          <p:nvPr/>
        </p:nvSpPr>
        <p:spPr>
          <a:xfrm>
            <a:off x="594360" y="3108960"/>
            <a:ext cx="50292" cy="2953512"/>
          </a:xfrm>
          <a:prstGeom prst="rect">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7" name="Google Shape;587;p9"/>
          <p:cNvSpPr txBox="1"/>
          <p:nvPr/>
        </p:nvSpPr>
        <p:spPr>
          <a:xfrm>
            <a:off x="813816" y="3291840"/>
            <a:ext cx="10588752"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20" u="none" cap="none" strike="noStrike">
                <a:solidFill>
                  <a:srgbClr val="1E293B"/>
                </a:solidFill>
                <a:latin typeface="Arial"/>
                <a:ea typeface="Arial"/>
                <a:cs typeface="Arial"/>
                <a:sym typeface="Arial"/>
              </a:rPr>
              <a:t>Theoretical Dataset Ceiling  /  Ambiguous Written Language</a:t>
            </a:r>
            <a:endParaRPr/>
          </a:p>
        </p:txBody>
      </p:sp>
      <p:sp>
        <p:nvSpPr>
          <p:cNvPr id="588" name="Google Shape;588;p9"/>
          <p:cNvSpPr/>
          <p:nvPr/>
        </p:nvSpPr>
        <p:spPr>
          <a:xfrm>
            <a:off x="859536" y="3840480"/>
            <a:ext cx="3154680" cy="1664208"/>
          </a:xfrm>
          <a:prstGeom prst="roundRect">
            <a:avLst>
              <a:gd fmla="val 16667" name="adj"/>
            </a:avLst>
          </a:prstGeom>
          <a:solidFill>
            <a:srgbClr val="FEF3C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9" name="Google Shape;589;p9"/>
          <p:cNvSpPr txBox="1"/>
          <p:nvPr/>
        </p:nvSpPr>
        <p:spPr>
          <a:xfrm>
            <a:off x="1051560" y="4014215"/>
            <a:ext cx="2606040" cy="1828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40" u="none" cap="none" strike="noStrike">
                <a:solidFill>
                  <a:srgbClr val="A16207"/>
                </a:solidFill>
                <a:latin typeface="Arial"/>
                <a:ea typeface="Arial"/>
                <a:cs typeface="Arial"/>
                <a:sym typeface="Arial"/>
              </a:rPr>
              <a:t>TOP CONFUSION PAIR</a:t>
            </a:r>
            <a:endParaRPr/>
          </a:p>
        </p:txBody>
      </p:sp>
      <p:sp>
        <p:nvSpPr>
          <p:cNvPr id="590" name="Google Shape;590;p9"/>
          <p:cNvSpPr txBox="1"/>
          <p:nvPr/>
        </p:nvSpPr>
        <p:spPr>
          <a:xfrm>
            <a:off x="1051560" y="4315968"/>
            <a:ext cx="2560320" cy="3474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000" u="none" cap="none" strike="noStrike">
                <a:solidFill>
                  <a:srgbClr val="1E293B"/>
                </a:solidFill>
                <a:latin typeface="Arial"/>
                <a:ea typeface="Arial"/>
                <a:cs typeface="Arial"/>
                <a:sym typeface="Arial"/>
              </a:rPr>
              <a:t>Beirut  ↔  Doha</a:t>
            </a:r>
            <a:endParaRPr/>
          </a:p>
        </p:txBody>
      </p:sp>
      <p:sp>
        <p:nvSpPr>
          <p:cNvPr id="591" name="Google Shape;591;p9"/>
          <p:cNvSpPr txBox="1"/>
          <p:nvPr/>
        </p:nvSpPr>
        <p:spPr>
          <a:xfrm>
            <a:off x="1051560" y="4754880"/>
            <a:ext cx="2606040" cy="50292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19" u="none" cap="none" strike="noStrike">
                <a:solidFill>
                  <a:srgbClr val="1E293B"/>
                </a:solidFill>
                <a:latin typeface="Arial"/>
                <a:ea typeface="Arial"/>
                <a:cs typeface="Arial"/>
                <a:sym typeface="Arial"/>
              </a:rPr>
              <a:t>91 mutual errors; shared Levantine/Gulf vocabulary in unvocalized text.</a:t>
            </a:r>
            <a:endParaRPr/>
          </a:p>
        </p:txBody>
      </p:sp>
      <p:sp>
        <p:nvSpPr>
          <p:cNvPr id="592" name="Google Shape;592;p9"/>
          <p:cNvSpPr txBox="1"/>
          <p:nvPr/>
        </p:nvSpPr>
        <p:spPr>
          <a:xfrm>
            <a:off x="4315968" y="3822191"/>
            <a:ext cx="530352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40" u="none" cap="none" strike="noStrike">
                <a:solidFill>
                  <a:srgbClr val="2563EB"/>
                </a:solidFill>
                <a:latin typeface="Arial"/>
                <a:ea typeface="Arial"/>
                <a:cs typeface="Arial"/>
                <a:sym typeface="Arial"/>
              </a:rPr>
              <a:t>EXAMPLE 1  /  A MODEL-RESCUED CASE</a:t>
            </a:r>
            <a:endParaRPr/>
          </a:p>
        </p:txBody>
      </p:sp>
      <p:sp>
        <p:nvSpPr>
          <p:cNvPr id="593" name="Google Shape;593;p9"/>
          <p:cNvSpPr txBox="1"/>
          <p:nvPr/>
        </p:nvSpPr>
        <p:spPr>
          <a:xfrm>
            <a:off x="4315968" y="4087368"/>
            <a:ext cx="6309360" cy="2560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40" u="none" cap="none" strike="noStrike">
                <a:solidFill>
                  <a:srgbClr val="1E293B"/>
                </a:solidFill>
                <a:latin typeface="Arial"/>
                <a:ea typeface="Arial"/>
                <a:cs typeface="Arial"/>
                <a:sym typeface="Arial"/>
              </a:rPr>
              <a:t>“شورايك بعشره دولار للتلاته”</a:t>
            </a:r>
            <a:endParaRPr/>
          </a:p>
        </p:txBody>
      </p:sp>
      <p:sp>
        <p:nvSpPr>
          <p:cNvPr id="594" name="Google Shape;594;p9"/>
          <p:cNvSpPr txBox="1"/>
          <p:nvPr/>
        </p:nvSpPr>
        <p:spPr>
          <a:xfrm>
            <a:off x="4315968" y="4389120"/>
            <a:ext cx="6400800"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00" u="none" cap="none" strike="noStrike">
                <a:solidFill>
                  <a:srgbClr val="16A34A"/>
                </a:solidFill>
                <a:latin typeface="Arial"/>
                <a:ea typeface="Arial"/>
                <a:cs typeface="Arial"/>
                <a:sym typeface="Arial"/>
              </a:rPr>
              <a:t>Stacking → Doha     |     MARBERTv2 → Beirut (97.92% confidence)</a:t>
            </a:r>
            <a:endParaRPr/>
          </a:p>
        </p:txBody>
      </p:sp>
      <p:cxnSp>
        <p:nvCxnSpPr>
          <p:cNvPr id="595" name="Google Shape;595;p9"/>
          <p:cNvCxnSpPr/>
          <p:nvPr/>
        </p:nvCxnSpPr>
        <p:spPr>
          <a:xfrm>
            <a:off x="4315968" y="4736592"/>
            <a:ext cx="6858000" cy="0"/>
          </a:xfrm>
          <a:prstGeom prst="straightConnector1">
            <a:avLst/>
          </a:prstGeom>
          <a:noFill/>
          <a:ln cap="flat" cmpd="sng" w="10150">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596" name="Google Shape;596;p9"/>
          <p:cNvSpPr txBox="1"/>
          <p:nvPr/>
        </p:nvSpPr>
        <p:spPr>
          <a:xfrm>
            <a:off x="4315968" y="4873752"/>
            <a:ext cx="530352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40" u="none" cap="none" strike="noStrike">
                <a:solidFill>
                  <a:srgbClr val="EC4899"/>
                </a:solidFill>
                <a:latin typeface="Arial"/>
                <a:ea typeface="Arial"/>
                <a:cs typeface="Arial"/>
                <a:sym typeface="Arial"/>
              </a:rPr>
              <a:t>EXAMPLE 2  /  NATURAL AMBIGUITY</a:t>
            </a:r>
            <a:endParaRPr/>
          </a:p>
        </p:txBody>
      </p:sp>
      <p:sp>
        <p:nvSpPr>
          <p:cNvPr id="597" name="Google Shape;597;p9"/>
          <p:cNvSpPr txBox="1"/>
          <p:nvPr/>
        </p:nvSpPr>
        <p:spPr>
          <a:xfrm>
            <a:off x="4315968" y="5138928"/>
            <a:ext cx="6355080" cy="26517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00" u="none" cap="none" strike="noStrike">
                <a:solidFill>
                  <a:srgbClr val="1E293B"/>
                </a:solidFill>
                <a:latin typeface="Arial"/>
                <a:ea typeface="Arial"/>
                <a:cs typeface="Arial"/>
                <a:sym typeface="Arial"/>
              </a:rPr>
              <a:t>“تاني تقاطع عاليمين”  •  “ايوه مسموح”</a:t>
            </a:r>
            <a:endParaRPr/>
          </a:p>
        </p:txBody>
      </p:sp>
      <p:sp>
        <p:nvSpPr>
          <p:cNvPr id="598" name="Google Shape;598;p9"/>
          <p:cNvSpPr txBox="1"/>
          <p:nvPr/>
        </p:nvSpPr>
        <p:spPr>
          <a:xfrm>
            <a:off x="4315968" y="5468112"/>
            <a:ext cx="6400800" cy="32918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00" u="none" cap="none" strike="noStrike">
                <a:solidFill>
                  <a:srgbClr val="64748B"/>
                </a:solidFill>
                <a:latin typeface="Arial"/>
                <a:ea typeface="Arial"/>
                <a:cs typeface="Arial"/>
                <a:sym typeface="Arial"/>
              </a:rPr>
              <a:t>Everyday phrases can occur in Cairo, Beirut, and Doha; text alone may not resolve the label.</a:t>
            </a:r>
            <a:endParaRPr/>
          </a:p>
        </p:txBody>
      </p:sp>
      <p:cxnSp>
        <p:nvCxnSpPr>
          <p:cNvPr id="599" name="Google Shape;599;p9"/>
          <p:cNvCxnSpPr/>
          <p:nvPr/>
        </p:nvCxnSpPr>
        <p:spPr>
          <a:xfrm>
            <a:off x="594360" y="6473952"/>
            <a:ext cx="11000232" cy="0"/>
          </a:xfrm>
          <a:prstGeom prst="straightConnector1">
            <a:avLst/>
          </a:prstGeom>
          <a:noFill/>
          <a:ln cap="flat" cmpd="sng" w="9525">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600" name="Google Shape;600;p9"/>
          <p:cNvSpPr txBox="1"/>
          <p:nvPr/>
        </p:nvSpPr>
        <p:spPr>
          <a:xfrm>
            <a:off x="603504" y="6547104"/>
            <a:ext cx="45720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64748B"/>
                </a:solidFill>
                <a:latin typeface="Arial"/>
                <a:ea typeface="Arial"/>
                <a:cs typeface="Arial"/>
                <a:sym typeface="Arial"/>
              </a:rPr>
              <a:t>ARABIC DIALECT CLASSIFICATION</a:t>
            </a:r>
            <a:endParaRPr/>
          </a:p>
        </p:txBody>
      </p:sp>
      <p:sp>
        <p:nvSpPr>
          <p:cNvPr id="601" name="Google Shape;601;p9"/>
          <p:cNvSpPr txBox="1"/>
          <p:nvPr/>
        </p:nvSpPr>
        <p:spPr>
          <a:xfrm>
            <a:off x="10652760" y="6528816"/>
            <a:ext cx="914400" cy="18288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850" u="none" cap="none" strike="noStrike">
                <a:solidFill>
                  <a:srgbClr val="64748B"/>
                </a:solidFill>
                <a:latin typeface="Arial"/>
                <a:ea typeface="Arial"/>
                <a:cs typeface="Arial"/>
                <a:sym typeface="Arial"/>
              </a:rPr>
              <a:t>09  /  12</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06" name="Shape 606"/>
        <p:cNvGrpSpPr/>
        <p:nvPr/>
      </p:nvGrpSpPr>
      <p:grpSpPr>
        <a:xfrm>
          <a:off x="0" y="0"/>
          <a:ext cx="0" cy="0"/>
          <a:chOff x="0" y="0"/>
          <a:chExt cx="0" cy="0"/>
        </a:xfrm>
      </p:grpSpPr>
      <p:sp>
        <p:nvSpPr>
          <p:cNvPr id="607" name="Google Shape;607;p10"/>
          <p:cNvSpPr/>
          <p:nvPr/>
        </p:nvSpPr>
        <p:spPr>
          <a:xfrm>
            <a:off x="0" y="0"/>
            <a:ext cx="12191695" cy="128016"/>
          </a:xfrm>
          <a:prstGeom prst="rect">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8" name="Google Shape;608;p10"/>
          <p:cNvSpPr/>
          <p:nvPr/>
        </p:nvSpPr>
        <p:spPr>
          <a:xfrm>
            <a:off x="0" y="0"/>
            <a:ext cx="2011680" cy="12801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9" name="Google Shape;609;p10"/>
          <p:cNvSpPr txBox="1"/>
          <p:nvPr/>
        </p:nvSpPr>
        <p:spPr>
          <a:xfrm>
            <a:off x="603504" y="274320"/>
            <a:ext cx="27432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2563EB"/>
                </a:solidFill>
                <a:latin typeface="Arial"/>
                <a:ea typeface="Arial"/>
                <a:cs typeface="Arial"/>
                <a:sym typeface="Arial"/>
              </a:rPr>
              <a:t>DEPLOYMENT</a:t>
            </a:r>
            <a:endParaRPr/>
          </a:p>
        </p:txBody>
      </p:sp>
      <p:sp>
        <p:nvSpPr>
          <p:cNvPr id="610" name="Google Shape;610;p10"/>
          <p:cNvSpPr txBox="1"/>
          <p:nvPr/>
        </p:nvSpPr>
        <p:spPr>
          <a:xfrm>
            <a:off x="594360" y="521207"/>
            <a:ext cx="10972800" cy="53035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800" u="none" cap="none" strike="noStrike">
                <a:solidFill>
                  <a:srgbClr val="0F172A"/>
                </a:solidFill>
                <a:latin typeface="Arial"/>
                <a:ea typeface="Arial"/>
                <a:cs typeface="Arial"/>
                <a:sym typeface="Arial"/>
              </a:rPr>
              <a:t>Production Web Platform (Streamlit &amp; Ngrok Deployment)</a:t>
            </a:r>
            <a:endParaRPr/>
          </a:p>
        </p:txBody>
      </p:sp>
      <p:sp>
        <p:nvSpPr>
          <p:cNvPr id="611" name="Google Shape;611;p10"/>
          <p:cNvSpPr/>
          <p:nvPr/>
        </p:nvSpPr>
        <p:spPr>
          <a:xfrm>
            <a:off x="11411712" y="347472"/>
            <a:ext cx="164592" cy="164592"/>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2" name="Google Shape;612;p10"/>
          <p:cNvSpPr/>
          <p:nvPr/>
        </p:nvSpPr>
        <p:spPr>
          <a:xfrm>
            <a:off x="11612880" y="347472"/>
            <a:ext cx="164592" cy="16459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3" name="Google Shape;613;p10"/>
          <p:cNvSpPr/>
          <p:nvPr/>
        </p:nvSpPr>
        <p:spPr>
          <a:xfrm>
            <a:off x="11814048" y="347472"/>
            <a:ext cx="164592" cy="164592"/>
          </a:xfrm>
          <a:prstGeom prst="ellipse">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4" name="Google Shape;614;p10"/>
          <p:cNvSpPr/>
          <p:nvPr/>
        </p:nvSpPr>
        <p:spPr>
          <a:xfrm>
            <a:off x="626364" y="1394460"/>
            <a:ext cx="5614416" cy="4700016"/>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5" name="Google Shape;615;p10"/>
          <p:cNvSpPr/>
          <p:nvPr/>
        </p:nvSpPr>
        <p:spPr>
          <a:xfrm>
            <a:off x="594360" y="1353312"/>
            <a:ext cx="5614416" cy="4700016"/>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6" name="Google Shape;616;p10"/>
          <p:cNvSpPr/>
          <p:nvPr/>
        </p:nvSpPr>
        <p:spPr>
          <a:xfrm>
            <a:off x="594360" y="1371600"/>
            <a:ext cx="50292" cy="4663440"/>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7" name="Google Shape;617;p10"/>
          <p:cNvSpPr txBox="1"/>
          <p:nvPr/>
        </p:nvSpPr>
        <p:spPr>
          <a:xfrm>
            <a:off x="813816" y="1554480"/>
            <a:ext cx="5202936"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50" u="none" cap="none" strike="noStrike">
                <a:solidFill>
                  <a:srgbClr val="1E293B"/>
                </a:solidFill>
                <a:latin typeface="Arial"/>
                <a:ea typeface="Arial"/>
                <a:cs typeface="Arial"/>
                <a:sym typeface="Arial"/>
              </a:rPr>
              <a:t>Three Modes in the Web App</a:t>
            </a:r>
            <a:endParaRPr/>
          </a:p>
        </p:txBody>
      </p:sp>
      <p:sp>
        <p:nvSpPr>
          <p:cNvPr id="618" name="Google Shape;618;p10"/>
          <p:cNvSpPr/>
          <p:nvPr/>
        </p:nvSpPr>
        <p:spPr>
          <a:xfrm>
            <a:off x="877824" y="1993392"/>
            <a:ext cx="5056632" cy="1024128"/>
          </a:xfrm>
          <a:prstGeom prst="roundRect">
            <a:avLst>
              <a:gd fmla="val 16667" name="adj"/>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9" name="Google Shape;619;p10"/>
          <p:cNvSpPr/>
          <p:nvPr/>
        </p:nvSpPr>
        <p:spPr>
          <a:xfrm>
            <a:off x="1024128" y="2185416"/>
            <a:ext cx="438912" cy="438912"/>
          </a:xfrm>
          <a:prstGeom prst="ellipse">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0" name="Google Shape;620;p10"/>
          <p:cNvSpPr txBox="1"/>
          <p:nvPr/>
        </p:nvSpPr>
        <p:spPr>
          <a:xfrm>
            <a:off x="1033271" y="2313432"/>
            <a:ext cx="420624" cy="1371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F8FAFC"/>
                </a:solidFill>
                <a:latin typeface="Arial"/>
                <a:ea typeface="Arial"/>
                <a:cs typeface="Arial"/>
                <a:sym typeface="Arial"/>
              </a:rPr>
              <a:t>01</a:t>
            </a:r>
            <a:endParaRPr/>
          </a:p>
        </p:txBody>
      </p:sp>
      <p:sp>
        <p:nvSpPr>
          <p:cNvPr id="621" name="Google Shape;621;p10"/>
          <p:cNvSpPr txBox="1"/>
          <p:nvPr/>
        </p:nvSpPr>
        <p:spPr>
          <a:xfrm>
            <a:off x="1645920" y="2148840"/>
            <a:ext cx="3950208"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50" u="none" cap="none" strike="noStrike">
                <a:solidFill>
                  <a:srgbClr val="1E293B"/>
                </a:solidFill>
                <a:latin typeface="Arial"/>
                <a:ea typeface="Arial"/>
                <a:cs typeface="Arial"/>
                <a:sym typeface="Arial"/>
              </a:rPr>
              <a:t>Single Sentence Analysis</a:t>
            </a:r>
            <a:endParaRPr/>
          </a:p>
        </p:txBody>
      </p:sp>
      <p:sp>
        <p:nvSpPr>
          <p:cNvPr id="622" name="Google Shape;622;p10"/>
          <p:cNvSpPr txBox="1"/>
          <p:nvPr/>
        </p:nvSpPr>
        <p:spPr>
          <a:xfrm>
            <a:off x="1645920" y="2432304"/>
            <a:ext cx="3950208"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40" u="none" cap="none" strike="noStrike">
                <a:solidFill>
                  <a:srgbClr val="64748B"/>
                </a:solidFill>
                <a:latin typeface="Arial"/>
                <a:ea typeface="Arial"/>
                <a:cs typeface="Arial"/>
                <a:sym typeface="Arial"/>
              </a:rPr>
              <a:t>Normalize text, return top dialect + confidence, and show probability bars for all five classes. Smart linguistic alert when confidence &lt;45%.</a:t>
            </a:r>
            <a:endParaRPr/>
          </a:p>
        </p:txBody>
      </p:sp>
      <p:sp>
        <p:nvSpPr>
          <p:cNvPr id="623" name="Google Shape;623;p10"/>
          <p:cNvSpPr/>
          <p:nvPr/>
        </p:nvSpPr>
        <p:spPr>
          <a:xfrm>
            <a:off x="877824" y="3236976"/>
            <a:ext cx="5056632" cy="1024128"/>
          </a:xfrm>
          <a:prstGeom prst="roundRect">
            <a:avLst>
              <a:gd fmla="val 16667" name="adj"/>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4" name="Google Shape;624;p10"/>
          <p:cNvSpPr/>
          <p:nvPr/>
        </p:nvSpPr>
        <p:spPr>
          <a:xfrm>
            <a:off x="1024128" y="3429000"/>
            <a:ext cx="438912" cy="43891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5" name="Google Shape;625;p10"/>
          <p:cNvSpPr txBox="1"/>
          <p:nvPr/>
        </p:nvSpPr>
        <p:spPr>
          <a:xfrm>
            <a:off x="1033271" y="3557016"/>
            <a:ext cx="420624" cy="1371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F8FAFC"/>
                </a:solidFill>
                <a:latin typeface="Arial"/>
                <a:ea typeface="Arial"/>
                <a:cs typeface="Arial"/>
                <a:sym typeface="Arial"/>
              </a:rPr>
              <a:t>02</a:t>
            </a:r>
            <a:endParaRPr/>
          </a:p>
        </p:txBody>
      </p:sp>
      <p:sp>
        <p:nvSpPr>
          <p:cNvPr id="626" name="Google Shape;626;p10"/>
          <p:cNvSpPr txBox="1"/>
          <p:nvPr/>
        </p:nvSpPr>
        <p:spPr>
          <a:xfrm>
            <a:off x="1645920" y="3392424"/>
            <a:ext cx="3950208"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50" u="none" cap="none" strike="noStrike">
                <a:solidFill>
                  <a:srgbClr val="1E293B"/>
                </a:solidFill>
                <a:latin typeface="Arial"/>
                <a:ea typeface="Arial"/>
                <a:cs typeface="Arial"/>
                <a:sym typeface="Arial"/>
              </a:rPr>
              <a:t>Head-to-Head Comparison</a:t>
            </a:r>
            <a:endParaRPr/>
          </a:p>
        </p:txBody>
      </p:sp>
      <p:sp>
        <p:nvSpPr>
          <p:cNvPr id="627" name="Google Shape;627;p10"/>
          <p:cNvSpPr txBox="1"/>
          <p:nvPr/>
        </p:nvSpPr>
        <p:spPr>
          <a:xfrm>
            <a:off x="1645920" y="3675887"/>
            <a:ext cx="3950208"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40" u="none" cap="none" strike="noStrike">
                <a:solidFill>
                  <a:srgbClr val="64748B"/>
                </a:solidFill>
                <a:latin typeface="Arial"/>
                <a:ea typeface="Arial"/>
                <a:cs typeface="Arial"/>
                <a:sym typeface="Arial"/>
              </a:rPr>
              <a:t>Run MARBERTv2 and AraBERTv02 side by side for a live comparison (92.25% vs. 91.03% reported benchmark).</a:t>
            </a:r>
            <a:endParaRPr/>
          </a:p>
        </p:txBody>
      </p:sp>
      <p:sp>
        <p:nvSpPr>
          <p:cNvPr id="628" name="Google Shape;628;p10"/>
          <p:cNvSpPr/>
          <p:nvPr/>
        </p:nvSpPr>
        <p:spPr>
          <a:xfrm>
            <a:off x="877824" y="4480560"/>
            <a:ext cx="5056632" cy="1024128"/>
          </a:xfrm>
          <a:prstGeom prst="roundRect">
            <a:avLst>
              <a:gd fmla="val 16667" name="adj"/>
            </a:avLst>
          </a:prstGeom>
          <a:solidFill>
            <a:srgbClr val="F8FAFC"/>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9" name="Google Shape;629;p10"/>
          <p:cNvSpPr/>
          <p:nvPr/>
        </p:nvSpPr>
        <p:spPr>
          <a:xfrm>
            <a:off x="1024128" y="4672584"/>
            <a:ext cx="438912" cy="438912"/>
          </a:xfrm>
          <a:prstGeom prst="ellipse">
            <a:avLst/>
          </a:prstGeom>
          <a:solidFill>
            <a:srgbClr val="16A3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0" name="Google Shape;630;p10"/>
          <p:cNvSpPr txBox="1"/>
          <p:nvPr/>
        </p:nvSpPr>
        <p:spPr>
          <a:xfrm>
            <a:off x="1033271" y="4800600"/>
            <a:ext cx="420624" cy="1371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F8FAFC"/>
                </a:solidFill>
                <a:latin typeface="Arial"/>
                <a:ea typeface="Arial"/>
                <a:cs typeface="Arial"/>
                <a:sym typeface="Arial"/>
              </a:rPr>
              <a:t>03</a:t>
            </a:r>
            <a:endParaRPr/>
          </a:p>
        </p:txBody>
      </p:sp>
      <p:sp>
        <p:nvSpPr>
          <p:cNvPr id="631" name="Google Shape;631;p10"/>
          <p:cNvSpPr txBox="1"/>
          <p:nvPr/>
        </p:nvSpPr>
        <p:spPr>
          <a:xfrm>
            <a:off x="1645920" y="4636008"/>
            <a:ext cx="3950208"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50" u="none" cap="none" strike="noStrike">
                <a:solidFill>
                  <a:srgbClr val="1E293B"/>
                </a:solidFill>
                <a:latin typeface="Arial"/>
                <a:ea typeface="Arial"/>
                <a:cs typeface="Arial"/>
                <a:sym typeface="Arial"/>
              </a:rPr>
              <a:t>Batch CSV Inference</a:t>
            </a:r>
            <a:endParaRPr/>
          </a:p>
        </p:txBody>
      </p:sp>
      <p:sp>
        <p:nvSpPr>
          <p:cNvPr id="632" name="Google Shape;632;p10"/>
          <p:cNvSpPr txBox="1"/>
          <p:nvPr/>
        </p:nvSpPr>
        <p:spPr>
          <a:xfrm>
            <a:off x="1645920" y="4919472"/>
            <a:ext cx="3950208" cy="457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40" u="none" cap="none" strike="noStrike">
                <a:solidFill>
                  <a:srgbClr val="64748B"/>
                </a:solidFill>
                <a:latin typeface="Arial"/>
                <a:ea typeface="Arial"/>
                <a:cs typeface="Arial"/>
                <a:sym typeface="Arial"/>
              </a:rPr>
              <a:t>Upload a CSV with a `text` column, classify hundreds of rows on GPU, then download UTF-8 results.</a:t>
            </a:r>
            <a:endParaRPr/>
          </a:p>
        </p:txBody>
      </p:sp>
      <p:cxnSp>
        <p:nvCxnSpPr>
          <p:cNvPr id="633" name="Google Shape;633;p10"/>
          <p:cNvCxnSpPr/>
          <p:nvPr/>
        </p:nvCxnSpPr>
        <p:spPr>
          <a:xfrm>
            <a:off x="594360" y="6473952"/>
            <a:ext cx="11000232" cy="0"/>
          </a:xfrm>
          <a:prstGeom prst="straightConnector1">
            <a:avLst/>
          </a:prstGeom>
          <a:noFill/>
          <a:ln cap="flat" cmpd="sng" w="9525">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634" name="Google Shape;634;p10"/>
          <p:cNvSpPr txBox="1"/>
          <p:nvPr/>
        </p:nvSpPr>
        <p:spPr>
          <a:xfrm>
            <a:off x="603504" y="6547104"/>
            <a:ext cx="45720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64748B"/>
                </a:solidFill>
                <a:latin typeface="Arial"/>
                <a:ea typeface="Arial"/>
                <a:cs typeface="Arial"/>
                <a:sym typeface="Arial"/>
              </a:rPr>
              <a:t>ARABIC DIALECT CLASSIFICATION</a:t>
            </a:r>
            <a:endParaRPr/>
          </a:p>
        </p:txBody>
      </p:sp>
      <p:sp>
        <p:nvSpPr>
          <p:cNvPr id="635" name="Google Shape;635;p10"/>
          <p:cNvSpPr txBox="1"/>
          <p:nvPr/>
        </p:nvSpPr>
        <p:spPr>
          <a:xfrm>
            <a:off x="10652760" y="6528816"/>
            <a:ext cx="914400" cy="18288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850" u="none" cap="none" strike="noStrike">
                <a:solidFill>
                  <a:srgbClr val="64748B"/>
                </a:solidFill>
                <a:latin typeface="Arial"/>
                <a:ea typeface="Arial"/>
                <a:cs typeface="Arial"/>
                <a:sym typeface="Arial"/>
              </a:rPr>
              <a:t>10  /  12</a:t>
            </a:r>
            <a:endParaRPr/>
          </a:p>
        </p:txBody>
      </p:sp>
      <p:pic>
        <p:nvPicPr>
          <p:cNvPr id="636" name="Google Shape;636;p10"/>
          <p:cNvPicPr preferRelativeResize="0"/>
          <p:nvPr/>
        </p:nvPicPr>
        <p:blipFill rotWithShape="1">
          <a:blip r:embed="rId3">
            <a:alphaModFix/>
          </a:blip>
          <a:srcRect b="0" l="0" r="0" t="0"/>
          <a:stretch/>
        </p:blipFill>
        <p:spPr>
          <a:xfrm>
            <a:off x="6702552" y="1371599"/>
            <a:ext cx="5111496" cy="473659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AFC"/>
        </a:solidFill>
      </p:bgPr>
    </p:bg>
    <p:spTree>
      <p:nvGrpSpPr>
        <p:cNvPr id="641" name="Shape 641"/>
        <p:cNvGrpSpPr/>
        <p:nvPr/>
      </p:nvGrpSpPr>
      <p:grpSpPr>
        <a:xfrm>
          <a:off x="0" y="0"/>
          <a:ext cx="0" cy="0"/>
          <a:chOff x="0" y="0"/>
          <a:chExt cx="0" cy="0"/>
        </a:xfrm>
      </p:grpSpPr>
      <p:sp>
        <p:nvSpPr>
          <p:cNvPr id="642" name="Google Shape;642;p11"/>
          <p:cNvSpPr/>
          <p:nvPr/>
        </p:nvSpPr>
        <p:spPr>
          <a:xfrm>
            <a:off x="0" y="0"/>
            <a:ext cx="12191695" cy="128016"/>
          </a:xfrm>
          <a:prstGeom prst="rect">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3" name="Google Shape;643;p11"/>
          <p:cNvSpPr/>
          <p:nvPr/>
        </p:nvSpPr>
        <p:spPr>
          <a:xfrm>
            <a:off x="0" y="0"/>
            <a:ext cx="2011680" cy="128016"/>
          </a:xfrm>
          <a:prstGeom prst="rect">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4" name="Google Shape;644;p11"/>
          <p:cNvSpPr txBox="1"/>
          <p:nvPr/>
        </p:nvSpPr>
        <p:spPr>
          <a:xfrm>
            <a:off x="603504" y="274320"/>
            <a:ext cx="274320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2563EB"/>
                </a:solidFill>
                <a:latin typeface="Arial"/>
                <a:ea typeface="Arial"/>
                <a:cs typeface="Arial"/>
                <a:sym typeface="Arial"/>
              </a:rPr>
              <a:t>TAKEAWAYS</a:t>
            </a:r>
            <a:endParaRPr/>
          </a:p>
        </p:txBody>
      </p:sp>
      <p:sp>
        <p:nvSpPr>
          <p:cNvPr id="645" name="Google Shape;645;p11"/>
          <p:cNvSpPr txBox="1"/>
          <p:nvPr/>
        </p:nvSpPr>
        <p:spPr>
          <a:xfrm>
            <a:off x="594360" y="521207"/>
            <a:ext cx="10972800" cy="53035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800" u="none" cap="none" strike="noStrike">
                <a:solidFill>
                  <a:srgbClr val="0F172A"/>
                </a:solidFill>
                <a:latin typeface="Arial"/>
                <a:ea typeface="Arial"/>
                <a:cs typeface="Arial"/>
                <a:sym typeface="Arial"/>
              </a:rPr>
              <a:t>Conclusion &amp; Future Directions</a:t>
            </a:r>
            <a:endParaRPr/>
          </a:p>
        </p:txBody>
      </p:sp>
      <p:sp>
        <p:nvSpPr>
          <p:cNvPr id="646" name="Google Shape;646;p11"/>
          <p:cNvSpPr/>
          <p:nvPr/>
        </p:nvSpPr>
        <p:spPr>
          <a:xfrm>
            <a:off x="11411712" y="347472"/>
            <a:ext cx="164592" cy="164592"/>
          </a:xfrm>
          <a:prstGeom prst="ellipse">
            <a:avLst/>
          </a:prstGeom>
          <a:solidFill>
            <a:srgbClr val="38BD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7" name="Google Shape;647;p11"/>
          <p:cNvSpPr/>
          <p:nvPr/>
        </p:nvSpPr>
        <p:spPr>
          <a:xfrm>
            <a:off x="11612880" y="347472"/>
            <a:ext cx="164592" cy="16459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11"/>
          <p:cNvSpPr/>
          <p:nvPr/>
        </p:nvSpPr>
        <p:spPr>
          <a:xfrm>
            <a:off x="11814048" y="347472"/>
            <a:ext cx="164592" cy="164592"/>
          </a:xfrm>
          <a:prstGeom prst="ellipse">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9" name="Google Shape;649;p11"/>
          <p:cNvSpPr/>
          <p:nvPr/>
        </p:nvSpPr>
        <p:spPr>
          <a:xfrm>
            <a:off x="626364" y="1394460"/>
            <a:ext cx="5394960" cy="4754880"/>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0" name="Google Shape;650;p11"/>
          <p:cNvSpPr/>
          <p:nvPr/>
        </p:nvSpPr>
        <p:spPr>
          <a:xfrm>
            <a:off x="594360" y="1353312"/>
            <a:ext cx="5394960" cy="4754880"/>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1" name="Google Shape;651;p11"/>
          <p:cNvSpPr/>
          <p:nvPr/>
        </p:nvSpPr>
        <p:spPr>
          <a:xfrm>
            <a:off x="594360" y="1371600"/>
            <a:ext cx="50292" cy="4718304"/>
          </a:xfrm>
          <a:prstGeom prst="rect">
            <a:avLst/>
          </a:prstGeom>
          <a:solidFill>
            <a:srgbClr val="16A3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2" name="Google Shape;652;p11"/>
          <p:cNvSpPr txBox="1"/>
          <p:nvPr/>
        </p:nvSpPr>
        <p:spPr>
          <a:xfrm>
            <a:off x="813816" y="1554480"/>
            <a:ext cx="4983480"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700" u="none" cap="none" strike="noStrike">
                <a:solidFill>
                  <a:srgbClr val="1E293B"/>
                </a:solidFill>
                <a:latin typeface="Arial"/>
                <a:ea typeface="Arial"/>
                <a:cs typeface="Arial"/>
                <a:sym typeface="Arial"/>
              </a:rPr>
              <a:t>What We Achieved</a:t>
            </a:r>
            <a:endParaRPr/>
          </a:p>
        </p:txBody>
      </p:sp>
      <p:sp>
        <p:nvSpPr>
          <p:cNvPr id="653" name="Google Shape;653;p11"/>
          <p:cNvSpPr/>
          <p:nvPr/>
        </p:nvSpPr>
        <p:spPr>
          <a:xfrm>
            <a:off x="896112" y="2029968"/>
            <a:ext cx="411480" cy="411480"/>
          </a:xfrm>
          <a:prstGeom prst="roundRect">
            <a:avLst>
              <a:gd fmla="val 16667" name="adj"/>
            </a:avLst>
          </a:prstGeom>
          <a:solidFill>
            <a:srgbClr val="DCFCE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4" name="Google Shape;654;p11"/>
          <p:cNvSpPr txBox="1"/>
          <p:nvPr/>
        </p:nvSpPr>
        <p:spPr>
          <a:xfrm>
            <a:off x="914400" y="2157984"/>
            <a:ext cx="365760" cy="1371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80" u="none" cap="none" strike="noStrike">
                <a:solidFill>
                  <a:srgbClr val="16A34A"/>
                </a:solidFill>
                <a:latin typeface="Arial"/>
                <a:ea typeface="Arial"/>
                <a:cs typeface="Arial"/>
                <a:sym typeface="Arial"/>
              </a:rPr>
              <a:t>01</a:t>
            </a:r>
            <a:endParaRPr/>
          </a:p>
        </p:txBody>
      </p:sp>
      <p:sp>
        <p:nvSpPr>
          <p:cNvPr id="655" name="Google Shape;655;p11"/>
          <p:cNvSpPr txBox="1"/>
          <p:nvPr/>
        </p:nvSpPr>
        <p:spPr>
          <a:xfrm>
            <a:off x="1508760" y="2029968"/>
            <a:ext cx="4069080" cy="2194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20" u="none" cap="none" strike="noStrike">
                <a:solidFill>
                  <a:srgbClr val="1E293B"/>
                </a:solidFill>
                <a:latin typeface="Arial"/>
                <a:ea typeface="Arial"/>
                <a:cs typeface="Arial"/>
                <a:sym typeface="Arial"/>
              </a:rPr>
              <a:t>Leak-free data pipeline</a:t>
            </a:r>
            <a:endParaRPr/>
          </a:p>
        </p:txBody>
      </p:sp>
      <p:sp>
        <p:nvSpPr>
          <p:cNvPr id="656" name="Google Shape;656;p11"/>
          <p:cNvSpPr txBox="1"/>
          <p:nvPr/>
        </p:nvSpPr>
        <p:spPr>
          <a:xfrm>
            <a:off x="1508760" y="2322576"/>
            <a:ext cx="4069080" cy="58521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30" u="none" cap="none" strike="noStrike">
                <a:solidFill>
                  <a:srgbClr val="64748B"/>
                </a:solidFill>
                <a:latin typeface="Arial"/>
                <a:ea typeface="Arial"/>
                <a:cs typeface="Arial"/>
                <a:sym typeface="Arial"/>
              </a:rPr>
              <a:t>38,963 unique sentences after deduplication and stratified splitting.</a:t>
            </a:r>
            <a:endParaRPr/>
          </a:p>
        </p:txBody>
      </p:sp>
      <p:sp>
        <p:nvSpPr>
          <p:cNvPr id="657" name="Google Shape;657;p11"/>
          <p:cNvSpPr/>
          <p:nvPr/>
        </p:nvSpPr>
        <p:spPr>
          <a:xfrm>
            <a:off x="896112" y="3218688"/>
            <a:ext cx="411480" cy="411480"/>
          </a:xfrm>
          <a:prstGeom prst="roundRect">
            <a:avLst>
              <a:gd fmla="val 16667" name="adj"/>
            </a:avLst>
          </a:prstGeom>
          <a:solidFill>
            <a:srgbClr val="DCFCE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8" name="Google Shape;658;p11"/>
          <p:cNvSpPr txBox="1"/>
          <p:nvPr/>
        </p:nvSpPr>
        <p:spPr>
          <a:xfrm>
            <a:off x="914400" y="3346704"/>
            <a:ext cx="365760" cy="1371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80" u="none" cap="none" strike="noStrike">
                <a:solidFill>
                  <a:srgbClr val="16A34A"/>
                </a:solidFill>
                <a:latin typeface="Arial"/>
                <a:ea typeface="Arial"/>
                <a:cs typeface="Arial"/>
                <a:sym typeface="Arial"/>
              </a:rPr>
              <a:t>02</a:t>
            </a:r>
            <a:endParaRPr/>
          </a:p>
        </p:txBody>
      </p:sp>
      <p:sp>
        <p:nvSpPr>
          <p:cNvPr id="659" name="Google Shape;659;p11"/>
          <p:cNvSpPr txBox="1"/>
          <p:nvPr/>
        </p:nvSpPr>
        <p:spPr>
          <a:xfrm>
            <a:off x="1508760" y="3218688"/>
            <a:ext cx="4069080" cy="2194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20" u="none" cap="none" strike="noStrike">
                <a:solidFill>
                  <a:srgbClr val="1E293B"/>
                </a:solidFill>
                <a:latin typeface="Arial"/>
                <a:ea typeface="Arial"/>
                <a:cs typeface="Arial"/>
                <a:sym typeface="Arial"/>
              </a:rPr>
              <a:t>Best-performing model</a:t>
            </a:r>
            <a:endParaRPr/>
          </a:p>
        </p:txBody>
      </p:sp>
      <p:sp>
        <p:nvSpPr>
          <p:cNvPr id="660" name="Google Shape;660;p11"/>
          <p:cNvSpPr txBox="1"/>
          <p:nvPr/>
        </p:nvSpPr>
        <p:spPr>
          <a:xfrm>
            <a:off x="1508760" y="3511296"/>
            <a:ext cx="4069080" cy="58521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30" u="none" cap="none" strike="noStrike">
                <a:solidFill>
                  <a:srgbClr val="64748B"/>
                </a:solidFill>
                <a:latin typeface="Arial"/>
                <a:ea typeface="Arial"/>
                <a:cs typeface="Arial"/>
                <a:sym typeface="Arial"/>
              </a:rPr>
              <a:t>MARBERTv2 reached 92.25% test accuracy, ahead of AraBERTv02 (91.03% validation) and Stacking (90.93% test).</a:t>
            </a:r>
            <a:endParaRPr/>
          </a:p>
        </p:txBody>
      </p:sp>
      <p:sp>
        <p:nvSpPr>
          <p:cNvPr id="661" name="Google Shape;661;p11"/>
          <p:cNvSpPr/>
          <p:nvPr/>
        </p:nvSpPr>
        <p:spPr>
          <a:xfrm>
            <a:off x="896112" y="4407408"/>
            <a:ext cx="411480" cy="411480"/>
          </a:xfrm>
          <a:prstGeom prst="roundRect">
            <a:avLst>
              <a:gd fmla="val 16667" name="adj"/>
            </a:avLst>
          </a:prstGeom>
          <a:solidFill>
            <a:srgbClr val="DCFCE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2" name="Google Shape;662;p11"/>
          <p:cNvSpPr txBox="1"/>
          <p:nvPr/>
        </p:nvSpPr>
        <p:spPr>
          <a:xfrm>
            <a:off x="914400" y="4535424"/>
            <a:ext cx="365760" cy="1371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80" u="none" cap="none" strike="noStrike">
                <a:solidFill>
                  <a:srgbClr val="16A34A"/>
                </a:solidFill>
                <a:latin typeface="Arial"/>
                <a:ea typeface="Arial"/>
                <a:cs typeface="Arial"/>
                <a:sym typeface="Arial"/>
              </a:rPr>
              <a:t>03</a:t>
            </a:r>
            <a:endParaRPr/>
          </a:p>
        </p:txBody>
      </p:sp>
      <p:sp>
        <p:nvSpPr>
          <p:cNvPr id="663" name="Google Shape;663;p11"/>
          <p:cNvSpPr txBox="1"/>
          <p:nvPr/>
        </p:nvSpPr>
        <p:spPr>
          <a:xfrm>
            <a:off x="1508760" y="4407408"/>
            <a:ext cx="4069080" cy="2194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20" u="none" cap="none" strike="noStrike">
                <a:solidFill>
                  <a:srgbClr val="1E293B"/>
                </a:solidFill>
                <a:latin typeface="Arial"/>
                <a:ea typeface="Arial"/>
                <a:cs typeface="Arial"/>
                <a:sym typeface="Arial"/>
              </a:rPr>
              <a:t>Open-source delivery</a:t>
            </a:r>
            <a:endParaRPr/>
          </a:p>
        </p:txBody>
      </p:sp>
      <p:sp>
        <p:nvSpPr>
          <p:cNvPr id="664" name="Google Shape;664;p11"/>
          <p:cNvSpPr txBox="1"/>
          <p:nvPr/>
        </p:nvSpPr>
        <p:spPr>
          <a:xfrm>
            <a:off x="1508760" y="4700016"/>
            <a:ext cx="4069080" cy="58521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30" u="none" cap="none" strike="noStrike">
                <a:solidFill>
                  <a:srgbClr val="64748B"/>
                </a:solidFill>
                <a:latin typeface="Arial"/>
                <a:ea typeface="Arial"/>
                <a:cs typeface="Arial"/>
                <a:sym typeface="Arial"/>
              </a:rPr>
              <a:t>GitHub documentation, README.md, six modular notebooks, technical report, and bilingual Streamlit apps.</a:t>
            </a:r>
            <a:endParaRPr/>
          </a:p>
        </p:txBody>
      </p:sp>
      <p:sp>
        <p:nvSpPr>
          <p:cNvPr id="665" name="Google Shape;665;p11"/>
          <p:cNvSpPr/>
          <p:nvPr/>
        </p:nvSpPr>
        <p:spPr>
          <a:xfrm>
            <a:off x="6231636" y="1394460"/>
            <a:ext cx="5394960" cy="4754880"/>
          </a:xfrm>
          <a:prstGeom prst="roundRect">
            <a:avLst>
              <a:gd fmla="val 16667" name="adj"/>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6" name="Google Shape;666;p11"/>
          <p:cNvSpPr/>
          <p:nvPr/>
        </p:nvSpPr>
        <p:spPr>
          <a:xfrm>
            <a:off x="6199632" y="1353312"/>
            <a:ext cx="5394960" cy="4754880"/>
          </a:xfrm>
          <a:prstGeom prst="roundRect">
            <a:avLst>
              <a:gd fmla="val 16667" name="adj"/>
            </a:avLst>
          </a:prstGeom>
          <a:solidFill>
            <a:srgbClr val="FFFFFF"/>
          </a:solidFill>
          <a:ln cap="flat" cmpd="sng" w="10150">
            <a:solidFill>
              <a:srgbClr val="CBD5E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7" name="Google Shape;667;p11"/>
          <p:cNvSpPr/>
          <p:nvPr/>
        </p:nvSpPr>
        <p:spPr>
          <a:xfrm>
            <a:off x="6199632" y="1371600"/>
            <a:ext cx="50292" cy="4718304"/>
          </a:xfrm>
          <a:prstGeom prst="rect">
            <a:avLst/>
          </a:prstGeom>
          <a:solidFill>
            <a:srgbClr val="2563EB"/>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8" name="Google Shape;668;p11"/>
          <p:cNvSpPr txBox="1"/>
          <p:nvPr/>
        </p:nvSpPr>
        <p:spPr>
          <a:xfrm>
            <a:off x="6419088" y="1554480"/>
            <a:ext cx="4983480" cy="43891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700" u="none" cap="none" strike="noStrike">
                <a:solidFill>
                  <a:srgbClr val="1E293B"/>
                </a:solidFill>
                <a:latin typeface="Arial"/>
                <a:ea typeface="Arial"/>
                <a:cs typeface="Arial"/>
                <a:sym typeface="Arial"/>
              </a:rPr>
              <a:t>Future Work</a:t>
            </a:r>
            <a:endParaRPr/>
          </a:p>
        </p:txBody>
      </p:sp>
      <p:sp>
        <p:nvSpPr>
          <p:cNvPr id="669" name="Google Shape;669;p11"/>
          <p:cNvSpPr/>
          <p:nvPr/>
        </p:nvSpPr>
        <p:spPr>
          <a:xfrm>
            <a:off x="6510528" y="2029968"/>
            <a:ext cx="411480" cy="411480"/>
          </a:xfrm>
          <a:prstGeom prst="roundRect">
            <a:avLst>
              <a:gd fmla="val 16667" name="adj"/>
            </a:avLst>
          </a:prstGeom>
          <a:solidFill>
            <a:srgbClr val="E0F2F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0" name="Google Shape;670;p11"/>
          <p:cNvSpPr txBox="1"/>
          <p:nvPr/>
        </p:nvSpPr>
        <p:spPr>
          <a:xfrm>
            <a:off x="6528816" y="2157984"/>
            <a:ext cx="365760" cy="1371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80" u="none" cap="none" strike="noStrike">
                <a:solidFill>
                  <a:srgbClr val="38BDF8"/>
                </a:solidFill>
                <a:latin typeface="Arial"/>
                <a:ea typeface="Arial"/>
                <a:cs typeface="Arial"/>
                <a:sym typeface="Arial"/>
              </a:rPr>
              <a:t>01</a:t>
            </a:r>
            <a:endParaRPr/>
          </a:p>
        </p:txBody>
      </p:sp>
      <p:sp>
        <p:nvSpPr>
          <p:cNvPr id="671" name="Google Shape;671;p11"/>
          <p:cNvSpPr txBox="1"/>
          <p:nvPr/>
        </p:nvSpPr>
        <p:spPr>
          <a:xfrm>
            <a:off x="7114032" y="2029968"/>
            <a:ext cx="4041648" cy="2194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20" u="none" cap="none" strike="noStrike">
                <a:solidFill>
                  <a:srgbClr val="1E293B"/>
                </a:solidFill>
                <a:latin typeface="Arial"/>
                <a:ea typeface="Arial"/>
                <a:cs typeface="Arial"/>
                <a:sym typeface="Arial"/>
              </a:rPr>
              <a:t>Broader dialect coverage</a:t>
            </a:r>
            <a:endParaRPr/>
          </a:p>
        </p:txBody>
      </p:sp>
      <p:sp>
        <p:nvSpPr>
          <p:cNvPr id="672" name="Google Shape;672;p11"/>
          <p:cNvSpPr txBox="1"/>
          <p:nvPr/>
        </p:nvSpPr>
        <p:spPr>
          <a:xfrm>
            <a:off x="7114032" y="2322576"/>
            <a:ext cx="4041648" cy="58521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30" u="none" cap="none" strike="noStrike">
                <a:solidFill>
                  <a:srgbClr val="64748B"/>
                </a:solidFill>
                <a:latin typeface="Arial"/>
                <a:ea typeface="Arial"/>
                <a:cs typeface="Arial"/>
                <a:sym typeface="Arial"/>
              </a:rPr>
              <a:t>Expand from five target dialects to 25+ fine-grained Arab cities (MADAR-26).</a:t>
            </a:r>
            <a:endParaRPr/>
          </a:p>
        </p:txBody>
      </p:sp>
      <p:sp>
        <p:nvSpPr>
          <p:cNvPr id="673" name="Google Shape;673;p11"/>
          <p:cNvSpPr/>
          <p:nvPr/>
        </p:nvSpPr>
        <p:spPr>
          <a:xfrm>
            <a:off x="6510528" y="3218688"/>
            <a:ext cx="411480" cy="411480"/>
          </a:xfrm>
          <a:prstGeom prst="roundRect">
            <a:avLst>
              <a:gd fmla="val 16667" name="adj"/>
            </a:avLst>
          </a:prstGeom>
          <a:solidFill>
            <a:srgbClr val="E0F2F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4" name="Google Shape;674;p11"/>
          <p:cNvSpPr txBox="1"/>
          <p:nvPr/>
        </p:nvSpPr>
        <p:spPr>
          <a:xfrm>
            <a:off x="6528816" y="3346704"/>
            <a:ext cx="365760" cy="1371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80" u="none" cap="none" strike="noStrike">
                <a:solidFill>
                  <a:srgbClr val="EC4899"/>
                </a:solidFill>
                <a:latin typeface="Arial"/>
                <a:ea typeface="Arial"/>
                <a:cs typeface="Arial"/>
                <a:sym typeface="Arial"/>
              </a:rPr>
              <a:t>02</a:t>
            </a:r>
            <a:endParaRPr/>
          </a:p>
        </p:txBody>
      </p:sp>
      <p:sp>
        <p:nvSpPr>
          <p:cNvPr id="675" name="Google Shape;675;p11"/>
          <p:cNvSpPr txBox="1"/>
          <p:nvPr/>
        </p:nvSpPr>
        <p:spPr>
          <a:xfrm>
            <a:off x="7114032" y="3218688"/>
            <a:ext cx="4041648" cy="2194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20" u="none" cap="none" strike="noStrike">
                <a:solidFill>
                  <a:srgbClr val="1E293B"/>
                </a:solidFill>
                <a:latin typeface="Arial"/>
                <a:ea typeface="Arial"/>
                <a:cs typeface="Arial"/>
                <a:sym typeface="Arial"/>
              </a:rPr>
              <a:t>Audio + text fusion</a:t>
            </a:r>
            <a:endParaRPr/>
          </a:p>
        </p:txBody>
      </p:sp>
      <p:sp>
        <p:nvSpPr>
          <p:cNvPr id="676" name="Google Shape;676;p11"/>
          <p:cNvSpPr txBox="1"/>
          <p:nvPr/>
        </p:nvSpPr>
        <p:spPr>
          <a:xfrm>
            <a:off x="7114032" y="3511296"/>
            <a:ext cx="4041648" cy="58521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30" u="none" cap="none" strike="noStrike">
                <a:solidFill>
                  <a:srgbClr val="64748B"/>
                </a:solidFill>
                <a:latin typeface="Arial"/>
                <a:ea typeface="Arial"/>
                <a:cs typeface="Arial"/>
                <a:sym typeface="Arial"/>
              </a:rPr>
              <a:t>Use pronunciation to disambiguate very short phrases with identical spellings.</a:t>
            </a:r>
            <a:endParaRPr/>
          </a:p>
        </p:txBody>
      </p:sp>
      <p:sp>
        <p:nvSpPr>
          <p:cNvPr id="677" name="Google Shape;677;p11"/>
          <p:cNvSpPr/>
          <p:nvPr/>
        </p:nvSpPr>
        <p:spPr>
          <a:xfrm>
            <a:off x="6510528" y="4407408"/>
            <a:ext cx="411480" cy="411480"/>
          </a:xfrm>
          <a:prstGeom prst="roundRect">
            <a:avLst>
              <a:gd fmla="val 16667" name="adj"/>
            </a:avLst>
          </a:prstGeom>
          <a:solidFill>
            <a:srgbClr val="E0F2F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8" name="Google Shape;678;p11"/>
          <p:cNvSpPr txBox="1"/>
          <p:nvPr/>
        </p:nvSpPr>
        <p:spPr>
          <a:xfrm>
            <a:off x="6528816" y="4535424"/>
            <a:ext cx="365760" cy="1371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80" u="none" cap="none" strike="noStrike">
                <a:solidFill>
                  <a:srgbClr val="2563EB"/>
                </a:solidFill>
                <a:latin typeface="Arial"/>
                <a:ea typeface="Arial"/>
                <a:cs typeface="Arial"/>
                <a:sym typeface="Arial"/>
              </a:rPr>
              <a:t>03</a:t>
            </a:r>
            <a:endParaRPr/>
          </a:p>
        </p:txBody>
      </p:sp>
      <p:sp>
        <p:nvSpPr>
          <p:cNvPr id="679" name="Google Shape;679;p11"/>
          <p:cNvSpPr txBox="1"/>
          <p:nvPr/>
        </p:nvSpPr>
        <p:spPr>
          <a:xfrm>
            <a:off x="7114032" y="4407408"/>
            <a:ext cx="4041648" cy="21945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20" u="none" cap="none" strike="noStrike">
                <a:solidFill>
                  <a:srgbClr val="1E293B"/>
                </a:solidFill>
                <a:latin typeface="Arial"/>
                <a:ea typeface="Arial"/>
                <a:cs typeface="Arial"/>
                <a:sym typeface="Arial"/>
              </a:rPr>
              <a:t>Efficient edge inference</a:t>
            </a:r>
            <a:endParaRPr/>
          </a:p>
        </p:txBody>
      </p:sp>
      <p:sp>
        <p:nvSpPr>
          <p:cNvPr id="680" name="Google Shape;680;p11"/>
          <p:cNvSpPr txBox="1"/>
          <p:nvPr/>
        </p:nvSpPr>
        <p:spPr>
          <a:xfrm>
            <a:off x="7114032" y="4700016"/>
            <a:ext cx="4041648" cy="58521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030" u="none" cap="none" strike="noStrike">
                <a:solidFill>
                  <a:srgbClr val="64748B"/>
                </a:solidFill>
                <a:latin typeface="Arial"/>
                <a:ea typeface="Arial"/>
                <a:cs typeface="Arial"/>
                <a:sym typeface="Arial"/>
              </a:rPr>
              <a:t>Quantize with ONNX / INT8 for low-latency mobile and edge deployment.</a:t>
            </a:r>
            <a:endParaRPr/>
          </a:p>
        </p:txBody>
      </p:sp>
      <p:sp>
        <p:nvSpPr>
          <p:cNvPr id="681" name="Google Shape;681;p11"/>
          <p:cNvSpPr/>
          <p:nvPr/>
        </p:nvSpPr>
        <p:spPr>
          <a:xfrm>
            <a:off x="896112" y="5605272"/>
            <a:ext cx="10396728" cy="310896"/>
          </a:xfrm>
          <a:prstGeom prst="roundRect">
            <a:avLst>
              <a:gd fmla="val 16667" name="adj"/>
            </a:avLst>
          </a:prstGeom>
          <a:solidFill>
            <a:srgbClr val="0F172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2" name="Google Shape;682;p11"/>
          <p:cNvSpPr txBox="1"/>
          <p:nvPr/>
        </p:nvSpPr>
        <p:spPr>
          <a:xfrm>
            <a:off x="1051560" y="5687568"/>
            <a:ext cx="10085832" cy="1371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880" u="none" cap="none" strike="noStrike">
                <a:solidFill>
                  <a:srgbClr val="F8FAFC"/>
                </a:solidFill>
                <a:latin typeface="Arial"/>
                <a:ea typeface="Arial"/>
                <a:cs typeface="Arial"/>
                <a:sym typeface="Arial"/>
              </a:rPr>
              <a:t>FROM DATA HYGIENE  →  MODEL BENCHMARKING  →  PRACTICAL DEPLOYMENT</a:t>
            </a:r>
            <a:endParaRPr/>
          </a:p>
        </p:txBody>
      </p:sp>
      <p:cxnSp>
        <p:nvCxnSpPr>
          <p:cNvPr id="683" name="Google Shape;683;p11"/>
          <p:cNvCxnSpPr/>
          <p:nvPr/>
        </p:nvCxnSpPr>
        <p:spPr>
          <a:xfrm>
            <a:off x="594360" y="6473952"/>
            <a:ext cx="11000232" cy="0"/>
          </a:xfrm>
          <a:prstGeom prst="straightConnector1">
            <a:avLst/>
          </a:prstGeom>
          <a:noFill/>
          <a:ln cap="flat" cmpd="sng" w="9525">
            <a:solidFill>
              <a:srgbClr val="CBD5E1"/>
            </a:solidFill>
            <a:prstDash val="solid"/>
            <a:round/>
            <a:headEnd len="sm" w="sm" type="none"/>
            <a:tailEnd len="sm" w="sm" type="none"/>
          </a:ln>
          <a:effectLst>
            <a:outerShdw blurRad="40000" rotWithShape="0" dir="5400000" dist="20000">
              <a:srgbClr val="000000">
                <a:alpha val="38039"/>
              </a:srgbClr>
            </a:outerShdw>
          </a:effectLst>
        </p:spPr>
      </p:cxnSp>
      <p:sp>
        <p:nvSpPr>
          <p:cNvPr id="684" name="Google Shape;684;p11"/>
          <p:cNvSpPr txBox="1"/>
          <p:nvPr/>
        </p:nvSpPr>
        <p:spPr>
          <a:xfrm>
            <a:off x="603504" y="6547104"/>
            <a:ext cx="457200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64748B"/>
                </a:solidFill>
                <a:latin typeface="Arial"/>
                <a:ea typeface="Arial"/>
                <a:cs typeface="Arial"/>
                <a:sym typeface="Arial"/>
              </a:rPr>
              <a:t>ARABIC DIALECT CLASSIFICATION</a:t>
            </a:r>
            <a:endParaRPr/>
          </a:p>
        </p:txBody>
      </p:sp>
      <p:sp>
        <p:nvSpPr>
          <p:cNvPr id="685" name="Google Shape;685;p11"/>
          <p:cNvSpPr txBox="1"/>
          <p:nvPr/>
        </p:nvSpPr>
        <p:spPr>
          <a:xfrm>
            <a:off x="10652760" y="6528816"/>
            <a:ext cx="914400" cy="18288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850" u="none" cap="none" strike="noStrike">
                <a:solidFill>
                  <a:srgbClr val="64748B"/>
                </a:solidFill>
                <a:latin typeface="Arial"/>
                <a:ea typeface="Arial"/>
                <a:cs typeface="Arial"/>
                <a:sym typeface="Arial"/>
              </a:rPr>
              <a:t>11  /  12</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F172A"/>
        </a:solidFill>
      </p:bgPr>
    </p:bg>
    <p:spTree>
      <p:nvGrpSpPr>
        <p:cNvPr id="690" name="Shape 690"/>
        <p:cNvGrpSpPr/>
        <p:nvPr/>
      </p:nvGrpSpPr>
      <p:grpSpPr>
        <a:xfrm>
          <a:off x="0" y="0"/>
          <a:ext cx="0" cy="0"/>
          <a:chOff x="0" y="0"/>
          <a:chExt cx="0" cy="0"/>
        </a:xfrm>
      </p:grpSpPr>
      <p:sp>
        <p:nvSpPr>
          <p:cNvPr id="691" name="Google Shape;691;p12"/>
          <p:cNvSpPr/>
          <p:nvPr/>
        </p:nvSpPr>
        <p:spPr>
          <a:xfrm>
            <a:off x="8366760" y="713232"/>
            <a:ext cx="4297680" cy="4297680"/>
          </a:xfrm>
          <a:prstGeom prst="ellipse">
            <a:avLst/>
          </a:prstGeom>
          <a:noFill/>
          <a:ln cap="flat" cmpd="sng" w="12700">
            <a:solidFill>
              <a:srgbClr val="1E3A5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2" name="Google Shape;692;p12"/>
          <p:cNvSpPr/>
          <p:nvPr/>
        </p:nvSpPr>
        <p:spPr>
          <a:xfrm>
            <a:off x="8915400" y="1261872"/>
            <a:ext cx="3200400" cy="3200400"/>
          </a:xfrm>
          <a:prstGeom prst="ellipse">
            <a:avLst/>
          </a:prstGeom>
          <a:noFill/>
          <a:ln cap="flat" cmpd="sng" w="12700">
            <a:solidFill>
              <a:srgbClr val="254B6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3" name="Google Shape;693;p12"/>
          <p:cNvSpPr/>
          <p:nvPr/>
        </p:nvSpPr>
        <p:spPr>
          <a:xfrm>
            <a:off x="9441180" y="1787652"/>
            <a:ext cx="2148840" cy="2148840"/>
          </a:xfrm>
          <a:prstGeom prst="ellipse">
            <a:avLst/>
          </a:prstGeom>
          <a:noFill/>
          <a:ln cap="flat" cmpd="sng" w="12700">
            <a:solidFill>
              <a:srgbClr val="38BDF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4" name="Google Shape;694;p12"/>
          <p:cNvSpPr/>
          <p:nvPr/>
        </p:nvSpPr>
        <p:spPr>
          <a:xfrm>
            <a:off x="9857232" y="2148840"/>
            <a:ext cx="438912" cy="438912"/>
          </a:xfrm>
          <a:prstGeom prst="ellipse">
            <a:avLst/>
          </a:prstGeom>
          <a:solidFill>
            <a:srgbClr val="EC489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5" name="Google Shape;695;p12"/>
          <p:cNvSpPr txBox="1"/>
          <p:nvPr/>
        </p:nvSpPr>
        <p:spPr>
          <a:xfrm>
            <a:off x="822960" y="685800"/>
            <a:ext cx="256032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00" u="none" cap="none" strike="noStrike">
                <a:solidFill>
                  <a:srgbClr val="38BDF8"/>
                </a:solidFill>
                <a:latin typeface="Arial"/>
                <a:ea typeface="Arial"/>
                <a:cs typeface="Arial"/>
                <a:sym typeface="Arial"/>
              </a:rPr>
              <a:t>12  /  CLOSING</a:t>
            </a:r>
            <a:endParaRPr/>
          </a:p>
        </p:txBody>
      </p:sp>
      <p:sp>
        <p:nvSpPr>
          <p:cNvPr id="696" name="Google Shape;696;p12"/>
          <p:cNvSpPr txBox="1"/>
          <p:nvPr/>
        </p:nvSpPr>
        <p:spPr>
          <a:xfrm>
            <a:off x="822960" y="1371600"/>
            <a:ext cx="6812280" cy="86868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900" u="none" cap="none" strike="noStrike">
                <a:solidFill>
                  <a:srgbClr val="F8FAFC"/>
                </a:solidFill>
                <a:latin typeface="Arial"/>
                <a:ea typeface="Arial"/>
                <a:cs typeface="Arial"/>
                <a:sym typeface="Arial"/>
              </a:rPr>
              <a:t>Thank You!</a:t>
            </a:r>
            <a:endParaRPr/>
          </a:p>
        </p:txBody>
      </p:sp>
      <p:sp>
        <p:nvSpPr>
          <p:cNvPr id="697" name="Google Shape;697;p12"/>
          <p:cNvSpPr txBox="1"/>
          <p:nvPr/>
        </p:nvSpPr>
        <p:spPr>
          <a:xfrm>
            <a:off x="818325" y="2798500"/>
            <a:ext cx="7123800" cy="292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900" u="none" cap="none" strike="noStrike">
                <a:solidFill>
                  <a:srgbClr val="CBD5E1"/>
                </a:solidFill>
                <a:latin typeface="Arial"/>
                <a:ea typeface="Arial"/>
                <a:cs typeface="Arial"/>
                <a:sym typeface="Arial"/>
              </a:rPr>
              <a:t>Live Interactive Demo &amp; Q&amp;A Session</a:t>
            </a:r>
            <a:endParaRPr/>
          </a:p>
        </p:txBody>
      </p:sp>
      <p:sp>
        <p:nvSpPr>
          <p:cNvPr id="698" name="Google Shape;698;p12"/>
          <p:cNvSpPr/>
          <p:nvPr/>
        </p:nvSpPr>
        <p:spPr>
          <a:xfrm>
            <a:off x="822960" y="3337560"/>
            <a:ext cx="7178040" cy="1225296"/>
          </a:xfrm>
          <a:prstGeom prst="roundRect">
            <a:avLst>
              <a:gd fmla="val 16667" name="adj"/>
            </a:avLst>
          </a:prstGeom>
          <a:solidFill>
            <a:srgbClr val="18253D"/>
          </a:solidFill>
          <a:ln cap="flat" cmpd="sng" w="10150">
            <a:solidFill>
              <a:srgbClr val="38BDF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9" name="Google Shape;699;p12"/>
          <p:cNvSpPr txBox="1"/>
          <p:nvPr/>
        </p:nvSpPr>
        <p:spPr>
          <a:xfrm>
            <a:off x="1097280" y="3584448"/>
            <a:ext cx="6355080" cy="20116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19" u="none" cap="none" strike="noStrike">
                <a:solidFill>
                  <a:srgbClr val="38BDF8"/>
                </a:solidFill>
                <a:latin typeface="Arial"/>
                <a:ea typeface="Arial"/>
                <a:cs typeface="Arial"/>
                <a:sym typeface="Arial"/>
              </a:rPr>
              <a:t>READY FOR LIVE TESTING ON STREAMLIT</a:t>
            </a:r>
            <a:endParaRPr/>
          </a:p>
        </p:txBody>
      </p:sp>
      <p:sp>
        <p:nvSpPr>
          <p:cNvPr id="700" name="Google Shape;700;p12"/>
          <p:cNvSpPr txBox="1"/>
          <p:nvPr/>
        </p:nvSpPr>
        <p:spPr>
          <a:xfrm>
            <a:off x="1097280" y="3913632"/>
            <a:ext cx="6446520" cy="3474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20" u="none" cap="none" strike="noStrike">
                <a:solidFill>
                  <a:srgbClr val="F8FAFC"/>
                </a:solidFill>
                <a:latin typeface="Arial"/>
                <a:ea typeface="Arial"/>
                <a:cs typeface="Arial"/>
                <a:sym typeface="Arial"/>
              </a:rPr>
              <a:t>Single Sentence  |  MARBERTv2 vs. AraBERTv02  |  Batch CSV</a:t>
            </a:r>
            <a:endParaRPr/>
          </a:p>
        </p:txBody>
      </p:sp>
      <p:sp>
        <p:nvSpPr>
          <p:cNvPr id="701" name="Google Shape;701;p12"/>
          <p:cNvSpPr txBox="1"/>
          <p:nvPr/>
        </p:nvSpPr>
        <p:spPr>
          <a:xfrm>
            <a:off x="841248" y="5321808"/>
            <a:ext cx="1737360" cy="17373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50" u="none" cap="none" strike="noStrike">
                <a:solidFill>
                  <a:srgbClr val="EC4899"/>
                </a:solidFill>
                <a:latin typeface="Arial"/>
                <a:ea typeface="Arial"/>
                <a:cs typeface="Arial"/>
                <a:sym typeface="Arial"/>
              </a:rPr>
              <a:t>GITHUB REPOSITORY</a:t>
            </a:r>
            <a:endParaRPr/>
          </a:p>
        </p:txBody>
      </p:sp>
      <p:sp>
        <p:nvSpPr>
          <p:cNvPr id="702" name="Google Shape;702;p12"/>
          <p:cNvSpPr txBox="1"/>
          <p:nvPr/>
        </p:nvSpPr>
        <p:spPr>
          <a:xfrm>
            <a:off x="841248" y="5605272"/>
            <a:ext cx="6080760" cy="2468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120" u="none" cap="none" strike="noStrike">
                <a:solidFill>
                  <a:srgbClr val="CBD5E1"/>
                </a:solidFill>
                <a:latin typeface="Arial"/>
                <a:ea typeface="Arial"/>
                <a:cs typeface="Arial"/>
                <a:sym typeface="Arial"/>
              </a:rPr>
              <a:t>github.com/meedooatef22/arabic-dialect-classification</a:t>
            </a:r>
            <a:endParaRPr/>
          </a:p>
        </p:txBody>
      </p:sp>
      <p:cxnSp>
        <p:nvCxnSpPr>
          <p:cNvPr id="703" name="Google Shape;703;p12"/>
          <p:cNvCxnSpPr/>
          <p:nvPr/>
        </p:nvCxnSpPr>
        <p:spPr>
          <a:xfrm>
            <a:off x="841248" y="6144768"/>
            <a:ext cx="10451592" cy="0"/>
          </a:xfrm>
          <a:prstGeom prst="straightConnector1">
            <a:avLst/>
          </a:prstGeom>
          <a:noFill/>
          <a:ln cap="flat" cmpd="sng" w="10150">
            <a:solidFill>
              <a:srgbClr val="334155"/>
            </a:solidFill>
            <a:prstDash val="solid"/>
            <a:round/>
            <a:headEnd len="sm" w="sm" type="none"/>
            <a:tailEnd len="sm" w="sm" type="none"/>
          </a:ln>
          <a:effectLst>
            <a:outerShdw blurRad="40000" rotWithShape="0" dir="5400000" dist="20000">
              <a:srgbClr val="000000">
                <a:alpha val="38039"/>
              </a:srgbClr>
            </a:outerShdw>
          </a:effectLst>
        </p:spPr>
      </p:cxnSp>
      <p:sp>
        <p:nvSpPr>
          <p:cNvPr id="704" name="Google Shape;704;p12"/>
          <p:cNvSpPr txBox="1"/>
          <p:nvPr/>
        </p:nvSpPr>
        <p:spPr>
          <a:xfrm>
            <a:off x="841248" y="6336792"/>
            <a:ext cx="3931920" cy="1645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00" u="none" cap="none" strike="noStrike">
                <a:solidFill>
                  <a:srgbClr val="64748B"/>
                </a:solidFill>
                <a:latin typeface="Arial"/>
                <a:ea typeface="Arial"/>
                <a:cs typeface="Arial"/>
                <a:sym typeface="Arial"/>
              </a:rPr>
              <a:t>NLP GRADUATION PROJECT</a:t>
            </a:r>
            <a:endParaRPr/>
          </a:p>
        </p:txBody>
      </p:sp>
      <p:sp>
        <p:nvSpPr>
          <p:cNvPr id="705" name="Google Shape;705;p12"/>
          <p:cNvSpPr txBox="1"/>
          <p:nvPr/>
        </p:nvSpPr>
        <p:spPr>
          <a:xfrm>
            <a:off x="9217152" y="6318504"/>
            <a:ext cx="2057400" cy="17373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800" u="none" cap="none" strike="noStrike">
                <a:solidFill>
                  <a:srgbClr val="38BDF8"/>
                </a:solidFill>
                <a:latin typeface="Arial"/>
                <a:ea typeface="Arial"/>
                <a:cs typeface="Arial"/>
                <a:sym typeface="Arial"/>
              </a:rPr>
              <a:t>QUESTIONS  /  DEMO</a:t>
            </a:r>
            <a:endParaRPr/>
          </a:p>
        </p:txBody>
      </p:sp>
      <p:sp>
        <p:nvSpPr>
          <p:cNvPr id="706" name="Google Shape;706;p12"/>
          <p:cNvSpPr txBox="1"/>
          <p:nvPr/>
        </p:nvSpPr>
        <p:spPr>
          <a:xfrm>
            <a:off x="841250" y="2013150"/>
            <a:ext cx="71238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chemeClr val="lt1"/>
                </a:solidFill>
                <a:latin typeface="Calibri"/>
                <a:ea typeface="Calibri"/>
                <a:cs typeface="Calibri"/>
                <a:sym typeface="Calibri"/>
              </a:rPr>
              <a:t>Team: Mohamed Atef Ali &amp; Yassmin Reda</a:t>
            </a:r>
            <a:endParaRPr sz="3200">
              <a:solidFill>
                <a:schemeClr val="lt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NLP Graduation Project Team</dc:creator>
</cp:coreProperties>
</file>