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60"/>
    <p:restoredTop sz="94662"/>
  </p:normalViewPr>
  <p:slideViewPr>
    <p:cSldViewPr snapToGrid="0" snapToObjects="1">
      <p:cViewPr varScale="1">
        <p:scale>
          <a:sx n="118" d="100"/>
          <a:sy n="118" d="100"/>
        </p:scale>
        <p:origin x="208" y="6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3805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Today we present our graduation project on Fine-Grained Arabic Dialect Classification, where we built an end-to-end NLP pipeline from raw data hygiene and classical ensembles up to fine-tuning MARBERTv2, achieving 92.25% accuracy on unseen test data, deployed in a real-time Streamlit web platform.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Standard Arabic NLP models fail on social media text because of Diglossia, lack of spelling standards, heavy prefix/suffix agglutination like 'شورايك' or 'فماش', and strong lexical overlap across short conversational phrases.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used 40,000 sentences across 5 dialects. Crucially, we performed deduplication before splitting, leaving 38,963 unique sentences partitioned via stratified 70/15/15 splitting to guarantee zero data leakage between train and test sets.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critical engineering decision in our pipeline was retaining stopwords and short sentences. Words like 'شو', 'إيه', and 'برشا' are stopwords in standard NLP, but here they are the primary predictors of the dialect.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progressed systematically across three paradigms: first, a 150k-feature hybrid word+character TF-IDF Stacking Ensemble; second, AraBERTv02 pre-trained on formal news; and third, MARBERTv2 pre-trained on 1 billion dialectal tweets.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training AraBERTv02, we noticed validation loss creeping up after Epoch 2. To prevent overfitting in MARBERTv2, we engineered a strict regularization setup using a 2e-5 learning rate, 0.05 weight decay, and 0.05 Label Smoothing, resulting in rock-solid convergence.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complete quantitative progression. Our hybrid TF-IDF Stacking Ensemble achieved an impressive 90.93% test accuracy, AraBERTv02 reached 91.03% validation accuracy, and MARBERTv2 outperformed all models with 92.25% unseen test accuracy and 92.24% Macro F1.</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MARBERTv2 achieved &gt;=90% F1-score across every single dialect, led by Tunis at 94.44% and MSA at 94.10%. Compared to Stacking, MARBERTv2 eliminated 77 errors on the exact same test set.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didn't stop at accuracy numbers; we analyzed all 453 errors. We discovered that misclassified sentences average only 3.86 words compared to 7.21 words for correct ones. Phrases like 'تاني تقاطع عاليمين' or 'ايوه مسموح' are genuinely used across multiple dialects, proving our model reached the natural linguistic ceiling of written text.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turn our research into a usable product, we built and deployed an interactive Streamlit web application featuring real-time single-sentence analysis with 5-dialect probability bars, side-by-side model comparison between MARBERTv2 and AraBERTv02, and batch CSV classification.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our project demonstrates a rigorous engineering workflow from data deduplication to state-of-the-art transformer fine-tuning and web deployment. Looking ahead, we aim to expand to 26 cities and integrate audio features to disambiguate ultra-short shared phrases.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listening! We now invite the committee to test our live Streamlit platform with any Arabic dialect sentences, and we welcome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Oval 1"/>
          <p:cNvSpPr/>
          <p:nvPr/>
        </p:nvSpPr>
        <p:spPr>
          <a:xfrm>
            <a:off x="8321040" y="640080"/>
            <a:ext cx="4480560" cy="4480560"/>
          </a:xfrm>
          <a:prstGeom prst="ellipse">
            <a:avLst/>
          </a:prstGeom>
          <a:noFill/>
          <a:ln w="13970">
            <a:solidFill>
              <a:srgbClr val="1E3A57"/>
            </a:solidFill>
          </a:ln>
        </p:spPr>
        <p:txBody>
          <a:bodyPr rtlCol="0" anchor="ctr"/>
          <a:lstStyle/>
          <a:p>
            <a:pPr algn="ctr"/>
            <a:endParaRPr/>
          </a:p>
        </p:txBody>
      </p:sp>
      <p:sp>
        <p:nvSpPr>
          <p:cNvPr id="3" name="Oval 2"/>
          <p:cNvSpPr/>
          <p:nvPr/>
        </p:nvSpPr>
        <p:spPr>
          <a:xfrm>
            <a:off x="8823960" y="1143000"/>
            <a:ext cx="3474720" cy="3474720"/>
          </a:xfrm>
          <a:prstGeom prst="ellipse">
            <a:avLst/>
          </a:prstGeom>
          <a:noFill/>
          <a:ln w="13970">
            <a:solidFill>
              <a:srgbClr val="254B68"/>
            </a:solidFill>
          </a:ln>
        </p:spPr>
        <p:txBody>
          <a:bodyPr rtlCol="0" anchor="ctr"/>
          <a:lstStyle/>
          <a:p>
            <a:pPr algn="ctr"/>
            <a:endParaRPr/>
          </a:p>
        </p:txBody>
      </p:sp>
      <p:sp>
        <p:nvSpPr>
          <p:cNvPr id="4" name="Oval 3"/>
          <p:cNvSpPr/>
          <p:nvPr/>
        </p:nvSpPr>
        <p:spPr>
          <a:xfrm>
            <a:off x="9326880" y="1645920"/>
            <a:ext cx="2468880" cy="2468880"/>
          </a:xfrm>
          <a:prstGeom prst="ellipse">
            <a:avLst/>
          </a:prstGeom>
          <a:noFill/>
          <a:ln w="13970">
            <a:solidFill>
              <a:srgbClr val="38BDF8"/>
            </a:solidFill>
          </a:ln>
        </p:spPr>
        <p:txBody>
          <a:bodyPr rtlCol="0" anchor="ctr"/>
          <a:lstStyle/>
          <a:p>
            <a:pPr algn="ctr"/>
            <a:endParaRPr/>
          </a:p>
        </p:txBody>
      </p:sp>
      <p:sp>
        <p:nvSpPr>
          <p:cNvPr id="5" name="Oval 4"/>
          <p:cNvSpPr/>
          <p:nvPr/>
        </p:nvSpPr>
        <p:spPr>
          <a:xfrm>
            <a:off x="8458200" y="1353312"/>
            <a:ext cx="64008" cy="64008"/>
          </a:xfrm>
          <a:prstGeom prst="ellipse">
            <a:avLst/>
          </a:prstGeom>
          <a:solidFill>
            <a:srgbClr val="38BDF8"/>
          </a:solidFill>
          <a:ln>
            <a:noFill/>
          </a:ln>
        </p:spPr>
        <p:txBody>
          <a:bodyPr rtlCol="0" anchor="ctr"/>
          <a:lstStyle/>
          <a:p>
            <a:pPr algn="ctr"/>
            <a:endParaRPr/>
          </a:p>
        </p:txBody>
      </p:sp>
      <p:sp>
        <p:nvSpPr>
          <p:cNvPr id="6" name="Oval 5"/>
          <p:cNvSpPr/>
          <p:nvPr/>
        </p:nvSpPr>
        <p:spPr>
          <a:xfrm>
            <a:off x="8988552" y="1353312"/>
            <a:ext cx="64008" cy="64008"/>
          </a:xfrm>
          <a:prstGeom prst="ellipse">
            <a:avLst/>
          </a:prstGeom>
          <a:solidFill>
            <a:srgbClr val="EC4899"/>
          </a:solidFill>
          <a:ln>
            <a:noFill/>
          </a:ln>
        </p:spPr>
        <p:txBody>
          <a:bodyPr rtlCol="0" anchor="ctr"/>
          <a:lstStyle/>
          <a:p>
            <a:pPr algn="ctr"/>
            <a:endParaRPr/>
          </a:p>
        </p:txBody>
      </p:sp>
      <p:sp>
        <p:nvSpPr>
          <p:cNvPr id="7" name="Oval 6"/>
          <p:cNvSpPr/>
          <p:nvPr/>
        </p:nvSpPr>
        <p:spPr>
          <a:xfrm>
            <a:off x="9518904" y="1353312"/>
            <a:ext cx="64008" cy="64008"/>
          </a:xfrm>
          <a:prstGeom prst="ellipse">
            <a:avLst/>
          </a:prstGeom>
          <a:solidFill>
            <a:srgbClr val="38BDF8"/>
          </a:solidFill>
          <a:ln>
            <a:noFill/>
          </a:ln>
        </p:spPr>
        <p:txBody>
          <a:bodyPr rtlCol="0" anchor="ctr"/>
          <a:lstStyle/>
          <a:p>
            <a:pPr algn="ctr"/>
            <a:endParaRPr/>
          </a:p>
        </p:txBody>
      </p:sp>
      <p:sp>
        <p:nvSpPr>
          <p:cNvPr id="8" name="Oval 7"/>
          <p:cNvSpPr/>
          <p:nvPr/>
        </p:nvSpPr>
        <p:spPr>
          <a:xfrm>
            <a:off x="10049256" y="1353312"/>
            <a:ext cx="64008" cy="64008"/>
          </a:xfrm>
          <a:prstGeom prst="ellipse">
            <a:avLst/>
          </a:prstGeom>
          <a:solidFill>
            <a:srgbClr val="EC4899"/>
          </a:solidFill>
          <a:ln>
            <a:noFill/>
          </a:ln>
        </p:spPr>
        <p:txBody>
          <a:bodyPr rtlCol="0" anchor="ctr"/>
          <a:lstStyle/>
          <a:p>
            <a:pPr algn="ctr"/>
            <a:endParaRPr/>
          </a:p>
        </p:txBody>
      </p:sp>
      <p:sp>
        <p:nvSpPr>
          <p:cNvPr id="9" name="Oval 8"/>
          <p:cNvSpPr/>
          <p:nvPr/>
        </p:nvSpPr>
        <p:spPr>
          <a:xfrm>
            <a:off x="8458200" y="1938528"/>
            <a:ext cx="64008" cy="64008"/>
          </a:xfrm>
          <a:prstGeom prst="ellipse">
            <a:avLst/>
          </a:prstGeom>
          <a:solidFill>
            <a:srgbClr val="38BDF8"/>
          </a:solidFill>
          <a:ln>
            <a:noFill/>
          </a:ln>
        </p:spPr>
        <p:txBody>
          <a:bodyPr rtlCol="0" anchor="ctr"/>
          <a:lstStyle/>
          <a:p>
            <a:pPr algn="ctr"/>
            <a:endParaRPr/>
          </a:p>
        </p:txBody>
      </p:sp>
      <p:sp>
        <p:nvSpPr>
          <p:cNvPr id="10" name="Oval 9"/>
          <p:cNvSpPr/>
          <p:nvPr/>
        </p:nvSpPr>
        <p:spPr>
          <a:xfrm>
            <a:off x="8988552" y="1938528"/>
            <a:ext cx="64008" cy="64008"/>
          </a:xfrm>
          <a:prstGeom prst="ellipse">
            <a:avLst/>
          </a:prstGeom>
          <a:solidFill>
            <a:srgbClr val="EC4899"/>
          </a:solidFill>
          <a:ln>
            <a:noFill/>
          </a:ln>
        </p:spPr>
        <p:txBody>
          <a:bodyPr rtlCol="0" anchor="ctr"/>
          <a:lstStyle/>
          <a:p>
            <a:pPr algn="ctr"/>
            <a:endParaRPr/>
          </a:p>
        </p:txBody>
      </p:sp>
      <p:sp>
        <p:nvSpPr>
          <p:cNvPr id="11" name="Oval 10"/>
          <p:cNvSpPr/>
          <p:nvPr/>
        </p:nvSpPr>
        <p:spPr>
          <a:xfrm>
            <a:off x="9518904" y="1938528"/>
            <a:ext cx="64008" cy="64008"/>
          </a:xfrm>
          <a:prstGeom prst="ellipse">
            <a:avLst/>
          </a:prstGeom>
          <a:solidFill>
            <a:srgbClr val="38BDF8"/>
          </a:solidFill>
          <a:ln>
            <a:noFill/>
          </a:ln>
        </p:spPr>
        <p:txBody>
          <a:bodyPr rtlCol="0" anchor="ctr"/>
          <a:lstStyle/>
          <a:p>
            <a:pPr algn="ctr"/>
            <a:endParaRPr/>
          </a:p>
        </p:txBody>
      </p:sp>
      <p:sp>
        <p:nvSpPr>
          <p:cNvPr id="12" name="TextBox 11"/>
          <p:cNvSpPr txBox="1"/>
          <p:nvPr/>
        </p:nvSpPr>
        <p:spPr>
          <a:xfrm>
            <a:off x="749808" y="640080"/>
            <a:ext cx="4389120" cy="201168"/>
          </a:xfrm>
          <a:prstGeom prst="rect">
            <a:avLst/>
          </a:prstGeom>
          <a:noFill/>
        </p:spPr>
        <p:txBody>
          <a:bodyPr wrap="square" lIns="0" tIns="0" rIns="0" bIns="0" anchor="t">
            <a:spAutoFit/>
          </a:bodyPr>
          <a:lstStyle/>
          <a:p>
            <a:pPr algn="l">
              <a:spcBef>
                <a:spcPts val="0"/>
              </a:spcBef>
              <a:spcAft>
                <a:spcPts val="0"/>
              </a:spcAft>
            </a:pPr>
            <a:r>
              <a:rPr sz="900" b="1" i="0">
                <a:solidFill>
                  <a:srgbClr val="38BDF8"/>
                </a:solidFill>
                <a:latin typeface="Arial"/>
              </a:rPr>
              <a:t>NLP GRADUATION PROJECT  /  2026</a:t>
            </a:r>
          </a:p>
        </p:txBody>
      </p:sp>
      <p:sp>
        <p:nvSpPr>
          <p:cNvPr id="13" name="TextBox 12"/>
          <p:cNvSpPr txBox="1"/>
          <p:nvPr/>
        </p:nvSpPr>
        <p:spPr>
          <a:xfrm>
            <a:off x="749808" y="1143000"/>
            <a:ext cx="7726679" cy="1444752"/>
          </a:xfrm>
          <a:prstGeom prst="rect">
            <a:avLst/>
          </a:prstGeom>
          <a:noFill/>
        </p:spPr>
        <p:txBody>
          <a:bodyPr wrap="square" lIns="0" tIns="0" rIns="0" bIns="0" anchor="t">
            <a:spAutoFit/>
          </a:bodyPr>
          <a:lstStyle/>
          <a:p>
            <a:pPr algn="l">
              <a:spcBef>
                <a:spcPts val="0"/>
              </a:spcBef>
              <a:spcAft>
                <a:spcPts val="0"/>
              </a:spcAft>
            </a:pPr>
            <a:r>
              <a:rPr sz="3300" b="1" i="0">
                <a:solidFill>
                  <a:srgbClr val="F8FAFC"/>
                </a:solidFill>
                <a:latin typeface="Arial"/>
              </a:rPr>
              <a:t>End-to-End Fine-Grained
Arabic Dialect Classification</a:t>
            </a:r>
          </a:p>
        </p:txBody>
      </p:sp>
      <p:sp>
        <p:nvSpPr>
          <p:cNvPr id="14" name="TextBox 13"/>
          <p:cNvSpPr txBox="1"/>
          <p:nvPr/>
        </p:nvSpPr>
        <p:spPr>
          <a:xfrm>
            <a:off x="768096" y="2770632"/>
            <a:ext cx="7086600" cy="640080"/>
          </a:xfrm>
          <a:prstGeom prst="rect">
            <a:avLst/>
          </a:prstGeom>
          <a:noFill/>
        </p:spPr>
        <p:txBody>
          <a:bodyPr wrap="square" lIns="0" tIns="0" rIns="0" bIns="0" anchor="t">
            <a:spAutoFit/>
          </a:bodyPr>
          <a:lstStyle/>
          <a:p>
            <a:pPr algn="l">
              <a:spcBef>
                <a:spcPts val="0"/>
              </a:spcBef>
              <a:spcAft>
                <a:spcPts val="0"/>
              </a:spcAft>
            </a:pPr>
            <a:r>
              <a:rPr sz="1600" b="0" i="0">
                <a:solidFill>
                  <a:srgbClr val="CBD5E1"/>
                </a:solidFill>
                <a:latin typeface="Arial"/>
              </a:rPr>
              <a:t>Benchmarking Classical ML Ensembles vs. Pre-Trained Transformers
AraBERTv02 &amp; MARBERTv2</a:t>
            </a:r>
          </a:p>
        </p:txBody>
      </p:sp>
      <p:sp>
        <p:nvSpPr>
          <p:cNvPr id="15" name="Rounded Rectangle 14"/>
          <p:cNvSpPr/>
          <p:nvPr/>
        </p:nvSpPr>
        <p:spPr>
          <a:xfrm>
            <a:off x="749808" y="3886200"/>
            <a:ext cx="7498079" cy="1234440"/>
          </a:xfrm>
          <a:prstGeom prst="roundRect">
            <a:avLst/>
          </a:prstGeom>
          <a:solidFill>
            <a:srgbClr val="18253D"/>
          </a:solidFill>
          <a:ln w="10160">
            <a:solidFill>
              <a:srgbClr val="38BDF8"/>
            </a:solidFill>
          </a:ln>
        </p:spPr>
        <p:txBody>
          <a:bodyPr rtlCol="0" anchor="ctr"/>
          <a:lstStyle/>
          <a:p>
            <a:pPr algn="ctr"/>
            <a:endParaRPr/>
          </a:p>
        </p:txBody>
      </p:sp>
      <p:sp>
        <p:nvSpPr>
          <p:cNvPr id="16" name="Rectangle 15"/>
          <p:cNvSpPr/>
          <p:nvPr/>
        </p:nvSpPr>
        <p:spPr>
          <a:xfrm>
            <a:off x="749808" y="3886200"/>
            <a:ext cx="73152" cy="1234440"/>
          </a:xfrm>
          <a:prstGeom prst="rect">
            <a:avLst/>
          </a:prstGeom>
          <a:solidFill>
            <a:srgbClr val="EC4899"/>
          </a:solidFill>
          <a:ln>
            <a:noFill/>
          </a:ln>
        </p:spPr>
        <p:txBody>
          <a:bodyPr rtlCol="0" anchor="ctr"/>
          <a:lstStyle/>
          <a:p>
            <a:pPr algn="ctr"/>
            <a:endParaRPr/>
          </a:p>
        </p:txBody>
      </p:sp>
      <p:sp>
        <p:nvSpPr>
          <p:cNvPr id="17" name="TextBox 16"/>
          <p:cNvSpPr txBox="1"/>
          <p:nvPr/>
        </p:nvSpPr>
        <p:spPr>
          <a:xfrm>
            <a:off x="1024128" y="4096512"/>
            <a:ext cx="1600200" cy="201168"/>
          </a:xfrm>
          <a:prstGeom prst="rect">
            <a:avLst/>
          </a:prstGeom>
          <a:noFill/>
        </p:spPr>
        <p:txBody>
          <a:bodyPr wrap="square" lIns="0" tIns="0" rIns="0" bIns="0" anchor="t">
            <a:spAutoFit/>
          </a:bodyPr>
          <a:lstStyle/>
          <a:p>
            <a:pPr algn="l">
              <a:spcBef>
                <a:spcPts val="0"/>
              </a:spcBef>
              <a:spcAft>
                <a:spcPts val="0"/>
              </a:spcAft>
            </a:pPr>
            <a:r>
              <a:rPr sz="900" b="1" i="0">
                <a:solidFill>
                  <a:srgbClr val="EC4899"/>
                </a:solidFill>
                <a:latin typeface="Arial"/>
              </a:rPr>
              <a:t>CHAMPION MODEL</a:t>
            </a:r>
          </a:p>
        </p:txBody>
      </p:sp>
      <p:sp>
        <p:nvSpPr>
          <p:cNvPr id="18" name="TextBox 17"/>
          <p:cNvSpPr txBox="1"/>
          <p:nvPr/>
        </p:nvSpPr>
        <p:spPr>
          <a:xfrm>
            <a:off x="1005840" y="4370832"/>
            <a:ext cx="1965960" cy="411480"/>
          </a:xfrm>
          <a:prstGeom prst="rect">
            <a:avLst/>
          </a:prstGeom>
          <a:noFill/>
        </p:spPr>
        <p:txBody>
          <a:bodyPr wrap="square" lIns="0" tIns="0" rIns="0" bIns="0" anchor="t">
            <a:spAutoFit/>
          </a:bodyPr>
          <a:lstStyle/>
          <a:p>
            <a:pPr algn="l">
              <a:spcBef>
                <a:spcPts val="0"/>
              </a:spcBef>
              <a:spcAft>
                <a:spcPts val="0"/>
              </a:spcAft>
            </a:pPr>
            <a:r>
              <a:rPr sz="2300" b="1" i="0">
                <a:solidFill>
                  <a:srgbClr val="F8FAFC"/>
                </a:solidFill>
                <a:latin typeface="Arial"/>
              </a:rPr>
              <a:t>MARBERTv2</a:t>
            </a:r>
          </a:p>
        </p:txBody>
      </p:sp>
      <p:cxnSp>
        <p:nvCxnSpPr>
          <p:cNvPr id="19" name="Connector 18"/>
          <p:cNvCxnSpPr/>
          <p:nvPr/>
        </p:nvCxnSpPr>
        <p:spPr>
          <a:xfrm>
            <a:off x="3127248" y="4151376"/>
            <a:ext cx="0" cy="694944"/>
          </a:xfrm>
          <a:prstGeom prst="line">
            <a:avLst/>
          </a:prstGeom>
          <a:ln w="12700">
            <a:solidFill>
              <a:srgbClr val="47556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438144" y="4105656"/>
            <a:ext cx="1965960" cy="201168"/>
          </a:xfrm>
          <a:prstGeom prst="rect">
            <a:avLst/>
          </a:prstGeom>
          <a:noFill/>
        </p:spPr>
        <p:txBody>
          <a:bodyPr wrap="square" lIns="0" tIns="0" rIns="0" bIns="0" anchor="t">
            <a:spAutoFit/>
          </a:bodyPr>
          <a:lstStyle/>
          <a:p>
            <a:pPr algn="l">
              <a:spcBef>
                <a:spcPts val="0"/>
              </a:spcBef>
              <a:spcAft>
                <a:spcPts val="0"/>
              </a:spcAft>
            </a:pPr>
            <a:r>
              <a:rPr sz="830" b="1" i="0">
                <a:solidFill>
                  <a:srgbClr val="94A3B8"/>
                </a:solidFill>
                <a:latin typeface="Arial"/>
              </a:rPr>
              <a:t>UNSEEN TEST ACCURACY</a:t>
            </a:r>
          </a:p>
        </p:txBody>
      </p:sp>
      <p:sp>
        <p:nvSpPr>
          <p:cNvPr id="21" name="TextBox 20"/>
          <p:cNvSpPr txBox="1"/>
          <p:nvPr/>
        </p:nvSpPr>
        <p:spPr>
          <a:xfrm>
            <a:off x="3429000" y="4379976"/>
            <a:ext cx="1828800" cy="411480"/>
          </a:xfrm>
          <a:prstGeom prst="rect">
            <a:avLst/>
          </a:prstGeom>
          <a:noFill/>
        </p:spPr>
        <p:txBody>
          <a:bodyPr wrap="square" lIns="0" tIns="0" rIns="0" bIns="0" anchor="t">
            <a:spAutoFit/>
          </a:bodyPr>
          <a:lstStyle/>
          <a:p>
            <a:pPr algn="l">
              <a:spcBef>
                <a:spcPts val="0"/>
              </a:spcBef>
              <a:spcAft>
                <a:spcPts val="0"/>
              </a:spcAft>
            </a:pPr>
            <a:r>
              <a:rPr sz="2400" b="1" i="0">
                <a:solidFill>
                  <a:srgbClr val="38BDF8"/>
                </a:solidFill>
                <a:latin typeface="Arial"/>
              </a:rPr>
              <a:t>92.25%</a:t>
            </a:r>
          </a:p>
        </p:txBody>
      </p:sp>
      <p:cxnSp>
        <p:nvCxnSpPr>
          <p:cNvPr id="22" name="Connector 21"/>
          <p:cNvCxnSpPr/>
          <p:nvPr/>
        </p:nvCxnSpPr>
        <p:spPr>
          <a:xfrm>
            <a:off x="5559552" y="4151376"/>
            <a:ext cx="0" cy="694944"/>
          </a:xfrm>
          <a:prstGeom prst="line">
            <a:avLst/>
          </a:prstGeom>
          <a:ln w="12700">
            <a:solidFill>
              <a:srgbClr val="47556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870448" y="4105656"/>
            <a:ext cx="1645920" cy="201168"/>
          </a:xfrm>
          <a:prstGeom prst="rect">
            <a:avLst/>
          </a:prstGeom>
          <a:noFill/>
        </p:spPr>
        <p:txBody>
          <a:bodyPr wrap="square" lIns="0" tIns="0" rIns="0" bIns="0" anchor="t">
            <a:spAutoFit/>
          </a:bodyPr>
          <a:lstStyle/>
          <a:p>
            <a:pPr algn="l">
              <a:spcBef>
                <a:spcPts val="0"/>
              </a:spcBef>
              <a:spcAft>
                <a:spcPts val="0"/>
              </a:spcAft>
            </a:pPr>
            <a:r>
              <a:rPr sz="830" b="1" i="0">
                <a:solidFill>
                  <a:srgbClr val="94A3B8"/>
                </a:solidFill>
                <a:latin typeface="Arial"/>
              </a:rPr>
              <a:t>MACRO F1</a:t>
            </a:r>
          </a:p>
        </p:txBody>
      </p:sp>
      <p:sp>
        <p:nvSpPr>
          <p:cNvPr id="24" name="TextBox 23"/>
          <p:cNvSpPr txBox="1"/>
          <p:nvPr/>
        </p:nvSpPr>
        <p:spPr>
          <a:xfrm>
            <a:off x="5852160" y="4379976"/>
            <a:ext cx="1828800" cy="411480"/>
          </a:xfrm>
          <a:prstGeom prst="rect">
            <a:avLst/>
          </a:prstGeom>
          <a:noFill/>
        </p:spPr>
        <p:txBody>
          <a:bodyPr wrap="square" lIns="0" tIns="0" rIns="0" bIns="0" anchor="t">
            <a:spAutoFit/>
          </a:bodyPr>
          <a:lstStyle/>
          <a:p>
            <a:pPr algn="l">
              <a:spcBef>
                <a:spcPts val="0"/>
              </a:spcBef>
              <a:spcAft>
                <a:spcPts val="0"/>
              </a:spcAft>
            </a:pPr>
            <a:r>
              <a:rPr sz="2400" b="1" i="0">
                <a:solidFill>
                  <a:srgbClr val="16A34A"/>
                </a:solidFill>
                <a:latin typeface="Arial"/>
              </a:rPr>
              <a:t>92.24%</a:t>
            </a:r>
          </a:p>
        </p:txBody>
      </p:sp>
      <p:sp>
        <p:nvSpPr>
          <p:cNvPr id="25" name="TextBox 24"/>
          <p:cNvSpPr txBox="1"/>
          <p:nvPr/>
        </p:nvSpPr>
        <p:spPr>
          <a:xfrm>
            <a:off x="768096" y="5669280"/>
            <a:ext cx="1371600" cy="173736"/>
          </a:xfrm>
          <a:prstGeom prst="rect">
            <a:avLst/>
          </a:prstGeom>
          <a:noFill/>
        </p:spPr>
        <p:txBody>
          <a:bodyPr wrap="square" lIns="0" tIns="0" rIns="0" bIns="0" anchor="t">
            <a:spAutoFit/>
          </a:bodyPr>
          <a:lstStyle/>
          <a:p>
            <a:pPr algn="l">
              <a:spcBef>
                <a:spcPts val="0"/>
              </a:spcBef>
              <a:spcAft>
                <a:spcPts val="0"/>
              </a:spcAft>
            </a:pPr>
            <a:r>
              <a:rPr sz="800" b="1" i="0">
                <a:solidFill>
                  <a:srgbClr val="38BDF8"/>
                </a:solidFill>
                <a:latin typeface="Arial"/>
              </a:rPr>
              <a:t>TARGET DIALECTS</a:t>
            </a:r>
          </a:p>
        </p:txBody>
      </p:sp>
      <p:sp>
        <p:nvSpPr>
          <p:cNvPr id="26" name="TextBox 25"/>
          <p:cNvSpPr txBox="1"/>
          <p:nvPr/>
        </p:nvSpPr>
        <p:spPr>
          <a:xfrm>
            <a:off x="2148840" y="5641848"/>
            <a:ext cx="4480560" cy="219456"/>
          </a:xfrm>
          <a:prstGeom prst="rect">
            <a:avLst/>
          </a:prstGeom>
          <a:noFill/>
        </p:spPr>
        <p:txBody>
          <a:bodyPr wrap="square" lIns="0" tIns="0" rIns="0" bIns="0" anchor="t">
            <a:spAutoFit/>
          </a:bodyPr>
          <a:lstStyle/>
          <a:p>
            <a:pPr algn="l">
              <a:spcBef>
                <a:spcPts val="0"/>
              </a:spcBef>
              <a:spcAft>
                <a:spcPts val="0"/>
              </a:spcAft>
            </a:pPr>
            <a:r>
              <a:rPr sz="1000" b="0" i="0">
                <a:solidFill>
                  <a:srgbClr val="F8FAFC"/>
                </a:solidFill>
                <a:latin typeface="Arial"/>
              </a:rPr>
              <a:t>Beirut  •  Cairo  •  Doha  •  MSA  •  Tunis</a:t>
            </a:r>
          </a:p>
        </p:txBody>
      </p:sp>
      <p:sp>
        <p:nvSpPr>
          <p:cNvPr id="27" name="TextBox 26"/>
          <p:cNvSpPr txBox="1"/>
          <p:nvPr/>
        </p:nvSpPr>
        <p:spPr>
          <a:xfrm>
            <a:off x="768096" y="6071616"/>
            <a:ext cx="6309360" cy="192024"/>
          </a:xfrm>
          <a:prstGeom prst="rect">
            <a:avLst/>
          </a:prstGeom>
          <a:noFill/>
        </p:spPr>
        <p:txBody>
          <a:bodyPr wrap="square" lIns="0" tIns="0" rIns="0" bIns="0" anchor="t">
            <a:spAutoFit/>
          </a:bodyPr>
          <a:lstStyle/>
          <a:p>
            <a:pPr algn="l">
              <a:spcBef>
                <a:spcPts val="0"/>
              </a:spcBef>
              <a:spcAft>
                <a:spcPts val="0"/>
              </a:spcAft>
            </a:pPr>
            <a:r>
              <a:rPr sz="900" b="0" i="0">
                <a:solidFill>
                  <a:srgbClr val="94A3B8"/>
                </a:solidFill>
                <a:latin typeface="Arial"/>
              </a:rPr>
              <a:t>GitHub  /  meedooatef22/arabic-dialect-classification</a:t>
            </a:r>
          </a:p>
        </p:txBody>
      </p:sp>
      <p:sp>
        <p:nvSpPr>
          <p:cNvPr id="28" name="Rounded Rectangle 27"/>
          <p:cNvSpPr/>
          <p:nvPr/>
        </p:nvSpPr>
        <p:spPr>
          <a:xfrm>
            <a:off x="9308592" y="4937760"/>
            <a:ext cx="1920240" cy="384048"/>
          </a:xfrm>
          <a:prstGeom prst="roundRect">
            <a:avLst/>
          </a:prstGeom>
          <a:solidFill>
            <a:srgbClr val="311A3A"/>
          </a:solidFill>
          <a:ln w="10160">
            <a:solidFill>
              <a:srgbClr val="EC4899"/>
            </a:solidFill>
          </a:ln>
        </p:spPr>
        <p:txBody>
          <a:bodyPr rtlCol="0" anchor="ctr"/>
          <a:lstStyle/>
          <a:p>
            <a:pPr algn="ctr"/>
            <a:endParaRPr/>
          </a:p>
        </p:txBody>
      </p:sp>
      <p:sp>
        <p:nvSpPr>
          <p:cNvPr id="29" name="TextBox 28"/>
          <p:cNvSpPr txBox="1"/>
          <p:nvPr/>
        </p:nvSpPr>
        <p:spPr>
          <a:xfrm>
            <a:off x="9418320" y="5038344"/>
            <a:ext cx="1700784" cy="164592"/>
          </a:xfrm>
          <a:prstGeom prst="rect">
            <a:avLst/>
          </a:prstGeom>
          <a:noFill/>
        </p:spPr>
        <p:txBody>
          <a:bodyPr wrap="square" lIns="0" tIns="0" rIns="0" bIns="0" anchor="t">
            <a:spAutoFit/>
          </a:bodyPr>
          <a:lstStyle/>
          <a:p>
            <a:pPr algn="ctr">
              <a:spcBef>
                <a:spcPts val="0"/>
              </a:spcBef>
              <a:spcAft>
                <a:spcPts val="0"/>
              </a:spcAft>
            </a:pPr>
            <a:r>
              <a:rPr sz="819" b="1" i="0">
                <a:solidFill>
                  <a:srgbClr val="FBCFE8"/>
                </a:solidFill>
                <a:latin typeface="Arial"/>
              </a:rPr>
              <a:t>DIALECT-AWARE NLP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F172A"/>
          </a:solidFill>
          <a:ln>
            <a:noFill/>
          </a:ln>
        </p:spPr>
        <p:txBody>
          <a:bodyPr rtlCol="0" anchor="ctr"/>
          <a:lstStyle/>
          <a:p>
            <a:pPr algn="ctr"/>
            <a:endParaRPr/>
          </a:p>
        </p:txBody>
      </p:sp>
      <p:sp>
        <p:nvSpPr>
          <p:cNvPr id="3" name="Rectangle 2"/>
          <p:cNvSpPr/>
          <p:nvPr/>
        </p:nvSpPr>
        <p:spPr>
          <a:xfrm>
            <a:off x="0" y="0"/>
            <a:ext cx="2011680" cy="128016"/>
          </a:xfrm>
          <a:prstGeom prst="rect">
            <a:avLst/>
          </a:prstGeom>
          <a:solidFill>
            <a:srgbClr val="38BDF8"/>
          </a:solidFill>
          <a:ln>
            <a:noFill/>
          </a:ln>
        </p:spPr>
        <p:txBody>
          <a:bodyPr rtlCol="0" anchor="ctr"/>
          <a:lstStyle/>
          <a:p>
            <a:pPr algn="ctr"/>
            <a:endParaRPr/>
          </a:p>
        </p:txBody>
      </p:sp>
      <p:sp>
        <p:nvSpPr>
          <p:cNvPr id="4" name="TextBox 3"/>
          <p:cNvSpPr txBox="1"/>
          <p:nvPr/>
        </p:nvSpPr>
        <p:spPr>
          <a:xfrm>
            <a:off x="603504" y="274320"/>
            <a:ext cx="2743200" cy="201168"/>
          </a:xfrm>
          <a:prstGeom prst="rect">
            <a:avLst/>
          </a:prstGeom>
          <a:noFill/>
        </p:spPr>
        <p:txBody>
          <a:bodyPr wrap="square" lIns="0" tIns="0" rIns="0" bIns="0" anchor="t">
            <a:spAutoFit/>
          </a:bodyPr>
          <a:lstStyle/>
          <a:p>
            <a:pPr algn="l">
              <a:spcBef>
                <a:spcPts val="0"/>
              </a:spcBef>
              <a:spcAft>
                <a:spcPts val="0"/>
              </a:spcAft>
            </a:pPr>
            <a:r>
              <a:rPr sz="850" b="1" i="0">
                <a:solidFill>
                  <a:srgbClr val="2563EB"/>
                </a:solidFill>
                <a:latin typeface="Arial"/>
              </a:rPr>
              <a:t>THE PROBLEM</a:t>
            </a:r>
          </a:p>
        </p:txBody>
      </p:sp>
      <p:sp>
        <p:nvSpPr>
          <p:cNvPr id="5" name="TextBox 4"/>
          <p:cNvSpPr txBox="1"/>
          <p:nvPr/>
        </p:nvSpPr>
        <p:spPr>
          <a:xfrm>
            <a:off x="594360" y="521207"/>
            <a:ext cx="10972800" cy="530352"/>
          </a:xfrm>
          <a:prstGeom prst="rect">
            <a:avLst/>
          </a:prstGeom>
          <a:noFill/>
        </p:spPr>
        <p:txBody>
          <a:bodyPr wrap="square" lIns="0" tIns="0" rIns="0" bIns="0" anchor="t">
            <a:spAutoFit/>
          </a:bodyPr>
          <a:lstStyle/>
          <a:p>
            <a:pPr algn="l">
              <a:spcBef>
                <a:spcPts val="0"/>
              </a:spcBef>
              <a:spcAft>
                <a:spcPts val="0"/>
              </a:spcAft>
            </a:pPr>
            <a:r>
              <a:rPr sz="2800" b="1" i="0">
                <a:solidFill>
                  <a:srgbClr val="0F172A"/>
                </a:solidFill>
                <a:latin typeface="Arial"/>
              </a:rPr>
              <a:t>Why Is Arabic Dialect Classification Challenging?</a:t>
            </a:r>
          </a:p>
        </p:txBody>
      </p:sp>
      <p:sp>
        <p:nvSpPr>
          <p:cNvPr id="6" name="Oval 5"/>
          <p:cNvSpPr/>
          <p:nvPr/>
        </p:nvSpPr>
        <p:spPr>
          <a:xfrm>
            <a:off x="11411712" y="347472"/>
            <a:ext cx="164592" cy="164592"/>
          </a:xfrm>
          <a:prstGeom prst="ellipse">
            <a:avLst/>
          </a:prstGeom>
          <a:solidFill>
            <a:srgbClr val="38BDF8"/>
          </a:solidFill>
          <a:ln>
            <a:noFill/>
          </a:ln>
        </p:spPr>
        <p:txBody>
          <a:bodyPr rtlCol="0" anchor="ctr"/>
          <a:lstStyle/>
          <a:p>
            <a:pPr algn="ctr"/>
            <a:endParaRPr/>
          </a:p>
        </p:txBody>
      </p:sp>
      <p:sp>
        <p:nvSpPr>
          <p:cNvPr id="7" name="Oval 6"/>
          <p:cNvSpPr/>
          <p:nvPr/>
        </p:nvSpPr>
        <p:spPr>
          <a:xfrm>
            <a:off x="11612880" y="347472"/>
            <a:ext cx="164592" cy="164592"/>
          </a:xfrm>
          <a:prstGeom prst="ellipse">
            <a:avLst/>
          </a:prstGeom>
          <a:solidFill>
            <a:srgbClr val="EC4899"/>
          </a:solidFill>
          <a:ln>
            <a:noFill/>
          </a:ln>
        </p:spPr>
        <p:txBody>
          <a:bodyPr rtlCol="0" anchor="ctr"/>
          <a:lstStyle/>
          <a:p>
            <a:pPr algn="ctr"/>
            <a:endParaRPr/>
          </a:p>
        </p:txBody>
      </p:sp>
      <p:sp>
        <p:nvSpPr>
          <p:cNvPr id="8" name="Oval 7"/>
          <p:cNvSpPr/>
          <p:nvPr/>
        </p:nvSpPr>
        <p:spPr>
          <a:xfrm>
            <a:off x="11814048" y="347472"/>
            <a:ext cx="164592" cy="164592"/>
          </a:xfrm>
          <a:prstGeom prst="ellipse">
            <a:avLst/>
          </a:prstGeom>
          <a:solidFill>
            <a:srgbClr val="2563EB"/>
          </a:solidFill>
          <a:ln>
            <a:noFill/>
          </a:ln>
        </p:spPr>
        <p:txBody>
          <a:bodyPr rtlCol="0" anchor="ctr"/>
          <a:lstStyle/>
          <a:p>
            <a:pPr algn="ctr"/>
            <a:endParaRPr/>
          </a:p>
        </p:txBody>
      </p:sp>
      <p:sp>
        <p:nvSpPr>
          <p:cNvPr id="9" name="Rounded Rectangle 8"/>
          <p:cNvSpPr/>
          <p:nvPr/>
        </p:nvSpPr>
        <p:spPr>
          <a:xfrm>
            <a:off x="626364" y="1394460"/>
            <a:ext cx="3547872" cy="4553712"/>
          </a:xfrm>
          <a:prstGeom prst="roundRect">
            <a:avLst/>
          </a:prstGeom>
          <a:solidFill>
            <a:srgbClr val="F1F5F9"/>
          </a:solidFill>
          <a:ln>
            <a:noFill/>
          </a:ln>
        </p:spPr>
        <p:txBody>
          <a:bodyPr rtlCol="0" anchor="ctr"/>
          <a:lstStyle/>
          <a:p>
            <a:pPr algn="ctr"/>
            <a:endParaRPr/>
          </a:p>
        </p:txBody>
      </p:sp>
      <p:sp>
        <p:nvSpPr>
          <p:cNvPr id="10" name="Rounded Rectangle 9"/>
          <p:cNvSpPr/>
          <p:nvPr/>
        </p:nvSpPr>
        <p:spPr>
          <a:xfrm>
            <a:off x="594360" y="1353312"/>
            <a:ext cx="3547872" cy="4553712"/>
          </a:xfrm>
          <a:prstGeom prst="roundRect">
            <a:avLst/>
          </a:prstGeom>
          <a:solidFill>
            <a:srgbClr val="FFFFFF"/>
          </a:solidFill>
          <a:ln w="10160">
            <a:solidFill>
              <a:srgbClr val="CBD5E1"/>
            </a:solidFill>
          </a:ln>
        </p:spPr>
        <p:txBody>
          <a:bodyPr rtlCol="0" anchor="ctr"/>
          <a:lstStyle/>
          <a:p>
            <a:pPr algn="ctr"/>
            <a:endParaRPr/>
          </a:p>
        </p:txBody>
      </p:sp>
      <p:sp>
        <p:nvSpPr>
          <p:cNvPr id="11" name="Rectangle 10"/>
          <p:cNvSpPr/>
          <p:nvPr/>
        </p:nvSpPr>
        <p:spPr>
          <a:xfrm>
            <a:off x="594360" y="1371600"/>
            <a:ext cx="50292" cy="4517136"/>
          </a:xfrm>
          <a:prstGeom prst="rect">
            <a:avLst/>
          </a:prstGeom>
          <a:solidFill>
            <a:srgbClr val="38BDF8"/>
          </a:solidFill>
          <a:ln>
            <a:noFill/>
          </a:ln>
        </p:spPr>
        <p:txBody>
          <a:bodyPr rtlCol="0" anchor="ctr"/>
          <a:lstStyle/>
          <a:p>
            <a:pPr algn="ctr"/>
            <a:endParaRPr/>
          </a:p>
        </p:txBody>
      </p:sp>
      <p:sp>
        <p:nvSpPr>
          <p:cNvPr id="12" name="TextBox 11"/>
          <p:cNvSpPr txBox="1"/>
          <p:nvPr/>
        </p:nvSpPr>
        <p:spPr>
          <a:xfrm>
            <a:off x="813816" y="1554480"/>
            <a:ext cx="3136391" cy="438912"/>
          </a:xfrm>
          <a:prstGeom prst="rect">
            <a:avLst/>
          </a:prstGeom>
          <a:noFill/>
        </p:spPr>
        <p:txBody>
          <a:bodyPr wrap="square" lIns="0" tIns="0" rIns="0" bIns="0" anchor="t">
            <a:spAutoFit/>
          </a:bodyPr>
          <a:lstStyle/>
          <a:p>
            <a:pPr algn="l">
              <a:spcBef>
                <a:spcPts val="0"/>
              </a:spcBef>
              <a:spcAft>
                <a:spcPts val="0"/>
              </a:spcAft>
            </a:pPr>
            <a:r>
              <a:rPr sz="1620" b="1" i="0">
                <a:solidFill>
                  <a:srgbClr val="1E293B"/>
                </a:solidFill>
                <a:latin typeface="Arial"/>
              </a:rPr>
              <a:t>Sociolinguistic Diglossia</a:t>
            </a:r>
          </a:p>
        </p:txBody>
      </p:sp>
      <p:sp>
        <p:nvSpPr>
          <p:cNvPr id="13" name="Oval 12"/>
          <p:cNvSpPr/>
          <p:nvPr/>
        </p:nvSpPr>
        <p:spPr>
          <a:xfrm>
            <a:off x="3529584" y="1554480"/>
            <a:ext cx="320040" cy="320040"/>
          </a:xfrm>
          <a:prstGeom prst="ellipse">
            <a:avLst/>
          </a:prstGeom>
          <a:solidFill>
            <a:srgbClr val="E0F2FE"/>
          </a:solidFill>
          <a:ln>
            <a:noFill/>
          </a:ln>
        </p:spPr>
        <p:txBody>
          <a:bodyPr rtlCol="0" anchor="ctr"/>
          <a:lstStyle/>
          <a:p>
            <a:pPr algn="ctr"/>
            <a:endParaRPr/>
          </a:p>
        </p:txBody>
      </p:sp>
      <p:sp>
        <p:nvSpPr>
          <p:cNvPr id="14" name="TextBox 13"/>
          <p:cNvSpPr txBox="1"/>
          <p:nvPr/>
        </p:nvSpPr>
        <p:spPr>
          <a:xfrm>
            <a:off x="3547872" y="1618488"/>
            <a:ext cx="283464" cy="155448"/>
          </a:xfrm>
          <a:prstGeom prst="rect">
            <a:avLst/>
          </a:prstGeom>
          <a:noFill/>
        </p:spPr>
        <p:txBody>
          <a:bodyPr wrap="square" lIns="0" tIns="0" rIns="0" bIns="0" anchor="t">
            <a:spAutoFit/>
          </a:bodyPr>
          <a:lstStyle/>
          <a:p>
            <a:pPr algn="ctr">
              <a:spcBef>
                <a:spcPts val="0"/>
              </a:spcBef>
              <a:spcAft>
                <a:spcPts val="0"/>
              </a:spcAft>
            </a:pPr>
            <a:r>
              <a:rPr sz="900" b="1" i="0">
                <a:solidFill>
                  <a:srgbClr val="38BDF8"/>
                </a:solidFill>
                <a:latin typeface="Arial"/>
              </a:rPr>
              <a:t>01</a:t>
            </a:r>
          </a:p>
        </p:txBody>
      </p:sp>
      <p:sp>
        <p:nvSpPr>
          <p:cNvPr id="15" name="TextBox 14"/>
          <p:cNvSpPr txBox="1"/>
          <p:nvPr/>
        </p:nvSpPr>
        <p:spPr>
          <a:xfrm>
            <a:off x="795528" y="2148840"/>
            <a:ext cx="3145536" cy="3246120"/>
          </a:xfrm>
          <a:prstGeom prst="rect">
            <a:avLst/>
          </a:prstGeom>
          <a:noFill/>
        </p:spPr>
        <p:txBody>
          <a:bodyPr wrap="square" lIns="54864" tIns="27432" rIns="36576" bIns="18288">
            <a:spAutoFit/>
          </a:bodyPr>
          <a:lstStyle/>
          <a:p>
            <a:pPr>
              <a:lnSpc>
                <a:spcPct val="105000"/>
              </a:lnSpc>
              <a:spcBef>
                <a:spcPts val="0"/>
              </a:spcBef>
              <a:spcAft>
                <a:spcPts val="1900"/>
              </a:spcAft>
              <a:defRPr sz="1340">
                <a:solidFill>
                  <a:srgbClr val="1E293B"/>
                </a:solidFill>
                <a:latin typeface="Arial"/>
              </a:defRPr>
            </a:pPr>
            <a:r>
              <a:t>•  Formal MSA coexists with regional spoken dialects (Ammiya) used in everyday social media.</a:t>
            </a:r>
          </a:p>
          <a:p>
            <a:pPr>
              <a:lnSpc>
                <a:spcPct val="105000"/>
              </a:lnSpc>
              <a:spcBef>
                <a:spcPts val="0"/>
              </a:spcBef>
              <a:spcAft>
                <a:spcPts val="1900"/>
              </a:spcAft>
              <a:defRPr sz="1340">
                <a:solidFill>
                  <a:srgbClr val="1E293B"/>
                </a:solidFill>
                <a:latin typeface="Arial"/>
              </a:defRPr>
            </a:pPr>
            <a:r>
              <a:t>•  No standardized spelling: Hamza (أ/إ/ا), Ya (ى/ي), and Ta-Marbuta (ة/ه) vary.</a:t>
            </a:r>
          </a:p>
        </p:txBody>
      </p:sp>
      <p:cxnSp>
        <p:nvCxnSpPr>
          <p:cNvPr id="16" name="Connector 15"/>
          <p:cNvCxnSpPr/>
          <p:nvPr/>
        </p:nvCxnSpPr>
        <p:spPr>
          <a:xfrm>
            <a:off x="813816" y="5394960"/>
            <a:ext cx="3127248"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13816" y="5522976"/>
            <a:ext cx="3090672" cy="173736"/>
          </a:xfrm>
          <a:prstGeom prst="rect">
            <a:avLst/>
          </a:prstGeom>
          <a:noFill/>
        </p:spPr>
        <p:txBody>
          <a:bodyPr wrap="square" lIns="0" tIns="0" rIns="0" bIns="0" anchor="t">
            <a:spAutoFit/>
          </a:bodyPr>
          <a:lstStyle/>
          <a:p>
            <a:pPr algn="l">
              <a:spcBef>
                <a:spcPts val="0"/>
              </a:spcBef>
              <a:spcAft>
                <a:spcPts val="0"/>
              </a:spcAft>
            </a:pPr>
            <a:r>
              <a:rPr sz="819" b="1" i="0">
                <a:solidFill>
                  <a:srgbClr val="38BDF8"/>
                </a:solidFill>
                <a:latin typeface="Arial"/>
              </a:rPr>
              <a:t>ORTHOGRAPHIC VARIATION</a:t>
            </a:r>
          </a:p>
        </p:txBody>
      </p:sp>
      <p:sp>
        <p:nvSpPr>
          <p:cNvPr id="18" name="Rounded Rectangle 17"/>
          <p:cNvSpPr/>
          <p:nvPr/>
        </p:nvSpPr>
        <p:spPr>
          <a:xfrm>
            <a:off x="4494276" y="1394460"/>
            <a:ext cx="3547872" cy="4553712"/>
          </a:xfrm>
          <a:prstGeom prst="roundRect">
            <a:avLst/>
          </a:prstGeom>
          <a:solidFill>
            <a:srgbClr val="F1F5F9"/>
          </a:solidFill>
          <a:ln>
            <a:noFill/>
          </a:ln>
        </p:spPr>
        <p:txBody>
          <a:bodyPr rtlCol="0" anchor="ctr"/>
          <a:lstStyle/>
          <a:p>
            <a:pPr algn="ctr"/>
            <a:endParaRPr/>
          </a:p>
        </p:txBody>
      </p:sp>
      <p:sp>
        <p:nvSpPr>
          <p:cNvPr id="19" name="Rounded Rectangle 18"/>
          <p:cNvSpPr/>
          <p:nvPr/>
        </p:nvSpPr>
        <p:spPr>
          <a:xfrm>
            <a:off x="4462272" y="1353312"/>
            <a:ext cx="3547872" cy="4553712"/>
          </a:xfrm>
          <a:prstGeom prst="roundRect">
            <a:avLst/>
          </a:prstGeom>
          <a:solidFill>
            <a:srgbClr val="FFFFFF"/>
          </a:solidFill>
          <a:ln w="10160">
            <a:solidFill>
              <a:srgbClr val="CBD5E1"/>
            </a:solidFill>
          </a:ln>
        </p:spPr>
        <p:txBody>
          <a:bodyPr rtlCol="0" anchor="ctr"/>
          <a:lstStyle/>
          <a:p>
            <a:pPr algn="ctr"/>
            <a:endParaRPr/>
          </a:p>
        </p:txBody>
      </p:sp>
      <p:sp>
        <p:nvSpPr>
          <p:cNvPr id="20" name="Rectangle 19"/>
          <p:cNvSpPr/>
          <p:nvPr/>
        </p:nvSpPr>
        <p:spPr>
          <a:xfrm>
            <a:off x="4462272" y="1371600"/>
            <a:ext cx="50292" cy="4517136"/>
          </a:xfrm>
          <a:prstGeom prst="rect">
            <a:avLst/>
          </a:prstGeom>
          <a:solidFill>
            <a:srgbClr val="EC4899"/>
          </a:solidFill>
          <a:ln>
            <a:noFill/>
          </a:ln>
        </p:spPr>
        <p:txBody>
          <a:bodyPr rtlCol="0" anchor="ctr"/>
          <a:lstStyle/>
          <a:p>
            <a:pPr algn="ctr"/>
            <a:endParaRPr/>
          </a:p>
        </p:txBody>
      </p:sp>
      <p:sp>
        <p:nvSpPr>
          <p:cNvPr id="21" name="TextBox 20"/>
          <p:cNvSpPr txBox="1"/>
          <p:nvPr/>
        </p:nvSpPr>
        <p:spPr>
          <a:xfrm>
            <a:off x="4681728" y="1554480"/>
            <a:ext cx="3136391" cy="438912"/>
          </a:xfrm>
          <a:prstGeom prst="rect">
            <a:avLst/>
          </a:prstGeom>
          <a:noFill/>
        </p:spPr>
        <p:txBody>
          <a:bodyPr wrap="square" lIns="0" tIns="0" rIns="0" bIns="0" anchor="t">
            <a:spAutoFit/>
          </a:bodyPr>
          <a:lstStyle/>
          <a:p>
            <a:pPr algn="l">
              <a:spcBef>
                <a:spcPts val="0"/>
              </a:spcBef>
              <a:spcAft>
                <a:spcPts val="0"/>
              </a:spcAft>
            </a:pPr>
            <a:r>
              <a:rPr sz="1620" b="1" i="0">
                <a:solidFill>
                  <a:srgbClr val="1E293B"/>
                </a:solidFill>
                <a:latin typeface="Arial"/>
              </a:rPr>
              <a:t>Heavy Morphological Agglutination</a:t>
            </a:r>
          </a:p>
        </p:txBody>
      </p:sp>
      <p:sp>
        <p:nvSpPr>
          <p:cNvPr id="22" name="Oval 21"/>
          <p:cNvSpPr/>
          <p:nvPr/>
        </p:nvSpPr>
        <p:spPr>
          <a:xfrm>
            <a:off x="7397496" y="1554480"/>
            <a:ext cx="320040" cy="320040"/>
          </a:xfrm>
          <a:prstGeom prst="ellipse">
            <a:avLst/>
          </a:prstGeom>
          <a:solidFill>
            <a:srgbClr val="FCE7F3"/>
          </a:solidFill>
          <a:ln>
            <a:noFill/>
          </a:ln>
        </p:spPr>
        <p:txBody>
          <a:bodyPr rtlCol="0" anchor="ctr"/>
          <a:lstStyle/>
          <a:p>
            <a:pPr algn="ctr"/>
            <a:endParaRPr/>
          </a:p>
        </p:txBody>
      </p:sp>
      <p:sp>
        <p:nvSpPr>
          <p:cNvPr id="23" name="TextBox 22"/>
          <p:cNvSpPr txBox="1"/>
          <p:nvPr/>
        </p:nvSpPr>
        <p:spPr>
          <a:xfrm>
            <a:off x="7415783" y="1618488"/>
            <a:ext cx="283464" cy="155448"/>
          </a:xfrm>
          <a:prstGeom prst="rect">
            <a:avLst/>
          </a:prstGeom>
          <a:noFill/>
        </p:spPr>
        <p:txBody>
          <a:bodyPr wrap="square" lIns="0" tIns="0" rIns="0" bIns="0" anchor="t">
            <a:spAutoFit/>
          </a:bodyPr>
          <a:lstStyle/>
          <a:p>
            <a:pPr algn="ctr">
              <a:spcBef>
                <a:spcPts val="0"/>
              </a:spcBef>
              <a:spcAft>
                <a:spcPts val="0"/>
              </a:spcAft>
            </a:pPr>
            <a:r>
              <a:rPr sz="900" b="1" i="0">
                <a:solidFill>
                  <a:srgbClr val="EC4899"/>
                </a:solidFill>
                <a:latin typeface="Arial"/>
              </a:rPr>
              <a:t>02</a:t>
            </a:r>
          </a:p>
        </p:txBody>
      </p:sp>
      <p:sp>
        <p:nvSpPr>
          <p:cNvPr id="24" name="TextBox 23"/>
          <p:cNvSpPr txBox="1"/>
          <p:nvPr/>
        </p:nvSpPr>
        <p:spPr>
          <a:xfrm>
            <a:off x="4663440" y="2148840"/>
            <a:ext cx="3145536" cy="3246120"/>
          </a:xfrm>
          <a:prstGeom prst="rect">
            <a:avLst/>
          </a:prstGeom>
          <a:noFill/>
        </p:spPr>
        <p:txBody>
          <a:bodyPr wrap="square" lIns="54864" tIns="27432" rIns="36576" bIns="18288">
            <a:spAutoFit/>
          </a:bodyPr>
          <a:lstStyle/>
          <a:p>
            <a:pPr>
              <a:lnSpc>
                <a:spcPct val="105000"/>
              </a:lnSpc>
              <a:spcBef>
                <a:spcPts val="0"/>
              </a:spcBef>
              <a:spcAft>
                <a:spcPts val="1900"/>
              </a:spcAft>
              <a:defRPr sz="1340">
                <a:solidFill>
                  <a:srgbClr val="1E293B"/>
                </a:solidFill>
                <a:latin typeface="Arial"/>
              </a:defRPr>
            </a:pPr>
            <a:r>
              <a:t>•  Prepositions, negations, and pronouns fuse directly into word stems.</a:t>
            </a:r>
          </a:p>
          <a:p>
            <a:pPr>
              <a:lnSpc>
                <a:spcPct val="105000"/>
              </a:lnSpc>
              <a:spcBef>
                <a:spcPts val="0"/>
              </a:spcBef>
              <a:spcAft>
                <a:spcPts val="1900"/>
              </a:spcAft>
              <a:defRPr sz="1340">
                <a:solidFill>
                  <a:srgbClr val="1E293B"/>
                </a:solidFill>
                <a:latin typeface="Arial"/>
              </a:defRPr>
            </a:pPr>
            <a:r>
              <a:t>•  Examples: “شورايك” (Beirut), “هالفيش” (Doha), “فماش” (Tunis) drive high OOV rates.</a:t>
            </a:r>
          </a:p>
        </p:txBody>
      </p:sp>
      <p:cxnSp>
        <p:nvCxnSpPr>
          <p:cNvPr id="25" name="Connector 24"/>
          <p:cNvCxnSpPr/>
          <p:nvPr/>
        </p:nvCxnSpPr>
        <p:spPr>
          <a:xfrm>
            <a:off x="4681728" y="5394960"/>
            <a:ext cx="3127247"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681728" y="5522976"/>
            <a:ext cx="3090672" cy="173736"/>
          </a:xfrm>
          <a:prstGeom prst="rect">
            <a:avLst/>
          </a:prstGeom>
          <a:noFill/>
        </p:spPr>
        <p:txBody>
          <a:bodyPr wrap="square" lIns="0" tIns="0" rIns="0" bIns="0" anchor="t">
            <a:spAutoFit/>
          </a:bodyPr>
          <a:lstStyle/>
          <a:p>
            <a:pPr algn="l">
              <a:spcBef>
                <a:spcPts val="0"/>
              </a:spcBef>
              <a:spcAft>
                <a:spcPts val="0"/>
              </a:spcAft>
            </a:pPr>
            <a:r>
              <a:rPr sz="819" b="1" i="0">
                <a:solidFill>
                  <a:srgbClr val="EC4899"/>
                </a:solidFill>
                <a:latin typeface="Arial"/>
              </a:rPr>
              <a:t>SUBWORD COMPLEXITY</a:t>
            </a:r>
          </a:p>
        </p:txBody>
      </p:sp>
      <p:sp>
        <p:nvSpPr>
          <p:cNvPr id="27" name="Rounded Rectangle 26"/>
          <p:cNvSpPr/>
          <p:nvPr/>
        </p:nvSpPr>
        <p:spPr>
          <a:xfrm>
            <a:off x="8362188" y="1394460"/>
            <a:ext cx="3547872" cy="4553712"/>
          </a:xfrm>
          <a:prstGeom prst="roundRect">
            <a:avLst/>
          </a:prstGeom>
          <a:solidFill>
            <a:srgbClr val="F1F5F9"/>
          </a:solidFill>
          <a:ln>
            <a:noFill/>
          </a:ln>
        </p:spPr>
        <p:txBody>
          <a:bodyPr rtlCol="0" anchor="ctr"/>
          <a:lstStyle/>
          <a:p>
            <a:pPr algn="ctr"/>
            <a:endParaRPr/>
          </a:p>
        </p:txBody>
      </p:sp>
      <p:sp>
        <p:nvSpPr>
          <p:cNvPr id="28" name="Rounded Rectangle 27"/>
          <p:cNvSpPr/>
          <p:nvPr/>
        </p:nvSpPr>
        <p:spPr>
          <a:xfrm>
            <a:off x="8330183" y="1353312"/>
            <a:ext cx="3547872" cy="4553712"/>
          </a:xfrm>
          <a:prstGeom prst="roundRect">
            <a:avLst/>
          </a:prstGeom>
          <a:solidFill>
            <a:srgbClr val="FFFFFF"/>
          </a:solidFill>
          <a:ln w="10160">
            <a:solidFill>
              <a:srgbClr val="CBD5E1"/>
            </a:solidFill>
          </a:ln>
        </p:spPr>
        <p:txBody>
          <a:bodyPr rtlCol="0" anchor="ctr"/>
          <a:lstStyle/>
          <a:p>
            <a:pPr algn="ctr"/>
            <a:endParaRPr/>
          </a:p>
        </p:txBody>
      </p:sp>
      <p:sp>
        <p:nvSpPr>
          <p:cNvPr id="29" name="Rectangle 28"/>
          <p:cNvSpPr/>
          <p:nvPr/>
        </p:nvSpPr>
        <p:spPr>
          <a:xfrm>
            <a:off x="8330183" y="1371600"/>
            <a:ext cx="50292" cy="4517136"/>
          </a:xfrm>
          <a:prstGeom prst="rect">
            <a:avLst/>
          </a:prstGeom>
          <a:solidFill>
            <a:srgbClr val="2563EB"/>
          </a:solidFill>
          <a:ln>
            <a:noFill/>
          </a:ln>
        </p:spPr>
        <p:txBody>
          <a:bodyPr rtlCol="0" anchor="ctr"/>
          <a:lstStyle/>
          <a:p>
            <a:pPr algn="ctr"/>
            <a:endParaRPr/>
          </a:p>
        </p:txBody>
      </p:sp>
      <p:sp>
        <p:nvSpPr>
          <p:cNvPr id="30" name="TextBox 29"/>
          <p:cNvSpPr txBox="1"/>
          <p:nvPr/>
        </p:nvSpPr>
        <p:spPr>
          <a:xfrm>
            <a:off x="8549640" y="1554480"/>
            <a:ext cx="3136391" cy="438912"/>
          </a:xfrm>
          <a:prstGeom prst="rect">
            <a:avLst/>
          </a:prstGeom>
          <a:noFill/>
        </p:spPr>
        <p:txBody>
          <a:bodyPr wrap="square" lIns="0" tIns="0" rIns="0" bIns="0" anchor="t">
            <a:spAutoFit/>
          </a:bodyPr>
          <a:lstStyle/>
          <a:p>
            <a:pPr algn="l">
              <a:spcBef>
                <a:spcPts val="0"/>
              </a:spcBef>
              <a:spcAft>
                <a:spcPts val="0"/>
              </a:spcAft>
            </a:pPr>
            <a:r>
              <a:rPr sz="1620" b="1" i="0">
                <a:solidFill>
                  <a:srgbClr val="1E293B"/>
                </a:solidFill>
                <a:latin typeface="Arial"/>
              </a:rPr>
              <a:t>Lexical Overlap &amp; Short Text</a:t>
            </a:r>
          </a:p>
        </p:txBody>
      </p:sp>
      <p:sp>
        <p:nvSpPr>
          <p:cNvPr id="31" name="Oval 30"/>
          <p:cNvSpPr/>
          <p:nvPr/>
        </p:nvSpPr>
        <p:spPr>
          <a:xfrm>
            <a:off x="11265407" y="1554480"/>
            <a:ext cx="320040" cy="320040"/>
          </a:xfrm>
          <a:prstGeom prst="ellipse">
            <a:avLst/>
          </a:prstGeom>
          <a:solidFill>
            <a:srgbClr val="E0F2FE"/>
          </a:solidFill>
          <a:ln>
            <a:noFill/>
          </a:ln>
        </p:spPr>
        <p:txBody>
          <a:bodyPr rtlCol="0" anchor="ctr"/>
          <a:lstStyle/>
          <a:p>
            <a:pPr algn="ctr"/>
            <a:endParaRPr/>
          </a:p>
        </p:txBody>
      </p:sp>
      <p:sp>
        <p:nvSpPr>
          <p:cNvPr id="32" name="TextBox 31"/>
          <p:cNvSpPr txBox="1"/>
          <p:nvPr/>
        </p:nvSpPr>
        <p:spPr>
          <a:xfrm>
            <a:off x="11283695" y="1618488"/>
            <a:ext cx="283464" cy="155448"/>
          </a:xfrm>
          <a:prstGeom prst="rect">
            <a:avLst/>
          </a:prstGeom>
          <a:noFill/>
        </p:spPr>
        <p:txBody>
          <a:bodyPr wrap="square" lIns="0" tIns="0" rIns="0" bIns="0" anchor="t">
            <a:spAutoFit/>
          </a:bodyPr>
          <a:lstStyle/>
          <a:p>
            <a:pPr algn="ctr">
              <a:spcBef>
                <a:spcPts val="0"/>
              </a:spcBef>
              <a:spcAft>
                <a:spcPts val="0"/>
              </a:spcAft>
            </a:pPr>
            <a:r>
              <a:rPr sz="900" b="1" i="0">
                <a:solidFill>
                  <a:srgbClr val="2563EB"/>
                </a:solidFill>
                <a:latin typeface="Arial"/>
              </a:rPr>
              <a:t>03</a:t>
            </a:r>
          </a:p>
        </p:txBody>
      </p:sp>
      <p:sp>
        <p:nvSpPr>
          <p:cNvPr id="33" name="TextBox 32"/>
          <p:cNvSpPr txBox="1"/>
          <p:nvPr/>
        </p:nvSpPr>
        <p:spPr>
          <a:xfrm>
            <a:off x="8531352" y="2148840"/>
            <a:ext cx="3145536" cy="3246120"/>
          </a:xfrm>
          <a:prstGeom prst="rect">
            <a:avLst/>
          </a:prstGeom>
          <a:noFill/>
        </p:spPr>
        <p:txBody>
          <a:bodyPr wrap="square" lIns="54864" tIns="27432" rIns="36576" bIns="18288">
            <a:spAutoFit/>
          </a:bodyPr>
          <a:lstStyle/>
          <a:p>
            <a:pPr>
              <a:lnSpc>
                <a:spcPct val="105000"/>
              </a:lnSpc>
              <a:spcBef>
                <a:spcPts val="0"/>
              </a:spcBef>
              <a:spcAft>
                <a:spcPts val="1900"/>
              </a:spcAft>
              <a:defRPr sz="1340">
                <a:solidFill>
                  <a:srgbClr val="1E293B"/>
                </a:solidFill>
                <a:latin typeface="Arial"/>
              </a:defRPr>
            </a:pPr>
            <a:r>
              <a:t>•  Neighboring dialects such as Beirut and Doha share vocabulary in unvocalized writing.</a:t>
            </a:r>
          </a:p>
          <a:p>
            <a:pPr>
              <a:lnSpc>
                <a:spcPct val="105000"/>
              </a:lnSpc>
              <a:spcBef>
                <a:spcPts val="0"/>
              </a:spcBef>
              <a:spcAft>
                <a:spcPts val="1900"/>
              </a:spcAft>
              <a:defRPr sz="1340">
                <a:solidFill>
                  <a:srgbClr val="1E293B"/>
                </a:solidFill>
                <a:latin typeface="Arial"/>
              </a:defRPr>
            </a:pPr>
            <a:r>
              <a:t>•  Conversational messages are often only 2–4 words, providing minimal context.</a:t>
            </a:r>
          </a:p>
        </p:txBody>
      </p:sp>
      <p:cxnSp>
        <p:nvCxnSpPr>
          <p:cNvPr id="34" name="Connector 33"/>
          <p:cNvCxnSpPr/>
          <p:nvPr/>
        </p:nvCxnSpPr>
        <p:spPr>
          <a:xfrm>
            <a:off x="8549640" y="5394960"/>
            <a:ext cx="3127247"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549640" y="5522976"/>
            <a:ext cx="3090672" cy="173736"/>
          </a:xfrm>
          <a:prstGeom prst="rect">
            <a:avLst/>
          </a:prstGeom>
          <a:noFill/>
        </p:spPr>
        <p:txBody>
          <a:bodyPr wrap="square" lIns="0" tIns="0" rIns="0" bIns="0" anchor="t">
            <a:spAutoFit/>
          </a:bodyPr>
          <a:lstStyle/>
          <a:p>
            <a:pPr algn="l">
              <a:spcBef>
                <a:spcPts val="0"/>
              </a:spcBef>
              <a:spcAft>
                <a:spcPts val="0"/>
              </a:spcAft>
            </a:pPr>
            <a:r>
              <a:rPr sz="819" b="1" i="0">
                <a:solidFill>
                  <a:srgbClr val="2563EB"/>
                </a:solidFill>
                <a:latin typeface="Arial"/>
              </a:rPr>
              <a:t>LOW-CONTEXT AMBIGUITY</a:t>
            </a:r>
          </a:p>
        </p:txBody>
      </p:sp>
      <p:cxnSp>
        <p:nvCxnSpPr>
          <p:cNvPr id="36" name="Connector 35"/>
          <p:cNvCxnSpPr/>
          <p:nvPr/>
        </p:nvCxnSpPr>
        <p:spPr>
          <a:xfrm>
            <a:off x="594360" y="6473952"/>
            <a:ext cx="11000232" cy="0"/>
          </a:xfrm>
          <a:prstGeom prst="line">
            <a:avLst/>
          </a:prstGeom>
          <a:ln w="8890">
            <a:solidFill>
              <a:srgbClr val="CBD5E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03504" y="6547104"/>
            <a:ext cx="4572000" cy="164592"/>
          </a:xfrm>
          <a:prstGeom prst="rect">
            <a:avLst/>
          </a:prstGeom>
          <a:noFill/>
        </p:spPr>
        <p:txBody>
          <a:bodyPr wrap="square" lIns="0" tIns="0" rIns="0" bIns="0" anchor="t">
            <a:spAutoFit/>
          </a:bodyPr>
          <a:lstStyle/>
          <a:p>
            <a:pPr algn="l">
              <a:spcBef>
                <a:spcPts val="0"/>
              </a:spcBef>
              <a:spcAft>
                <a:spcPts val="0"/>
              </a:spcAft>
            </a:pPr>
            <a:r>
              <a:rPr sz="800" b="1" i="0">
                <a:solidFill>
                  <a:srgbClr val="64748B"/>
                </a:solidFill>
                <a:latin typeface="Arial"/>
              </a:rPr>
              <a:t>ARABIC DIALECT CLASSIFICATION</a:t>
            </a:r>
          </a:p>
        </p:txBody>
      </p:sp>
      <p:sp>
        <p:nvSpPr>
          <p:cNvPr id="38" name="TextBox 37"/>
          <p:cNvSpPr txBox="1"/>
          <p:nvPr/>
        </p:nvSpPr>
        <p:spPr>
          <a:xfrm>
            <a:off x="10652760" y="6528816"/>
            <a:ext cx="914400" cy="182880"/>
          </a:xfrm>
          <a:prstGeom prst="rect">
            <a:avLst/>
          </a:prstGeom>
          <a:noFill/>
        </p:spPr>
        <p:txBody>
          <a:bodyPr wrap="square" lIns="0" tIns="0" rIns="0" bIns="0" anchor="t">
            <a:spAutoFit/>
          </a:bodyPr>
          <a:lstStyle/>
          <a:p>
            <a:pPr algn="r">
              <a:spcBef>
                <a:spcPts val="0"/>
              </a:spcBef>
              <a:spcAft>
                <a:spcPts val="0"/>
              </a:spcAft>
            </a:pPr>
            <a:r>
              <a:rPr sz="850" b="1" i="0">
                <a:solidFill>
                  <a:srgbClr val="64748B"/>
                </a:solidFill>
                <a:latin typeface="Arial"/>
              </a:rPr>
              <a:t>02  /  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F172A"/>
          </a:solidFill>
          <a:ln>
            <a:noFill/>
          </a:ln>
        </p:spPr>
        <p:txBody>
          <a:bodyPr rtlCol="0" anchor="ctr"/>
          <a:lstStyle/>
          <a:p>
            <a:pPr algn="ctr"/>
            <a:endParaRPr/>
          </a:p>
        </p:txBody>
      </p:sp>
      <p:sp>
        <p:nvSpPr>
          <p:cNvPr id="3" name="Rectangle 2"/>
          <p:cNvSpPr/>
          <p:nvPr/>
        </p:nvSpPr>
        <p:spPr>
          <a:xfrm>
            <a:off x="0" y="0"/>
            <a:ext cx="2011680" cy="128016"/>
          </a:xfrm>
          <a:prstGeom prst="rect">
            <a:avLst/>
          </a:prstGeom>
          <a:solidFill>
            <a:srgbClr val="38BDF8"/>
          </a:solidFill>
          <a:ln>
            <a:noFill/>
          </a:ln>
        </p:spPr>
        <p:txBody>
          <a:bodyPr rtlCol="0" anchor="ctr"/>
          <a:lstStyle/>
          <a:p>
            <a:pPr algn="ctr"/>
            <a:endParaRPr/>
          </a:p>
        </p:txBody>
      </p:sp>
      <p:sp>
        <p:nvSpPr>
          <p:cNvPr id="4" name="TextBox 3"/>
          <p:cNvSpPr txBox="1"/>
          <p:nvPr/>
        </p:nvSpPr>
        <p:spPr>
          <a:xfrm>
            <a:off x="603504" y="274320"/>
            <a:ext cx="2743200" cy="201168"/>
          </a:xfrm>
          <a:prstGeom prst="rect">
            <a:avLst/>
          </a:prstGeom>
          <a:noFill/>
        </p:spPr>
        <p:txBody>
          <a:bodyPr wrap="square" lIns="0" tIns="0" rIns="0" bIns="0" anchor="t">
            <a:spAutoFit/>
          </a:bodyPr>
          <a:lstStyle/>
          <a:p>
            <a:pPr algn="l">
              <a:spcBef>
                <a:spcPts val="0"/>
              </a:spcBef>
              <a:spcAft>
                <a:spcPts val="0"/>
              </a:spcAft>
            </a:pPr>
            <a:r>
              <a:rPr sz="850" b="1" i="0">
                <a:solidFill>
                  <a:srgbClr val="2563EB"/>
                </a:solidFill>
                <a:latin typeface="Arial"/>
              </a:rPr>
              <a:t>DATA &amp; VALIDATION</a:t>
            </a:r>
          </a:p>
        </p:txBody>
      </p:sp>
      <p:sp>
        <p:nvSpPr>
          <p:cNvPr id="5" name="TextBox 4"/>
          <p:cNvSpPr txBox="1"/>
          <p:nvPr/>
        </p:nvSpPr>
        <p:spPr>
          <a:xfrm>
            <a:off x="594360" y="521207"/>
            <a:ext cx="10972800" cy="530352"/>
          </a:xfrm>
          <a:prstGeom prst="rect">
            <a:avLst/>
          </a:prstGeom>
          <a:noFill/>
        </p:spPr>
        <p:txBody>
          <a:bodyPr wrap="square" lIns="0" tIns="0" rIns="0" bIns="0" anchor="t">
            <a:spAutoFit/>
          </a:bodyPr>
          <a:lstStyle/>
          <a:p>
            <a:pPr algn="l">
              <a:spcBef>
                <a:spcPts val="0"/>
              </a:spcBef>
              <a:spcAft>
                <a:spcPts val="0"/>
              </a:spcAft>
            </a:pPr>
            <a:r>
              <a:rPr sz="2800" b="1" i="0">
                <a:solidFill>
                  <a:srgbClr val="0F172A"/>
                </a:solidFill>
                <a:latin typeface="Arial"/>
              </a:rPr>
              <a:t>Dataset Overview &amp; Strict Data Hygiene (MADAR Corpus)</a:t>
            </a:r>
          </a:p>
        </p:txBody>
      </p:sp>
      <p:sp>
        <p:nvSpPr>
          <p:cNvPr id="6" name="Oval 5"/>
          <p:cNvSpPr/>
          <p:nvPr/>
        </p:nvSpPr>
        <p:spPr>
          <a:xfrm>
            <a:off x="11411712" y="347472"/>
            <a:ext cx="164592" cy="164592"/>
          </a:xfrm>
          <a:prstGeom prst="ellipse">
            <a:avLst/>
          </a:prstGeom>
          <a:solidFill>
            <a:srgbClr val="38BDF8"/>
          </a:solidFill>
          <a:ln>
            <a:noFill/>
          </a:ln>
        </p:spPr>
        <p:txBody>
          <a:bodyPr rtlCol="0" anchor="ctr"/>
          <a:lstStyle/>
          <a:p>
            <a:pPr algn="ctr"/>
            <a:endParaRPr/>
          </a:p>
        </p:txBody>
      </p:sp>
      <p:sp>
        <p:nvSpPr>
          <p:cNvPr id="7" name="Oval 6"/>
          <p:cNvSpPr/>
          <p:nvPr/>
        </p:nvSpPr>
        <p:spPr>
          <a:xfrm>
            <a:off x="11612880" y="347472"/>
            <a:ext cx="164592" cy="164592"/>
          </a:xfrm>
          <a:prstGeom prst="ellipse">
            <a:avLst/>
          </a:prstGeom>
          <a:solidFill>
            <a:srgbClr val="EC4899"/>
          </a:solidFill>
          <a:ln>
            <a:noFill/>
          </a:ln>
        </p:spPr>
        <p:txBody>
          <a:bodyPr rtlCol="0" anchor="ctr"/>
          <a:lstStyle/>
          <a:p>
            <a:pPr algn="ctr"/>
            <a:endParaRPr/>
          </a:p>
        </p:txBody>
      </p:sp>
      <p:sp>
        <p:nvSpPr>
          <p:cNvPr id="8" name="Oval 7"/>
          <p:cNvSpPr/>
          <p:nvPr/>
        </p:nvSpPr>
        <p:spPr>
          <a:xfrm>
            <a:off x="11814048" y="347472"/>
            <a:ext cx="164592" cy="164592"/>
          </a:xfrm>
          <a:prstGeom prst="ellipse">
            <a:avLst/>
          </a:prstGeom>
          <a:solidFill>
            <a:srgbClr val="2563EB"/>
          </a:solidFill>
          <a:ln>
            <a:noFill/>
          </a:ln>
        </p:spPr>
        <p:txBody>
          <a:bodyPr rtlCol="0" anchor="ctr"/>
          <a:lstStyle/>
          <a:p>
            <a:pPr algn="ctr"/>
            <a:endParaRPr/>
          </a:p>
        </p:txBody>
      </p:sp>
      <p:sp>
        <p:nvSpPr>
          <p:cNvPr id="9" name="Rounded Rectangle 8"/>
          <p:cNvSpPr/>
          <p:nvPr/>
        </p:nvSpPr>
        <p:spPr>
          <a:xfrm>
            <a:off x="626364" y="1357884"/>
            <a:ext cx="5349240" cy="4846320"/>
          </a:xfrm>
          <a:prstGeom prst="roundRect">
            <a:avLst/>
          </a:prstGeom>
          <a:solidFill>
            <a:srgbClr val="F1F5F9"/>
          </a:solidFill>
          <a:ln>
            <a:noFill/>
          </a:ln>
        </p:spPr>
        <p:txBody>
          <a:bodyPr rtlCol="0" anchor="ctr"/>
          <a:lstStyle/>
          <a:p>
            <a:pPr algn="ctr"/>
            <a:endParaRPr/>
          </a:p>
        </p:txBody>
      </p:sp>
      <p:sp>
        <p:nvSpPr>
          <p:cNvPr id="10" name="Rounded Rectangle 9"/>
          <p:cNvSpPr/>
          <p:nvPr/>
        </p:nvSpPr>
        <p:spPr>
          <a:xfrm>
            <a:off x="594360" y="1316736"/>
            <a:ext cx="5349240" cy="4846320"/>
          </a:xfrm>
          <a:prstGeom prst="roundRect">
            <a:avLst/>
          </a:prstGeom>
          <a:solidFill>
            <a:srgbClr val="FFFFFF"/>
          </a:solidFill>
          <a:ln w="10160">
            <a:solidFill>
              <a:srgbClr val="CBD5E1"/>
            </a:solidFill>
          </a:ln>
        </p:spPr>
        <p:txBody>
          <a:bodyPr rtlCol="0" anchor="ctr"/>
          <a:lstStyle/>
          <a:p>
            <a:pPr algn="ctr"/>
            <a:endParaRPr/>
          </a:p>
        </p:txBody>
      </p:sp>
      <p:sp>
        <p:nvSpPr>
          <p:cNvPr id="11" name="Rectangle 10"/>
          <p:cNvSpPr/>
          <p:nvPr/>
        </p:nvSpPr>
        <p:spPr>
          <a:xfrm>
            <a:off x="594360" y="1335024"/>
            <a:ext cx="50292" cy="4809744"/>
          </a:xfrm>
          <a:prstGeom prst="rect">
            <a:avLst/>
          </a:prstGeom>
          <a:solidFill>
            <a:srgbClr val="38BDF8"/>
          </a:solidFill>
          <a:ln>
            <a:noFill/>
          </a:ln>
        </p:spPr>
        <p:txBody>
          <a:bodyPr rtlCol="0" anchor="ctr"/>
          <a:lstStyle/>
          <a:p>
            <a:pPr algn="ctr"/>
            <a:endParaRPr/>
          </a:p>
        </p:txBody>
      </p:sp>
      <p:sp>
        <p:nvSpPr>
          <p:cNvPr id="12" name="TextBox 11"/>
          <p:cNvSpPr txBox="1"/>
          <p:nvPr/>
        </p:nvSpPr>
        <p:spPr>
          <a:xfrm>
            <a:off x="813816" y="1517904"/>
            <a:ext cx="4937759" cy="438912"/>
          </a:xfrm>
          <a:prstGeom prst="rect">
            <a:avLst/>
          </a:prstGeom>
          <a:noFill/>
        </p:spPr>
        <p:txBody>
          <a:bodyPr wrap="square" lIns="0" tIns="0" rIns="0" bIns="0" anchor="t">
            <a:spAutoFit/>
          </a:bodyPr>
          <a:lstStyle/>
          <a:p>
            <a:pPr algn="l">
              <a:spcBef>
                <a:spcPts val="0"/>
              </a:spcBef>
              <a:spcAft>
                <a:spcPts val="0"/>
              </a:spcAft>
            </a:pPr>
            <a:r>
              <a:rPr sz="1700" b="1" i="0">
                <a:solidFill>
                  <a:srgbClr val="1E293B"/>
                </a:solidFill>
                <a:latin typeface="Arial"/>
              </a:rPr>
              <a:t>Corpus &amp; Split Integrity</a:t>
            </a:r>
          </a:p>
        </p:txBody>
      </p:sp>
      <p:sp>
        <p:nvSpPr>
          <p:cNvPr id="13" name="Rounded Rectangle 12"/>
          <p:cNvSpPr/>
          <p:nvPr/>
        </p:nvSpPr>
        <p:spPr>
          <a:xfrm>
            <a:off x="841248" y="1920240"/>
            <a:ext cx="1481328" cy="795528"/>
          </a:xfrm>
          <a:prstGeom prst="roundRect">
            <a:avLst/>
          </a:prstGeom>
          <a:solidFill>
            <a:srgbClr val="F1F5F9"/>
          </a:solidFill>
          <a:ln w="10160">
            <a:solidFill>
              <a:srgbClr val="CBD5E1"/>
            </a:solidFill>
          </a:ln>
        </p:spPr>
        <p:txBody>
          <a:bodyPr rtlCol="0" anchor="ctr"/>
          <a:lstStyle/>
          <a:p>
            <a:pPr algn="ctr"/>
            <a:endParaRPr/>
          </a:p>
        </p:txBody>
      </p:sp>
      <p:sp>
        <p:nvSpPr>
          <p:cNvPr id="14" name="TextBox 13"/>
          <p:cNvSpPr txBox="1"/>
          <p:nvPr/>
        </p:nvSpPr>
        <p:spPr>
          <a:xfrm>
            <a:off x="932688" y="2029968"/>
            <a:ext cx="1298448" cy="155448"/>
          </a:xfrm>
          <a:prstGeom prst="rect">
            <a:avLst/>
          </a:prstGeom>
          <a:noFill/>
        </p:spPr>
        <p:txBody>
          <a:bodyPr wrap="square" lIns="0" tIns="0" rIns="0" bIns="0" anchor="t">
            <a:spAutoFit/>
          </a:bodyPr>
          <a:lstStyle/>
          <a:p>
            <a:pPr algn="ctr">
              <a:spcBef>
                <a:spcPts val="0"/>
              </a:spcBef>
              <a:spcAft>
                <a:spcPts val="0"/>
              </a:spcAft>
            </a:pPr>
            <a:r>
              <a:rPr sz="740" b="1" i="0">
                <a:solidFill>
                  <a:srgbClr val="64748B"/>
                </a:solidFill>
                <a:latin typeface="Arial"/>
              </a:rPr>
              <a:t>RAW CORPUS</a:t>
            </a:r>
          </a:p>
        </p:txBody>
      </p:sp>
      <p:sp>
        <p:nvSpPr>
          <p:cNvPr id="15" name="TextBox 14"/>
          <p:cNvSpPr txBox="1"/>
          <p:nvPr/>
        </p:nvSpPr>
        <p:spPr>
          <a:xfrm>
            <a:off x="914400" y="2258568"/>
            <a:ext cx="1335024" cy="274320"/>
          </a:xfrm>
          <a:prstGeom prst="rect">
            <a:avLst/>
          </a:prstGeom>
          <a:noFill/>
        </p:spPr>
        <p:txBody>
          <a:bodyPr wrap="square" lIns="0" tIns="0" rIns="0" bIns="0" anchor="t">
            <a:spAutoFit/>
          </a:bodyPr>
          <a:lstStyle/>
          <a:p>
            <a:pPr algn="ctr">
              <a:spcBef>
                <a:spcPts val="0"/>
              </a:spcBef>
              <a:spcAft>
                <a:spcPts val="0"/>
              </a:spcAft>
            </a:pPr>
            <a:r>
              <a:rPr sz="1750" b="1" i="0">
                <a:solidFill>
                  <a:srgbClr val="2563EB"/>
                </a:solidFill>
                <a:latin typeface="Arial"/>
              </a:rPr>
              <a:t>40,000</a:t>
            </a:r>
          </a:p>
        </p:txBody>
      </p:sp>
      <p:sp>
        <p:nvSpPr>
          <p:cNvPr id="16" name="Rounded Rectangle 15"/>
          <p:cNvSpPr/>
          <p:nvPr/>
        </p:nvSpPr>
        <p:spPr>
          <a:xfrm>
            <a:off x="2487168" y="1920240"/>
            <a:ext cx="1481328" cy="795528"/>
          </a:xfrm>
          <a:prstGeom prst="roundRect">
            <a:avLst/>
          </a:prstGeom>
          <a:solidFill>
            <a:srgbClr val="F1F5F9"/>
          </a:solidFill>
          <a:ln w="10160">
            <a:solidFill>
              <a:srgbClr val="CBD5E1"/>
            </a:solidFill>
          </a:ln>
        </p:spPr>
        <p:txBody>
          <a:bodyPr rtlCol="0" anchor="ctr"/>
          <a:lstStyle/>
          <a:p>
            <a:pPr algn="ctr"/>
            <a:endParaRPr/>
          </a:p>
        </p:txBody>
      </p:sp>
      <p:sp>
        <p:nvSpPr>
          <p:cNvPr id="17" name="TextBox 16"/>
          <p:cNvSpPr txBox="1"/>
          <p:nvPr/>
        </p:nvSpPr>
        <p:spPr>
          <a:xfrm>
            <a:off x="2578608" y="2029968"/>
            <a:ext cx="1298448" cy="155448"/>
          </a:xfrm>
          <a:prstGeom prst="rect">
            <a:avLst/>
          </a:prstGeom>
          <a:noFill/>
        </p:spPr>
        <p:txBody>
          <a:bodyPr wrap="square" lIns="0" tIns="0" rIns="0" bIns="0" anchor="t">
            <a:spAutoFit/>
          </a:bodyPr>
          <a:lstStyle/>
          <a:p>
            <a:pPr algn="ctr">
              <a:spcBef>
                <a:spcPts val="0"/>
              </a:spcBef>
              <a:spcAft>
                <a:spcPts val="0"/>
              </a:spcAft>
            </a:pPr>
            <a:r>
              <a:rPr sz="740" b="1" i="0">
                <a:solidFill>
                  <a:srgbClr val="64748B"/>
                </a:solidFill>
                <a:latin typeface="Arial"/>
              </a:rPr>
              <a:t>DEDUPLICATED</a:t>
            </a:r>
          </a:p>
        </p:txBody>
      </p:sp>
      <p:sp>
        <p:nvSpPr>
          <p:cNvPr id="18" name="TextBox 17"/>
          <p:cNvSpPr txBox="1"/>
          <p:nvPr/>
        </p:nvSpPr>
        <p:spPr>
          <a:xfrm>
            <a:off x="2560320" y="2258568"/>
            <a:ext cx="1335024" cy="274320"/>
          </a:xfrm>
          <a:prstGeom prst="rect">
            <a:avLst/>
          </a:prstGeom>
          <a:noFill/>
        </p:spPr>
        <p:txBody>
          <a:bodyPr wrap="square" lIns="0" tIns="0" rIns="0" bIns="0" anchor="t">
            <a:spAutoFit/>
          </a:bodyPr>
          <a:lstStyle/>
          <a:p>
            <a:pPr algn="ctr">
              <a:spcBef>
                <a:spcPts val="0"/>
              </a:spcBef>
              <a:spcAft>
                <a:spcPts val="0"/>
              </a:spcAft>
            </a:pPr>
            <a:r>
              <a:rPr sz="1750" b="1" i="0">
                <a:solidFill>
                  <a:srgbClr val="16A34A"/>
                </a:solidFill>
                <a:latin typeface="Arial"/>
              </a:rPr>
              <a:t>38,963</a:t>
            </a:r>
          </a:p>
        </p:txBody>
      </p:sp>
      <p:sp>
        <p:nvSpPr>
          <p:cNvPr id="19" name="Rounded Rectangle 18"/>
          <p:cNvSpPr/>
          <p:nvPr/>
        </p:nvSpPr>
        <p:spPr>
          <a:xfrm>
            <a:off x="4133088" y="1920240"/>
            <a:ext cx="1481328" cy="795528"/>
          </a:xfrm>
          <a:prstGeom prst="roundRect">
            <a:avLst/>
          </a:prstGeom>
          <a:solidFill>
            <a:srgbClr val="F1F5F9"/>
          </a:solidFill>
          <a:ln w="10160">
            <a:solidFill>
              <a:srgbClr val="CBD5E1"/>
            </a:solidFill>
          </a:ln>
        </p:spPr>
        <p:txBody>
          <a:bodyPr rtlCol="0" anchor="ctr"/>
          <a:lstStyle/>
          <a:p>
            <a:pPr algn="ctr"/>
            <a:endParaRPr/>
          </a:p>
        </p:txBody>
      </p:sp>
      <p:sp>
        <p:nvSpPr>
          <p:cNvPr id="20" name="TextBox 19"/>
          <p:cNvSpPr txBox="1"/>
          <p:nvPr/>
        </p:nvSpPr>
        <p:spPr>
          <a:xfrm>
            <a:off x="4224528" y="2029968"/>
            <a:ext cx="1298448" cy="155448"/>
          </a:xfrm>
          <a:prstGeom prst="rect">
            <a:avLst/>
          </a:prstGeom>
          <a:noFill/>
        </p:spPr>
        <p:txBody>
          <a:bodyPr wrap="square" lIns="0" tIns="0" rIns="0" bIns="0" anchor="t">
            <a:spAutoFit/>
          </a:bodyPr>
          <a:lstStyle/>
          <a:p>
            <a:pPr algn="ctr">
              <a:spcBef>
                <a:spcPts val="0"/>
              </a:spcBef>
              <a:spcAft>
                <a:spcPts val="0"/>
              </a:spcAft>
            </a:pPr>
            <a:r>
              <a:rPr sz="740" b="1" i="0">
                <a:solidFill>
                  <a:srgbClr val="64748B"/>
                </a:solidFill>
                <a:latin typeface="Arial"/>
              </a:rPr>
              <a:t>DUPLICATES</a:t>
            </a:r>
          </a:p>
        </p:txBody>
      </p:sp>
      <p:sp>
        <p:nvSpPr>
          <p:cNvPr id="21" name="TextBox 20"/>
          <p:cNvSpPr txBox="1"/>
          <p:nvPr/>
        </p:nvSpPr>
        <p:spPr>
          <a:xfrm>
            <a:off x="4206240" y="2258568"/>
            <a:ext cx="1335024" cy="274320"/>
          </a:xfrm>
          <a:prstGeom prst="rect">
            <a:avLst/>
          </a:prstGeom>
          <a:noFill/>
        </p:spPr>
        <p:txBody>
          <a:bodyPr wrap="square" lIns="0" tIns="0" rIns="0" bIns="0" anchor="t">
            <a:spAutoFit/>
          </a:bodyPr>
          <a:lstStyle/>
          <a:p>
            <a:pPr algn="ctr">
              <a:spcBef>
                <a:spcPts val="0"/>
              </a:spcBef>
              <a:spcAft>
                <a:spcPts val="0"/>
              </a:spcAft>
            </a:pPr>
            <a:r>
              <a:rPr sz="1750" b="1" i="0">
                <a:solidFill>
                  <a:srgbClr val="EC4899"/>
                </a:solidFill>
                <a:latin typeface="Arial"/>
              </a:rPr>
              <a:t>1,037</a:t>
            </a:r>
          </a:p>
        </p:txBody>
      </p:sp>
      <p:sp>
        <p:nvSpPr>
          <p:cNvPr id="22" name="TextBox 21"/>
          <p:cNvSpPr txBox="1"/>
          <p:nvPr/>
        </p:nvSpPr>
        <p:spPr>
          <a:xfrm>
            <a:off x="868680" y="2843784"/>
            <a:ext cx="4663440" cy="246888"/>
          </a:xfrm>
          <a:prstGeom prst="rect">
            <a:avLst/>
          </a:prstGeom>
          <a:noFill/>
        </p:spPr>
        <p:txBody>
          <a:bodyPr wrap="square" lIns="0" tIns="0" rIns="0" bIns="0" anchor="t">
            <a:spAutoFit/>
          </a:bodyPr>
          <a:lstStyle/>
          <a:p>
            <a:pPr algn="l">
              <a:spcBef>
                <a:spcPts val="0"/>
              </a:spcBef>
              <a:spcAft>
                <a:spcPts val="0"/>
              </a:spcAft>
            </a:pPr>
            <a:r>
              <a:rPr sz="1100" b="1" i="0">
                <a:solidFill>
                  <a:srgbClr val="1E293B"/>
                </a:solidFill>
                <a:latin typeface="Arial"/>
              </a:rPr>
              <a:t>5 balanced classes  •  8,000 raw sentences per dialect</a:t>
            </a:r>
          </a:p>
        </p:txBody>
      </p:sp>
      <p:sp>
        <p:nvSpPr>
          <p:cNvPr id="23" name="TextBox 22"/>
          <p:cNvSpPr txBox="1"/>
          <p:nvPr/>
        </p:nvSpPr>
        <p:spPr>
          <a:xfrm>
            <a:off x="868680" y="3246120"/>
            <a:ext cx="4480560" cy="228600"/>
          </a:xfrm>
          <a:prstGeom prst="rect">
            <a:avLst/>
          </a:prstGeom>
          <a:noFill/>
        </p:spPr>
        <p:txBody>
          <a:bodyPr wrap="square" lIns="0" tIns="0" rIns="0" bIns="0" anchor="t">
            <a:spAutoFit/>
          </a:bodyPr>
          <a:lstStyle/>
          <a:p>
            <a:pPr algn="l">
              <a:spcBef>
                <a:spcPts val="0"/>
              </a:spcBef>
              <a:spcAft>
                <a:spcPts val="0"/>
              </a:spcAft>
            </a:pPr>
            <a:r>
              <a:rPr sz="1200" b="1" i="0">
                <a:solidFill>
                  <a:srgbClr val="2563EB"/>
                </a:solidFill>
                <a:latin typeface="Arial"/>
              </a:rPr>
              <a:t>Duplicates removed before splitting</a:t>
            </a:r>
          </a:p>
        </p:txBody>
      </p:sp>
      <p:sp>
        <p:nvSpPr>
          <p:cNvPr id="24" name="TextBox 23"/>
          <p:cNvSpPr txBox="1"/>
          <p:nvPr/>
        </p:nvSpPr>
        <p:spPr>
          <a:xfrm>
            <a:off x="868680" y="3520440"/>
            <a:ext cx="4526280" cy="621792"/>
          </a:xfrm>
          <a:prstGeom prst="rect">
            <a:avLst/>
          </a:prstGeom>
          <a:noFill/>
        </p:spPr>
        <p:txBody>
          <a:bodyPr wrap="square" lIns="0" tIns="0" rIns="0" bIns="0" anchor="t">
            <a:spAutoFit/>
          </a:bodyPr>
          <a:lstStyle/>
          <a:p>
            <a:pPr algn="l">
              <a:spcBef>
                <a:spcPts val="0"/>
              </a:spcBef>
              <a:spcAft>
                <a:spcPts val="0"/>
              </a:spcAft>
            </a:pPr>
            <a:r>
              <a:rPr sz="1140" b="0" i="0">
                <a:solidFill>
                  <a:srgbClr val="64748B"/>
                </a:solidFill>
                <a:latin typeface="Arial"/>
              </a:rPr>
              <a:t>Exact and post-cleaning deduplication prevents the same or normalized-equivalent sentence from crossing train/test boundaries.</a:t>
            </a:r>
          </a:p>
        </p:txBody>
      </p:sp>
      <p:sp>
        <p:nvSpPr>
          <p:cNvPr id="25" name="TextBox 24"/>
          <p:cNvSpPr txBox="1"/>
          <p:nvPr/>
        </p:nvSpPr>
        <p:spPr>
          <a:xfrm>
            <a:off x="868680" y="4251960"/>
            <a:ext cx="4480560" cy="182880"/>
          </a:xfrm>
          <a:prstGeom prst="rect">
            <a:avLst/>
          </a:prstGeom>
          <a:noFill/>
        </p:spPr>
        <p:txBody>
          <a:bodyPr wrap="square" lIns="0" tIns="0" rIns="0" bIns="0" anchor="t">
            <a:spAutoFit/>
          </a:bodyPr>
          <a:lstStyle/>
          <a:p>
            <a:pPr algn="l">
              <a:spcBef>
                <a:spcPts val="0"/>
              </a:spcBef>
              <a:spcAft>
                <a:spcPts val="0"/>
              </a:spcAft>
            </a:pPr>
            <a:r>
              <a:rPr sz="860" b="1" i="0">
                <a:solidFill>
                  <a:srgbClr val="64748B"/>
                </a:solidFill>
                <a:latin typeface="Arial"/>
              </a:rPr>
              <a:t>STRATIFIED 70 / 15 / 15 SPLIT</a:t>
            </a:r>
          </a:p>
        </p:txBody>
      </p:sp>
      <p:sp>
        <p:nvSpPr>
          <p:cNvPr id="26" name="Rectangle 25"/>
          <p:cNvSpPr/>
          <p:nvPr/>
        </p:nvSpPr>
        <p:spPr>
          <a:xfrm>
            <a:off x="868680" y="4553712"/>
            <a:ext cx="3168396" cy="256032"/>
          </a:xfrm>
          <a:prstGeom prst="rect">
            <a:avLst/>
          </a:prstGeom>
          <a:solidFill>
            <a:srgbClr val="2563EB"/>
          </a:solidFill>
          <a:ln>
            <a:noFill/>
          </a:ln>
        </p:spPr>
        <p:txBody>
          <a:bodyPr rtlCol="0" anchor="ctr"/>
          <a:lstStyle/>
          <a:p>
            <a:pPr algn="ctr"/>
            <a:endParaRPr/>
          </a:p>
        </p:txBody>
      </p:sp>
      <p:sp>
        <p:nvSpPr>
          <p:cNvPr id="27" name="Rectangle 26"/>
          <p:cNvSpPr/>
          <p:nvPr/>
        </p:nvSpPr>
        <p:spPr>
          <a:xfrm>
            <a:off x="4037076" y="4553712"/>
            <a:ext cx="678942" cy="256032"/>
          </a:xfrm>
          <a:prstGeom prst="rect">
            <a:avLst/>
          </a:prstGeom>
          <a:solidFill>
            <a:srgbClr val="38BDF8"/>
          </a:solidFill>
          <a:ln>
            <a:noFill/>
          </a:ln>
        </p:spPr>
        <p:txBody>
          <a:bodyPr rtlCol="0" anchor="ctr"/>
          <a:lstStyle/>
          <a:p>
            <a:pPr algn="ctr"/>
            <a:endParaRPr/>
          </a:p>
        </p:txBody>
      </p:sp>
      <p:sp>
        <p:nvSpPr>
          <p:cNvPr id="28" name="Rectangle 27"/>
          <p:cNvSpPr/>
          <p:nvPr/>
        </p:nvSpPr>
        <p:spPr>
          <a:xfrm>
            <a:off x="4716018" y="4553712"/>
            <a:ext cx="678942" cy="256032"/>
          </a:xfrm>
          <a:prstGeom prst="rect">
            <a:avLst/>
          </a:prstGeom>
          <a:solidFill>
            <a:srgbClr val="16A34A"/>
          </a:solidFill>
          <a:ln>
            <a:noFill/>
          </a:ln>
        </p:spPr>
        <p:txBody>
          <a:bodyPr rtlCol="0" anchor="ctr"/>
          <a:lstStyle/>
          <a:p>
            <a:pPr algn="ctr"/>
            <a:endParaRPr/>
          </a:p>
        </p:txBody>
      </p:sp>
      <p:sp>
        <p:nvSpPr>
          <p:cNvPr id="29" name="TextBox 28"/>
          <p:cNvSpPr txBox="1"/>
          <p:nvPr/>
        </p:nvSpPr>
        <p:spPr>
          <a:xfrm>
            <a:off x="868680" y="4937760"/>
            <a:ext cx="1920240" cy="219456"/>
          </a:xfrm>
          <a:prstGeom prst="rect">
            <a:avLst/>
          </a:prstGeom>
          <a:noFill/>
        </p:spPr>
        <p:txBody>
          <a:bodyPr wrap="square" lIns="0" tIns="0" rIns="0" bIns="0" anchor="t">
            <a:spAutoFit/>
          </a:bodyPr>
          <a:lstStyle/>
          <a:p>
            <a:pPr algn="l">
              <a:spcBef>
                <a:spcPts val="0"/>
              </a:spcBef>
              <a:spcAft>
                <a:spcPts val="0"/>
              </a:spcAft>
            </a:pPr>
            <a:r>
              <a:rPr sz="1050" b="1" i="0">
                <a:solidFill>
                  <a:srgbClr val="2563EB"/>
                </a:solidFill>
                <a:latin typeface="Arial"/>
              </a:rPr>
              <a:t>Train  27,274 (70%)</a:t>
            </a:r>
          </a:p>
        </p:txBody>
      </p:sp>
      <p:sp>
        <p:nvSpPr>
          <p:cNvPr id="30" name="TextBox 29"/>
          <p:cNvSpPr txBox="1"/>
          <p:nvPr/>
        </p:nvSpPr>
        <p:spPr>
          <a:xfrm>
            <a:off x="2880360" y="4937760"/>
            <a:ext cx="2240280" cy="219456"/>
          </a:xfrm>
          <a:prstGeom prst="rect">
            <a:avLst/>
          </a:prstGeom>
          <a:noFill/>
        </p:spPr>
        <p:txBody>
          <a:bodyPr wrap="square" lIns="0" tIns="0" rIns="0" bIns="0" anchor="t">
            <a:spAutoFit/>
          </a:bodyPr>
          <a:lstStyle/>
          <a:p>
            <a:pPr algn="l">
              <a:spcBef>
                <a:spcPts val="0"/>
              </a:spcBef>
              <a:spcAft>
                <a:spcPts val="0"/>
              </a:spcAft>
            </a:pPr>
            <a:r>
              <a:rPr sz="1050" b="1" i="0">
                <a:solidFill>
                  <a:srgbClr val="38BDF8"/>
                </a:solidFill>
                <a:latin typeface="Arial"/>
              </a:rPr>
              <a:t>Validation  5,844 (15%)</a:t>
            </a:r>
          </a:p>
        </p:txBody>
      </p:sp>
      <p:sp>
        <p:nvSpPr>
          <p:cNvPr id="31" name="TextBox 30"/>
          <p:cNvSpPr txBox="1"/>
          <p:nvPr/>
        </p:nvSpPr>
        <p:spPr>
          <a:xfrm>
            <a:off x="868680" y="5358384"/>
            <a:ext cx="4526280" cy="228600"/>
          </a:xfrm>
          <a:prstGeom prst="rect">
            <a:avLst/>
          </a:prstGeom>
          <a:noFill/>
        </p:spPr>
        <p:txBody>
          <a:bodyPr wrap="square" lIns="0" tIns="0" rIns="0" bIns="0" anchor="t">
            <a:spAutoFit/>
          </a:bodyPr>
          <a:lstStyle/>
          <a:p>
            <a:pPr algn="l">
              <a:spcBef>
                <a:spcPts val="0"/>
              </a:spcBef>
              <a:spcAft>
                <a:spcPts val="0"/>
              </a:spcAft>
            </a:pPr>
            <a:r>
              <a:rPr sz="1130" b="1" i="0">
                <a:solidFill>
                  <a:srgbClr val="16A34A"/>
                </a:solidFill>
                <a:latin typeface="Arial"/>
              </a:rPr>
              <a:t>Unseen test: 5,845 sentences (15%)</a:t>
            </a:r>
          </a:p>
        </p:txBody>
      </p:sp>
      <p:sp>
        <p:nvSpPr>
          <p:cNvPr id="32" name="TextBox 31"/>
          <p:cNvSpPr txBox="1"/>
          <p:nvPr/>
        </p:nvSpPr>
        <p:spPr>
          <a:xfrm>
            <a:off x="868680" y="5715000"/>
            <a:ext cx="4526280" cy="164592"/>
          </a:xfrm>
          <a:prstGeom prst="rect">
            <a:avLst/>
          </a:prstGeom>
          <a:noFill/>
        </p:spPr>
        <p:txBody>
          <a:bodyPr wrap="square" lIns="0" tIns="0" rIns="0" bIns="0" anchor="t">
            <a:spAutoFit/>
          </a:bodyPr>
          <a:lstStyle/>
          <a:p>
            <a:pPr algn="l">
              <a:spcBef>
                <a:spcPts val="0"/>
              </a:spcBef>
              <a:spcAft>
                <a:spcPts val="0"/>
              </a:spcAft>
            </a:pPr>
            <a:r>
              <a:rPr sz="860" b="0" i="1">
                <a:solidFill>
                  <a:srgbClr val="64748B"/>
                </a:solidFill>
                <a:latin typeface="Arial"/>
              </a:rPr>
              <a:t>Split after de-duplication  •  no intentional overlap</a:t>
            </a:r>
          </a:p>
        </p:txBody>
      </p:sp>
      <p:cxnSp>
        <p:nvCxnSpPr>
          <p:cNvPr id="42" name="Connector 41"/>
          <p:cNvCxnSpPr/>
          <p:nvPr/>
        </p:nvCxnSpPr>
        <p:spPr>
          <a:xfrm>
            <a:off x="594360" y="6473952"/>
            <a:ext cx="11000232" cy="0"/>
          </a:xfrm>
          <a:prstGeom prst="line">
            <a:avLst/>
          </a:prstGeom>
          <a:ln w="8890">
            <a:solidFill>
              <a:srgbClr val="CBD5E1"/>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03504" y="6547104"/>
            <a:ext cx="4572000" cy="164592"/>
          </a:xfrm>
          <a:prstGeom prst="rect">
            <a:avLst/>
          </a:prstGeom>
          <a:noFill/>
        </p:spPr>
        <p:txBody>
          <a:bodyPr wrap="square" lIns="0" tIns="0" rIns="0" bIns="0" anchor="t">
            <a:spAutoFit/>
          </a:bodyPr>
          <a:lstStyle/>
          <a:p>
            <a:pPr algn="l">
              <a:spcBef>
                <a:spcPts val="0"/>
              </a:spcBef>
              <a:spcAft>
                <a:spcPts val="0"/>
              </a:spcAft>
            </a:pPr>
            <a:r>
              <a:rPr sz="800" b="1" i="0">
                <a:solidFill>
                  <a:srgbClr val="64748B"/>
                </a:solidFill>
                <a:latin typeface="Arial"/>
              </a:rPr>
              <a:t>ARABIC DIALECT CLASSIFICATION</a:t>
            </a:r>
          </a:p>
        </p:txBody>
      </p:sp>
      <p:sp>
        <p:nvSpPr>
          <p:cNvPr id="44" name="TextBox 43"/>
          <p:cNvSpPr txBox="1"/>
          <p:nvPr/>
        </p:nvSpPr>
        <p:spPr>
          <a:xfrm>
            <a:off x="10652760" y="6528816"/>
            <a:ext cx="914400" cy="182880"/>
          </a:xfrm>
          <a:prstGeom prst="rect">
            <a:avLst/>
          </a:prstGeom>
          <a:noFill/>
        </p:spPr>
        <p:txBody>
          <a:bodyPr wrap="square" lIns="0" tIns="0" rIns="0" bIns="0" anchor="t">
            <a:spAutoFit/>
          </a:bodyPr>
          <a:lstStyle/>
          <a:p>
            <a:pPr algn="r">
              <a:spcBef>
                <a:spcPts val="0"/>
              </a:spcBef>
              <a:spcAft>
                <a:spcPts val="0"/>
              </a:spcAft>
            </a:pPr>
            <a:r>
              <a:rPr sz="850" b="1" i="0">
                <a:solidFill>
                  <a:srgbClr val="64748B"/>
                </a:solidFill>
                <a:latin typeface="Arial"/>
              </a:rPr>
              <a:t>03  /  12</a:t>
            </a:r>
          </a:p>
        </p:txBody>
      </p:sp>
      <p:pic>
        <p:nvPicPr>
          <p:cNvPr id="45" name="Picture 44">
            <a:extLst>
              <a:ext uri="{FF2B5EF4-FFF2-40B4-BE49-F238E27FC236}">
                <a16:creationId xmlns:a16="http://schemas.microsoft.com/office/drawing/2014/main" id="{F5298B0A-9511-B611-8696-5AB5E5E9792B}"/>
              </a:ext>
            </a:extLst>
          </p:cNvPr>
          <p:cNvPicPr>
            <a:picLocks noChangeAspect="1"/>
          </p:cNvPicPr>
          <p:nvPr/>
        </p:nvPicPr>
        <p:blipFill>
          <a:blip r:embed="rId3"/>
          <a:stretch>
            <a:fillRect/>
          </a:stretch>
        </p:blipFill>
        <p:spPr>
          <a:xfrm>
            <a:off x="6108193" y="1418801"/>
            <a:ext cx="5870448" cy="2350010"/>
          </a:xfrm>
          <a:prstGeom prst="rect">
            <a:avLst/>
          </a:prstGeom>
        </p:spPr>
      </p:pic>
      <p:pic>
        <p:nvPicPr>
          <p:cNvPr id="47" name="Picture 46">
            <a:extLst>
              <a:ext uri="{FF2B5EF4-FFF2-40B4-BE49-F238E27FC236}">
                <a16:creationId xmlns:a16="http://schemas.microsoft.com/office/drawing/2014/main" id="{C782A33D-0FB0-1E7B-923B-D4971CD6A542}"/>
              </a:ext>
            </a:extLst>
          </p:cNvPr>
          <p:cNvPicPr>
            <a:picLocks noChangeAspect="1"/>
          </p:cNvPicPr>
          <p:nvPr/>
        </p:nvPicPr>
        <p:blipFill>
          <a:blip r:embed="rId4"/>
          <a:stretch>
            <a:fillRect/>
          </a:stretch>
        </p:blipFill>
        <p:spPr>
          <a:xfrm>
            <a:off x="6176033" y="3674642"/>
            <a:ext cx="5802607" cy="247012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F172A"/>
          </a:solidFill>
          <a:ln>
            <a:noFill/>
          </a:ln>
        </p:spPr>
        <p:txBody>
          <a:bodyPr rtlCol="0" anchor="ctr"/>
          <a:lstStyle/>
          <a:p>
            <a:pPr algn="ctr"/>
            <a:endParaRPr/>
          </a:p>
        </p:txBody>
      </p:sp>
      <p:sp>
        <p:nvSpPr>
          <p:cNvPr id="3" name="Rectangle 2"/>
          <p:cNvSpPr/>
          <p:nvPr/>
        </p:nvSpPr>
        <p:spPr>
          <a:xfrm>
            <a:off x="0" y="0"/>
            <a:ext cx="2011680" cy="128016"/>
          </a:xfrm>
          <a:prstGeom prst="rect">
            <a:avLst/>
          </a:prstGeom>
          <a:solidFill>
            <a:srgbClr val="38BDF8"/>
          </a:solidFill>
          <a:ln>
            <a:noFill/>
          </a:ln>
        </p:spPr>
        <p:txBody>
          <a:bodyPr rtlCol="0" anchor="ctr"/>
          <a:lstStyle/>
          <a:p>
            <a:pPr algn="ctr"/>
            <a:endParaRPr/>
          </a:p>
        </p:txBody>
      </p:sp>
      <p:sp>
        <p:nvSpPr>
          <p:cNvPr id="4" name="TextBox 3"/>
          <p:cNvSpPr txBox="1"/>
          <p:nvPr/>
        </p:nvSpPr>
        <p:spPr>
          <a:xfrm>
            <a:off x="603504" y="274320"/>
            <a:ext cx="2743200" cy="201168"/>
          </a:xfrm>
          <a:prstGeom prst="rect">
            <a:avLst/>
          </a:prstGeom>
          <a:noFill/>
        </p:spPr>
        <p:txBody>
          <a:bodyPr wrap="square" lIns="0" tIns="0" rIns="0" bIns="0" anchor="t">
            <a:spAutoFit/>
          </a:bodyPr>
          <a:lstStyle/>
          <a:p>
            <a:pPr algn="l">
              <a:spcBef>
                <a:spcPts val="0"/>
              </a:spcBef>
              <a:spcAft>
                <a:spcPts val="0"/>
              </a:spcAft>
            </a:pPr>
            <a:r>
              <a:rPr sz="850" b="1" i="0">
                <a:solidFill>
                  <a:srgbClr val="2563EB"/>
                </a:solidFill>
                <a:latin typeface="Arial"/>
              </a:rPr>
              <a:t>TEXT ENGINEERING</a:t>
            </a:r>
          </a:p>
        </p:txBody>
      </p:sp>
      <p:sp>
        <p:nvSpPr>
          <p:cNvPr id="5" name="TextBox 4"/>
          <p:cNvSpPr txBox="1"/>
          <p:nvPr/>
        </p:nvSpPr>
        <p:spPr>
          <a:xfrm>
            <a:off x="594360" y="521207"/>
            <a:ext cx="10972800" cy="530352"/>
          </a:xfrm>
          <a:prstGeom prst="rect">
            <a:avLst/>
          </a:prstGeom>
          <a:noFill/>
        </p:spPr>
        <p:txBody>
          <a:bodyPr wrap="square" lIns="0" tIns="0" rIns="0" bIns="0" anchor="t">
            <a:spAutoFit/>
          </a:bodyPr>
          <a:lstStyle/>
          <a:p>
            <a:pPr algn="l">
              <a:spcBef>
                <a:spcPts val="0"/>
              </a:spcBef>
              <a:spcAft>
                <a:spcPts val="0"/>
              </a:spcAft>
            </a:pPr>
            <a:r>
              <a:rPr sz="2800" b="1" i="0">
                <a:solidFill>
                  <a:srgbClr val="0F172A"/>
                </a:solidFill>
                <a:latin typeface="Arial"/>
              </a:rPr>
              <a:t>Domain-Specific Arabic Preprocessing Pipeline</a:t>
            </a:r>
          </a:p>
        </p:txBody>
      </p:sp>
      <p:sp>
        <p:nvSpPr>
          <p:cNvPr id="6" name="Oval 5"/>
          <p:cNvSpPr/>
          <p:nvPr/>
        </p:nvSpPr>
        <p:spPr>
          <a:xfrm>
            <a:off x="11411712" y="347472"/>
            <a:ext cx="164592" cy="164592"/>
          </a:xfrm>
          <a:prstGeom prst="ellipse">
            <a:avLst/>
          </a:prstGeom>
          <a:solidFill>
            <a:srgbClr val="38BDF8"/>
          </a:solidFill>
          <a:ln>
            <a:noFill/>
          </a:ln>
        </p:spPr>
        <p:txBody>
          <a:bodyPr rtlCol="0" anchor="ctr"/>
          <a:lstStyle/>
          <a:p>
            <a:pPr algn="ctr"/>
            <a:endParaRPr/>
          </a:p>
        </p:txBody>
      </p:sp>
      <p:sp>
        <p:nvSpPr>
          <p:cNvPr id="7" name="Oval 6"/>
          <p:cNvSpPr/>
          <p:nvPr/>
        </p:nvSpPr>
        <p:spPr>
          <a:xfrm>
            <a:off x="11612880" y="347472"/>
            <a:ext cx="164592" cy="164592"/>
          </a:xfrm>
          <a:prstGeom prst="ellipse">
            <a:avLst/>
          </a:prstGeom>
          <a:solidFill>
            <a:srgbClr val="EC4899"/>
          </a:solidFill>
          <a:ln>
            <a:noFill/>
          </a:ln>
        </p:spPr>
        <p:txBody>
          <a:bodyPr rtlCol="0" anchor="ctr"/>
          <a:lstStyle/>
          <a:p>
            <a:pPr algn="ctr"/>
            <a:endParaRPr/>
          </a:p>
        </p:txBody>
      </p:sp>
      <p:sp>
        <p:nvSpPr>
          <p:cNvPr id="8" name="Oval 7"/>
          <p:cNvSpPr/>
          <p:nvPr/>
        </p:nvSpPr>
        <p:spPr>
          <a:xfrm>
            <a:off x="11814048" y="347472"/>
            <a:ext cx="164592" cy="164592"/>
          </a:xfrm>
          <a:prstGeom prst="ellipse">
            <a:avLst/>
          </a:prstGeom>
          <a:solidFill>
            <a:srgbClr val="2563EB"/>
          </a:solidFill>
          <a:ln>
            <a:noFill/>
          </a:ln>
        </p:spPr>
        <p:txBody>
          <a:bodyPr rtlCol="0" anchor="ctr"/>
          <a:lstStyle/>
          <a:p>
            <a:pPr algn="ctr"/>
            <a:endParaRPr/>
          </a:p>
        </p:txBody>
      </p:sp>
      <p:sp>
        <p:nvSpPr>
          <p:cNvPr id="9" name="Rounded Rectangle 8"/>
          <p:cNvSpPr/>
          <p:nvPr/>
        </p:nvSpPr>
        <p:spPr>
          <a:xfrm>
            <a:off x="626364" y="1348739"/>
            <a:ext cx="5413248" cy="2148840"/>
          </a:xfrm>
          <a:prstGeom prst="roundRect">
            <a:avLst/>
          </a:prstGeom>
          <a:solidFill>
            <a:srgbClr val="F1F5F9"/>
          </a:solidFill>
          <a:ln>
            <a:noFill/>
          </a:ln>
        </p:spPr>
        <p:txBody>
          <a:bodyPr rtlCol="0" anchor="ctr"/>
          <a:lstStyle/>
          <a:p>
            <a:pPr algn="ctr"/>
            <a:endParaRPr/>
          </a:p>
        </p:txBody>
      </p:sp>
      <p:sp>
        <p:nvSpPr>
          <p:cNvPr id="10" name="Rounded Rectangle 9"/>
          <p:cNvSpPr/>
          <p:nvPr/>
        </p:nvSpPr>
        <p:spPr>
          <a:xfrm>
            <a:off x="594360" y="1307592"/>
            <a:ext cx="5413248" cy="2148840"/>
          </a:xfrm>
          <a:prstGeom prst="roundRect">
            <a:avLst/>
          </a:prstGeom>
          <a:solidFill>
            <a:srgbClr val="FFFFFF"/>
          </a:solidFill>
          <a:ln w="10160">
            <a:solidFill>
              <a:srgbClr val="CBD5E1"/>
            </a:solidFill>
          </a:ln>
        </p:spPr>
        <p:txBody>
          <a:bodyPr rtlCol="0" anchor="ctr"/>
          <a:lstStyle/>
          <a:p>
            <a:pPr algn="ctr"/>
            <a:endParaRPr/>
          </a:p>
        </p:txBody>
      </p:sp>
      <p:sp>
        <p:nvSpPr>
          <p:cNvPr id="11" name="Rectangle 10"/>
          <p:cNvSpPr/>
          <p:nvPr/>
        </p:nvSpPr>
        <p:spPr>
          <a:xfrm>
            <a:off x="594360" y="1325880"/>
            <a:ext cx="50292" cy="2112264"/>
          </a:xfrm>
          <a:prstGeom prst="rect">
            <a:avLst/>
          </a:prstGeom>
          <a:solidFill>
            <a:srgbClr val="38BDF8"/>
          </a:solidFill>
          <a:ln>
            <a:noFill/>
          </a:ln>
        </p:spPr>
        <p:txBody>
          <a:bodyPr rtlCol="0" anchor="ctr"/>
          <a:lstStyle/>
          <a:p>
            <a:pPr algn="ctr"/>
            <a:endParaRPr/>
          </a:p>
        </p:txBody>
      </p:sp>
      <p:sp>
        <p:nvSpPr>
          <p:cNvPr id="12" name="TextBox 11"/>
          <p:cNvSpPr txBox="1"/>
          <p:nvPr/>
        </p:nvSpPr>
        <p:spPr>
          <a:xfrm>
            <a:off x="813816" y="1508760"/>
            <a:ext cx="5001768" cy="438912"/>
          </a:xfrm>
          <a:prstGeom prst="rect">
            <a:avLst/>
          </a:prstGeom>
          <a:noFill/>
        </p:spPr>
        <p:txBody>
          <a:bodyPr wrap="square" lIns="0" tIns="0" rIns="0" bIns="0" anchor="t">
            <a:spAutoFit/>
          </a:bodyPr>
          <a:lstStyle/>
          <a:p>
            <a:pPr algn="l">
              <a:spcBef>
                <a:spcPts val="0"/>
              </a:spcBef>
              <a:spcAft>
                <a:spcPts val="0"/>
              </a:spcAft>
            </a:pPr>
            <a:r>
              <a:rPr sz="1530" b="1" i="0">
                <a:solidFill>
                  <a:srgbClr val="1E293B"/>
                </a:solidFill>
                <a:latin typeface="Arial"/>
              </a:rPr>
              <a:t>01  Retain Arabic Stopwords</a:t>
            </a:r>
          </a:p>
        </p:txBody>
      </p:sp>
      <p:sp>
        <p:nvSpPr>
          <p:cNvPr id="13" name="TextBox 12"/>
          <p:cNvSpPr txBox="1"/>
          <p:nvPr/>
        </p:nvSpPr>
        <p:spPr>
          <a:xfrm>
            <a:off x="813816" y="2020824"/>
            <a:ext cx="5001768" cy="1051560"/>
          </a:xfrm>
          <a:prstGeom prst="rect">
            <a:avLst/>
          </a:prstGeom>
          <a:noFill/>
        </p:spPr>
        <p:txBody>
          <a:bodyPr wrap="square" lIns="54864" tIns="27432" rIns="36576" bIns="18288">
            <a:spAutoFit/>
          </a:bodyPr>
          <a:lstStyle/>
          <a:p>
            <a:pPr>
              <a:lnSpc>
                <a:spcPct val="105000"/>
              </a:lnSpc>
              <a:spcBef>
                <a:spcPts val="0"/>
              </a:spcBef>
              <a:spcAft>
                <a:spcPts val="700"/>
              </a:spcAft>
              <a:defRPr sz="1200">
                <a:solidFill>
                  <a:srgbClr val="1E293B"/>
                </a:solidFill>
                <a:latin typeface="Arial"/>
              </a:defRPr>
            </a:pPr>
            <a:r>
              <a:t>•  Generic lists can delete negations, pronouns, and interrogatives.</a:t>
            </a:r>
          </a:p>
          <a:p>
            <a:pPr>
              <a:lnSpc>
                <a:spcPct val="105000"/>
              </a:lnSpc>
              <a:spcBef>
                <a:spcPts val="0"/>
              </a:spcBef>
              <a:spcAft>
                <a:spcPts val="700"/>
              </a:spcAft>
              <a:defRPr sz="1200">
                <a:solidFill>
                  <a:srgbClr val="1E293B"/>
                </a:solidFill>
                <a:latin typeface="Arial"/>
              </a:defRPr>
            </a:pPr>
            <a:r>
              <a:t>•  Here, function words are strong dialect fingerprints.</a:t>
            </a:r>
          </a:p>
        </p:txBody>
      </p:sp>
      <p:sp>
        <p:nvSpPr>
          <p:cNvPr id="14" name="TextBox 13"/>
          <p:cNvSpPr txBox="1"/>
          <p:nvPr/>
        </p:nvSpPr>
        <p:spPr>
          <a:xfrm>
            <a:off x="813816" y="2971800"/>
            <a:ext cx="5001768" cy="228600"/>
          </a:xfrm>
          <a:prstGeom prst="rect">
            <a:avLst/>
          </a:prstGeom>
          <a:noFill/>
        </p:spPr>
        <p:txBody>
          <a:bodyPr wrap="square" lIns="0" tIns="0" rIns="0" bIns="0" anchor="t">
            <a:spAutoFit/>
          </a:bodyPr>
          <a:lstStyle/>
          <a:p>
            <a:pPr algn="l">
              <a:spcBef>
                <a:spcPts val="0"/>
              </a:spcBef>
              <a:spcAft>
                <a:spcPts val="0"/>
              </a:spcAft>
            </a:pPr>
            <a:r>
              <a:rPr sz="969" b="1" i="0">
                <a:solidFill>
                  <a:srgbClr val="2563EB"/>
                </a:solidFill>
                <a:latin typeface="Arial"/>
              </a:rPr>
              <a:t>Cairo: إيه / مش / عايز   •   Beirut: شو / ما / بدي</a:t>
            </a:r>
          </a:p>
        </p:txBody>
      </p:sp>
      <p:sp>
        <p:nvSpPr>
          <p:cNvPr id="15" name="TextBox 14"/>
          <p:cNvSpPr txBox="1"/>
          <p:nvPr/>
        </p:nvSpPr>
        <p:spPr>
          <a:xfrm>
            <a:off x="813816" y="3209544"/>
            <a:ext cx="5001768" cy="182880"/>
          </a:xfrm>
          <a:prstGeom prst="rect">
            <a:avLst/>
          </a:prstGeom>
          <a:noFill/>
        </p:spPr>
        <p:txBody>
          <a:bodyPr wrap="square" lIns="0" tIns="0" rIns="0" bIns="0" anchor="t">
            <a:spAutoFit/>
          </a:bodyPr>
          <a:lstStyle/>
          <a:p>
            <a:pPr algn="l">
              <a:spcBef>
                <a:spcPts val="0"/>
              </a:spcBef>
              <a:spcAft>
                <a:spcPts val="0"/>
              </a:spcAft>
            </a:pPr>
            <a:r>
              <a:rPr sz="930" b="1" i="0">
                <a:solidFill>
                  <a:srgbClr val="2563EB"/>
                </a:solidFill>
                <a:latin typeface="Arial"/>
              </a:rPr>
              <a:t>Tunis: شنوة / برشا / فماش   •   Doha: وش / مو / ابغى</a:t>
            </a:r>
          </a:p>
        </p:txBody>
      </p:sp>
      <p:sp>
        <p:nvSpPr>
          <p:cNvPr id="16" name="Rounded Rectangle 15"/>
          <p:cNvSpPr/>
          <p:nvPr/>
        </p:nvSpPr>
        <p:spPr>
          <a:xfrm>
            <a:off x="6222492" y="1348739"/>
            <a:ext cx="5413248" cy="2148840"/>
          </a:xfrm>
          <a:prstGeom prst="roundRect">
            <a:avLst/>
          </a:prstGeom>
          <a:solidFill>
            <a:srgbClr val="F1F5F9"/>
          </a:solidFill>
          <a:ln>
            <a:noFill/>
          </a:ln>
        </p:spPr>
        <p:txBody>
          <a:bodyPr rtlCol="0" anchor="ctr"/>
          <a:lstStyle/>
          <a:p>
            <a:pPr algn="ctr"/>
            <a:endParaRPr/>
          </a:p>
        </p:txBody>
      </p:sp>
      <p:sp>
        <p:nvSpPr>
          <p:cNvPr id="17" name="Rounded Rectangle 16"/>
          <p:cNvSpPr/>
          <p:nvPr/>
        </p:nvSpPr>
        <p:spPr>
          <a:xfrm>
            <a:off x="6190488" y="1307592"/>
            <a:ext cx="5413248" cy="2148840"/>
          </a:xfrm>
          <a:prstGeom prst="roundRect">
            <a:avLst/>
          </a:prstGeom>
          <a:solidFill>
            <a:srgbClr val="FFFFFF"/>
          </a:solidFill>
          <a:ln w="10160">
            <a:solidFill>
              <a:srgbClr val="CBD5E1"/>
            </a:solidFill>
          </a:ln>
        </p:spPr>
        <p:txBody>
          <a:bodyPr rtlCol="0" anchor="ctr"/>
          <a:lstStyle/>
          <a:p>
            <a:pPr algn="ctr"/>
            <a:endParaRPr/>
          </a:p>
        </p:txBody>
      </p:sp>
      <p:sp>
        <p:nvSpPr>
          <p:cNvPr id="18" name="Rectangle 17"/>
          <p:cNvSpPr/>
          <p:nvPr/>
        </p:nvSpPr>
        <p:spPr>
          <a:xfrm>
            <a:off x="6190488" y="1325880"/>
            <a:ext cx="50292" cy="2112264"/>
          </a:xfrm>
          <a:prstGeom prst="rect">
            <a:avLst/>
          </a:prstGeom>
          <a:solidFill>
            <a:srgbClr val="EC4899"/>
          </a:solidFill>
          <a:ln>
            <a:noFill/>
          </a:ln>
        </p:spPr>
        <p:txBody>
          <a:bodyPr rtlCol="0" anchor="ctr"/>
          <a:lstStyle/>
          <a:p>
            <a:pPr algn="ctr"/>
            <a:endParaRPr/>
          </a:p>
        </p:txBody>
      </p:sp>
      <p:sp>
        <p:nvSpPr>
          <p:cNvPr id="19" name="TextBox 18"/>
          <p:cNvSpPr txBox="1"/>
          <p:nvPr/>
        </p:nvSpPr>
        <p:spPr>
          <a:xfrm>
            <a:off x="6409944" y="1508760"/>
            <a:ext cx="5001768" cy="438912"/>
          </a:xfrm>
          <a:prstGeom prst="rect">
            <a:avLst/>
          </a:prstGeom>
          <a:noFill/>
        </p:spPr>
        <p:txBody>
          <a:bodyPr wrap="square" lIns="0" tIns="0" rIns="0" bIns="0" anchor="t">
            <a:spAutoFit/>
          </a:bodyPr>
          <a:lstStyle/>
          <a:p>
            <a:pPr algn="l">
              <a:spcBef>
                <a:spcPts val="0"/>
              </a:spcBef>
              <a:spcAft>
                <a:spcPts val="0"/>
              </a:spcAft>
            </a:pPr>
            <a:r>
              <a:rPr sz="1530" b="1" i="0">
                <a:solidFill>
                  <a:srgbClr val="1E293B"/>
                </a:solidFill>
                <a:latin typeface="Arial"/>
              </a:rPr>
              <a:t>02  Retain Short Sentences</a:t>
            </a:r>
          </a:p>
        </p:txBody>
      </p:sp>
      <p:sp>
        <p:nvSpPr>
          <p:cNvPr id="20" name="TextBox 19"/>
          <p:cNvSpPr txBox="1"/>
          <p:nvPr/>
        </p:nvSpPr>
        <p:spPr>
          <a:xfrm>
            <a:off x="6409944" y="2066543"/>
            <a:ext cx="4974336" cy="1078992"/>
          </a:xfrm>
          <a:prstGeom prst="rect">
            <a:avLst/>
          </a:prstGeom>
          <a:noFill/>
        </p:spPr>
        <p:txBody>
          <a:bodyPr wrap="square" lIns="54864" tIns="27432" rIns="36576" bIns="18288">
            <a:spAutoFit/>
          </a:bodyPr>
          <a:lstStyle/>
          <a:p>
            <a:pPr>
              <a:lnSpc>
                <a:spcPct val="105000"/>
              </a:lnSpc>
              <a:spcBef>
                <a:spcPts val="0"/>
              </a:spcBef>
              <a:spcAft>
                <a:spcPts val="1000"/>
              </a:spcAft>
              <a:defRPr sz="1220">
                <a:solidFill>
                  <a:srgbClr val="1E293B"/>
                </a:solidFill>
                <a:latin typeface="Arial"/>
              </a:defRPr>
            </a:pPr>
            <a:r>
              <a:t>•  One- and two-word turns may carry concentrated regional signals.</a:t>
            </a:r>
          </a:p>
          <a:p>
            <a:pPr>
              <a:lnSpc>
                <a:spcPct val="105000"/>
              </a:lnSpc>
              <a:spcBef>
                <a:spcPts val="0"/>
              </a:spcBef>
              <a:spcAft>
                <a:spcPts val="1000"/>
              </a:spcAft>
              <a:defRPr sz="1220">
                <a:solidFill>
                  <a:srgbClr val="1E293B"/>
                </a:solidFill>
                <a:latin typeface="Arial"/>
              </a:defRPr>
            </a:pPr>
            <a:r>
              <a:t>•  Examples: “يعيشك”, “شورايك”, and “معلش”.</a:t>
            </a:r>
          </a:p>
        </p:txBody>
      </p:sp>
      <p:sp>
        <p:nvSpPr>
          <p:cNvPr id="21" name="Rounded Rectangle 20"/>
          <p:cNvSpPr/>
          <p:nvPr/>
        </p:nvSpPr>
        <p:spPr>
          <a:xfrm>
            <a:off x="6446520" y="3026663"/>
            <a:ext cx="2176272" cy="256032"/>
          </a:xfrm>
          <a:prstGeom prst="roundRect">
            <a:avLst/>
          </a:prstGeom>
          <a:solidFill>
            <a:srgbClr val="FCE7F3"/>
          </a:solidFill>
          <a:ln>
            <a:noFill/>
          </a:ln>
        </p:spPr>
        <p:txBody>
          <a:bodyPr rtlCol="0" anchor="ctr"/>
          <a:lstStyle/>
          <a:p>
            <a:pPr algn="ctr"/>
            <a:endParaRPr/>
          </a:p>
        </p:txBody>
      </p:sp>
      <p:sp>
        <p:nvSpPr>
          <p:cNvPr id="22" name="TextBox 21"/>
          <p:cNvSpPr txBox="1"/>
          <p:nvPr/>
        </p:nvSpPr>
        <p:spPr>
          <a:xfrm>
            <a:off x="6547103" y="3090672"/>
            <a:ext cx="1975104" cy="128016"/>
          </a:xfrm>
          <a:prstGeom prst="rect">
            <a:avLst/>
          </a:prstGeom>
          <a:noFill/>
        </p:spPr>
        <p:txBody>
          <a:bodyPr wrap="square" lIns="0" tIns="0" rIns="0" bIns="0" anchor="t">
            <a:spAutoFit/>
          </a:bodyPr>
          <a:lstStyle/>
          <a:p>
            <a:pPr algn="ctr">
              <a:spcBef>
                <a:spcPts val="0"/>
              </a:spcBef>
              <a:spcAft>
                <a:spcPts val="0"/>
              </a:spcAft>
            </a:pPr>
            <a:r>
              <a:rPr sz="830" b="1" i="0">
                <a:solidFill>
                  <a:srgbClr val="EC4899"/>
                </a:solidFill>
                <a:latin typeface="Arial"/>
              </a:rPr>
              <a:t>DON’T DISCARD SIGNAL</a:t>
            </a:r>
          </a:p>
        </p:txBody>
      </p:sp>
      <p:sp>
        <p:nvSpPr>
          <p:cNvPr id="23" name="Rounded Rectangle 22"/>
          <p:cNvSpPr/>
          <p:nvPr/>
        </p:nvSpPr>
        <p:spPr>
          <a:xfrm>
            <a:off x="626364" y="3744468"/>
            <a:ext cx="5413248" cy="2148840"/>
          </a:xfrm>
          <a:prstGeom prst="roundRect">
            <a:avLst/>
          </a:prstGeom>
          <a:solidFill>
            <a:srgbClr val="F1F5F9"/>
          </a:solidFill>
          <a:ln>
            <a:noFill/>
          </a:ln>
        </p:spPr>
        <p:txBody>
          <a:bodyPr rtlCol="0" anchor="ctr"/>
          <a:lstStyle/>
          <a:p>
            <a:pPr algn="ctr"/>
            <a:endParaRPr/>
          </a:p>
        </p:txBody>
      </p:sp>
      <p:sp>
        <p:nvSpPr>
          <p:cNvPr id="24" name="Rounded Rectangle 23"/>
          <p:cNvSpPr/>
          <p:nvPr/>
        </p:nvSpPr>
        <p:spPr>
          <a:xfrm>
            <a:off x="594360" y="3703320"/>
            <a:ext cx="5413248" cy="2148840"/>
          </a:xfrm>
          <a:prstGeom prst="roundRect">
            <a:avLst/>
          </a:prstGeom>
          <a:solidFill>
            <a:srgbClr val="FFFFFF"/>
          </a:solidFill>
          <a:ln w="10160">
            <a:solidFill>
              <a:srgbClr val="CBD5E1"/>
            </a:solidFill>
          </a:ln>
        </p:spPr>
        <p:txBody>
          <a:bodyPr rtlCol="0" anchor="ctr"/>
          <a:lstStyle/>
          <a:p>
            <a:pPr algn="ctr"/>
            <a:endParaRPr/>
          </a:p>
        </p:txBody>
      </p:sp>
      <p:sp>
        <p:nvSpPr>
          <p:cNvPr id="25" name="Rectangle 24"/>
          <p:cNvSpPr/>
          <p:nvPr/>
        </p:nvSpPr>
        <p:spPr>
          <a:xfrm>
            <a:off x="594360" y="3721607"/>
            <a:ext cx="50292" cy="2112264"/>
          </a:xfrm>
          <a:prstGeom prst="rect">
            <a:avLst/>
          </a:prstGeom>
          <a:solidFill>
            <a:srgbClr val="2563EB"/>
          </a:solidFill>
          <a:ln>
            <a:noFill/>
          </a:ln>
        </p:spPr>
        <p:txBody>
          <a:bodyPr rtlCol="0" anchor="ctr"/>
          <a:lstStyle/>
          <a:p>
            <a:pPr algn="ctr"/>
            <a:endParaRPr/>
          </a:p>
        </p:txBody>
      </p:sp>
      <p:sp>
        <p:nvSpPr>
          <p:cNvPr id="26" name="TextBox 25"/>
          <p:cNvSpPr txBox="1"/>
          <p:nvPr/>
        </p:nvSpPr>
        <p:spPr>
          <a:xfrm>
            <a:off x="813816" y="3904487"/>
            <a:ext cx="5001768" cy="438912"/>
          </a:xfrm>
          <a:prstGeom prst="rect">
            <a:avLst/>
          </a:prstGeom>
          <a:noFill/>
        </p:spPr>
        <p:txBody>
          <a:bodyPr wrap="square" lIns="0" tIns="0" rIns="0" bIns="0" anchor="t">
            <a:spAutoFit/>
          </a:bodyPr>
          <a:lstStyle/>
          <a:p>
            <a:pPr algn="l">
              <a:spcBef>
                <a:spcPts val="0"/>
              </a:spcBef>
              <a:spcAft>
                <a:spcPts val="0"/>
              </a:spcAft>
            </a:pPr>
            <a:r>
              <a:rPr sz="1500" b="1" i="0">
                <a:solidFill>
                  <a:srgbClr val="1E293B"/>
                </a:solidFill>
                <a:latin typeface="Arial"/>
              </a:rPr>
              <a:t>03  Deterministic Regex Normalization</a:t>
            </a:r>
          </a:p>
        </p:txBody>
      </p:sp>
      <p:sp>
        <p:nvSpPr>
          <p:cNvPr id="27" name="TextBox 26"/>
          <p:cNvSpPr txBox="1"/>
          <p:nvPr/>
        </p:nvSpPr>
        <p:spPr>
          <a:xfrm>
            <a:off x="822960" y="4407408"/>
            <a:ext cx="2148840" cy="228600"/>
          </a:xfrm>
          <a:prstGeom prst="rect">
            <a:avLst/>
          </a:prstGeom>
          <a:noFill/>
        </p:spPr>
        <p:txBody>
          <a:bodyPr wrap="square" lIns="0" tIns="0" rIns="0" bIns="0" anchor="t">
            <a:spAutoFit/>
          </a:bodyPr>
          <a:lstStyle/>
          <a:p>
            <a:pPr algn="l">
              <a:spcBef>
                <a:spcPts val="0"/>
              </a:spcBef>
              <a:spcAft>
                <a:spcPts val="0"/>
              </a:spcAft>
            </a:pPr>
            <a:r>
              <a:rPr sz="1120" b="1" i="0">
                <a:solidFill>
                  <a:srgbClr val="2563EB"/>
                </a:solidFill>
                <a:latin typeface="Arial"/>
              </a:rPr>
              <a:t>clean_arabic_text</a:t>
            </a:r>
          </a:p>
        </p:txBody>
      </p:sp>
      <p:sp>
        <p:nvSpPr>
          <p:cNvPr id="28" name="TextBox 27"/>
          <p:cNvSpPr txBox="1"/>
          <p:nvPr/>
        </p:nvSpPr>
        <p:spPr>
          <a:xfrm>
            <a:off x="813816" y="4690872"/>
            <a:ext cx="4974336" cy="950976"/>
          </a:xfrm>
          <a:prstGeom prst="rect">
            <a:avLst/>
          </a:prstGeom>
          <a:noFill/>
        </p:spPr>
        <p:txBody>
          <a:bodyPr wrap="square" lIns="54864" tIns="27432" rIns="36576" bIns="18288">
            <a:spAutoFit/>
          </a:bodyPr>
          <a:lstStyle/>
          <a:p>
            <a:pPr>
              <a:lnSpc>
                <a:spcPct val="105000"/>
              </a:lnSpc>
              <a:spcBef>
                <a:spcPts val="0"/>
              </a:spcBef>
              <a:spcAft>
                <a:spcPts val="700"/>
              </a:spcAft>
              <a:defRPr sz="1170">
                <a:solidFill>
                  <a:srgbClr val="1E293B"/>
                </a:solidFill>
                <a:latin typeface="Arial"/>
              </a:defRPr>
            </a:pPr>
            <a:r>
              <a:t>•  Strip tashkeel, tatweel, URLs, digits, and non-Arabic characters.</a:t>
            </a:r>
          </a:p>
          <a:p>
            <a:pPr>
              <a:lnSpc>
                <a:spcPct val="105000"/>
              </a:lnSpc>
              <a:spcBef>
                <a:spcPts val="0"/>
              </a:spcBef>
              <a:spcAft>
                <a:spcPts val="700"/>
              </a:spcAft>
              <a:defRPr sz="1170">
                <a:solidFill>
                  <a:srgbClr val="1E293B"/>
                </a:solidFill>
                <a:latin typeface="Arial"/>
              </a:defRPr>
            </a:pPr>
            <a:r>
              <a:t>•  Normalize variants: (إ / أ / آ → ا), (ى → ي), (ة → ه).</a:t>
            </a:r>
          </a:p>
        </p:txBody>
      </p:sp>
      <p:sp>
        <p:nvSpPr>
          <p:cNvPr id="29" name="Rounded Rectangle 28"/>
          <p:cNvSpPr/>
          <p:nvPr/>
        </p:nvSpPr>
        <p:spPr>
          <a:xfrm>
            <a:off x="6222492" y="3744468"/>
            <a:ext cx="5413248" cy="2148840"/>
          </a:xfrm>
          <a:prstGeom prst="roundRect">
            <a:avLst/>
          </a:prstGeom>
          <a:solidFill>
            <a:srgbClr val="F1F5F9"/>
          </a:solidFill>
          <a:ln>
            <a:noFill/>
          </a:ln>
        </p:spPr>
        <p:txBody>
          <a:bodyPr rtlCol="0" anchor="ctr"/>
          <a:lstStyle/>
          <a:p>
            <a:pPr algn="ctr"/>
            <a:endParaRPr/>
          </a:p>
        </p:txBody>
      </p:sp>
      <p:sp>
        <p:nvSpPr>
          <p:cNvPr id="30" name="Rounded Rectangle 29"/>
          <p:cNvSpPr/>
          <p:nvPr/>
        </p:nvSpPr>
        <p:spPr>
          <a:xfrm>
            <a:off x="6190488" y="3703320"/>
            <a:ext cx="5413248" cy="2148840"/>
          </a:xfrm>
          <a:prstGeom prst="roundRect">
            <a:avLst/>
          </a:prstGeom>
          <a:solidFill>
            <a:srgbClr val="FFFFFF"/>
          </a:solidFill>
          <a:ln w="10160">
            <a:solidFill>
              <a:srgbClr val="CBD5E1"/>
            </a:solidFill>
          </a:ln>
        </p:spPr>
        <p:txBody>
          <a:bodyPr rtlCol="0" anchor="ctr"/>
          <a:lstStyle/>
          <a:p>
            <a:pPr algn="ctr"/>
            <a:endParaRPr/>
          </a:p>
        </p:txBody>
      </p:sp>
      <p:sp>
        <p:nvSpPr>
          <p:cNvPr id="31" name="Rectangle 30"/>
          <p:cNvSpPr/>
          <p:nvPr/>
        </p:nvSpPr>
        <p:spPr>
          <a:xfrm>
            <a:off x="6190488" y="3721607"/>
            <a:ext cx="50292" cy="2112264"/>
          </a:xfrm>
          <a:prstGeom prst="rect">
            <a:avLst/>
          </a:prstGeom>
          <a:solidFill>
            <a:srgbClr val="16A34A"/>
          </a:solidFill>
          <a:ln>
            <a:noFill/>
          </a:ln>
        </p:spPr>
        <p:txBody>
          <a:bodyPr rtlCol="0" anchor="ctr"/>
          <a:lstStyle/>
          <a:p>
            <a:pPr algn="ctr"/>
            <a:endParaRPr/>
          </a:p>
        </p:txBody>
      </p:sp>
      <p:sp>
        <p:nvSpPr>
          <p:cNvPr id="32" name="TextBox 31"/>
          <p:cNvSpPr txBox="1"/>
          <p:nvPr/>
        </p:nvSpPr>
        <p:spPr>
          <a:xfrm>
            <a:off x="6409944" y="3904487"/>
            <a:ext cx="5001768" cy="438912"/>
          </a:xfrm>
          <a:prstGeom prst="rect">
            <a:avLst/>
          </a:prstGeom>
          <a:noFill/>
        </p:spPr>
        <p:txBody>
          <a:bodyPr wrap="square" lIns="0" tIns="0" rIns="0" bIns="0" anchor="t">
            <a:spAutoFit/>
          </a:bodyPr>
          <a:lstStyle/>
          <a:p>
            <a:pPr algn="l">
              <a:spcBef>
                <a:spcPts val="0"/>
              </a:spcBef>
              <a:spcAft>
                <a:spcPts val="0"/>
              </a:spcAft>
            </a:pPr>
            <a:r>
              <a:rPr sz="1530" b="1" i="0">
                <a:solidFill>
                  <a:srgbClr val="1E293B"/>
                </a:solidFill>
                <a:latin typeface="Arial"/>
              </a:rPr>
              <a:t>04  Before → After</a:t>
            </a:r>
          </a:p>
        </p:txBody>
      </p:sp>
      <p:sp>
        <p:nvSpPr>
          <p:cNvPr id="33" name="TextBox 32"/>
          <p:cNvSpPr txBox="1"/>
          <p:nvPr/>
        </p:nvSpPr>
        <p:spPr>
          <a:xfrm>
            <a:off x="6409944" y="4443983"/>
            <a:ext cx="914400" cy="164592"/>
          </a:xfrm>
          <a:prstGeom prst="rect">
            <a:avLst/>
          </a:prstGeom>
          <a:noFill/>
        </p:spPr>
        <p:txBody>
          <a:bodyPr wrap="square" lIns="0" tIns="0" rIns="0" bIns="0" anchor="t">
            <a:spAutoFit/>
          </a:bodyPr>
          <a:lstStyle/>
          <a:p>
            <a:pPr algn="l">
              <a:spcBef>
                <a:spcPts val="0"/>
              </a:spcBef>
              <a:spcAft>
                <a:spcPts val="0"/>
              </a:spcAft>
            </a:pPr>
            <a:r>
              <a:rPr sz="830" b="1" i="0">
                <a:solidFill>
                  <a:srgbClr val="64748B"/>
                </a:solidFill>
                <a:latin typeface="Arial"/>
              </a:rPr>
              <a:t>RAW INPUT</a:t>
            </a:r>
          </a:p>
        </p:txBody>
      </p:sp>
      <p:sp>
        <p:nvSpPr>
          <p:cNvPr id="34" name="TextBox 33"/>
          <p:cNvSpPr txBox="1"/>
          <p:nvPr/>
        </p:nvSpPr>
        <p:spPr>
          <a:xfrm>
            <a:off x="6409944" y="4672583"/>
            <a:ext cx="4956048" cy="301752"/>
          </a:xfrm>
          <a:prstGeom prst="rect">
            <a:avLst/>
          </a:prstGeom>
          <a:noFill/>
        </p:spPr>
        <p:txBody>
          <a:bodyPr wrap="square" lIns="0" tIns="0" rIns="0" bIns="0" anchor="t">
            <a:spAutoFit/>
          </a:bodyPr>
          <a:lstStyle/>
          <a:p>
            <a:pPr algn="l">
              <a:spcBef>
                <a:spcPts val="0"/>
              </a:spcBef>
              <a:spcAft>
                <a:spcPts val="0"/>
              </a:spcAft>
            </a:pPr>
            <a:r>
              <a:rPr sz="1200" b="1" i="0">
                <a:solidFill>
                  <a:srgbClr val="1E293B"/>
                </a:solidFill>
                <a:latin typeface="Arial"/>
              </a:rPr>
              <a:t>“شُورَأْيَك بـ 10 دولار للتلاتة؟!!”</a:t>
            </a:r>
          </a:p>
        </p:txBody>
      </p:sp>
      <p:cxnSp>
        <p:nvCxnSpPr>
          <p:cNvPr id="35" name="Connector 34"/>
          <p:cNvCxnSpPr/>
          <p:nvPr/>
        </p:nvCxnSpPr>
        <p:spPr>
          <a:xfrm>
            <a:off x="6409944" y="5056631"/>
            <a:ext cx="4974336"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409944" y="5157216"/>
            <a:ext cx="1600200" cy="164592"/>
          </a:xfrm>
          <a:prstGeom prst="rect">
            <a:avLst/>
          </a:prstGeom>
          <a:noFill/>
        </p:spPr>
        <p:txBody>
          <a:bodyPr wrap="square" lIns="0" tIns="0" rIns="0" bIns="0" anchor="t">
            <a:spAutoFit/>
          </a:bodyPr>
          <a:lstStyle/>
          <a:p>
            <a:pPr algn="l">
              <a:spcBef>
                <a:spcPts val="0"/>
              </a:spcBef>
              <a:spcAft>
                <a:spcPts val="0"/>
              </a:spcAft>
            </a:pPr>
            <a:r>
              <a:rPr sz="830" b="1" i="0">
                <a:solidFill>
                  <a:srgbClr val="16A34A"/>
                </a:solidFill>
                <a:latin typeface="Arial"/>
              </a:rPr>
              <a:t>NORMALIZED OUTPUT</a:t>
            </a:r>
          </a:p>
        </p:txBody>
      </p:sp>
      <p:sp>
        <p:nvSpPr>
          <p:cNvPr id="37" name="TextBox 36"/>
          <p:cNvSpPr txBox="1"/>
          <p:nvPr/>
        </p:nvSpPr>
        <p:spPr>
          <a:xfrm>
            <a:off x="6409944" y="5394960"/>
            <a:ext cx="4956048" cy="283464"/>
          </a:xfrm>
          <a:prstGeom prst="rect">
            <a:avLst/>
          </a:prstGeom>
          <a:noFill/>
        </p:spPr>
        <p:txBody>
          <a:bodyPr wrap="square" lIns="0" tIns="0" rIns="0" bIns="0" anchor="t">
            <a:spAutoFit/>
          </a:bodyPr>
          <a:lstStyle/>
          <a:p>
            <a:pPr algn="l">
              <a:spcBef>
                <a:spcPts val="0"/>
              </a:spcBef>
              <a:spcAft>
                <a:spcPts val="0"/>
              </a:spcAft>
            </a:pPr>
            <a:r>
              <a:rPr sz="1220" b="1" i="0">
                <a:solidFill>
                  <a:srgbClr val="16A34A"/>
                </a:solidFill>
                <a:latin typeface="Arial"/>
              </a:rPr>
              <a:t>“شورايك ب دولار للتلاته”</a:t>
            </a:r>
          </a:p>
        </p:txBody>
      </p:sp>
      <p:cxnSp>
        <p:nvCxnSpPr>
          <p:cNvPr id="38" name="Connector 37"/>
          <p:cNvCxnSpPr/>
          <p:nvPr/>
        </p:nvCxnSpPr>
        <p:spPr>
          <a:xfrm>
            <a:off x="594360" y="6473952"/>
            <a:ext cx="11000232" cy="0"/>
          </a:xfrm>
          <a:prstGeom prst="line">
            <a:avLst/>
          </a:prstGeom>
          <a:ln w="8890">
            <a:solidFill>
              <a:srgbClr val="CBD5E1"/>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03504" y="6547104"/>
            <a:ext cx="4572000" cy="164592"/>
          </a:xfrm>
          <a:prstGeom prst="rect">
            <a:avLst/>
          </a:prstGeom>
          <a:noFill/>
        </p:spPr>
        <p:txBody>
          <a:bodyPr wrap="square" lIns="0" tIns="0" rIns="0" bIns="0" anchor="t">
            <a:spAutoFit/>
          </a:bodyPr>
          <a:lstStyle/>
          <a:p>
            <a:pPr algn="l">
              <a:spcBef>
                <a:spcPts val="0"/>
              </a:spcBef>
              <a:spcAft>
                <a:spcPts val="0"/>
              </a:spcAft>
            </a:pPr>
            <a:r>
              <a:rPr sz="800" b="1" i="0">
                <a:solidFill>
                  <a:srgbClr val="64748B"/>
                </a:solidFill>
                <a:latin typeface="Arial"/>
              </a:rPr>
              <a:t>ARABIC DIALECT CLASSIFICATION</a:t>
            </a:r>
          </a:p>
        </p:txBody>
      </p:sp>
      <p:sp>
        <p:nvSpPr>
          <p:cNvPr id="40" name="TextBox 39"/>
          <p:cNvSpPr txBox="1"/>
          <p:nvPr/>
        </p:nvSpPr>
        <p:spPr>
          <a:xfrm>
            <a:off x="10652760" y="6528816"/>
            <a:ext cx="914400" cy="182880"/>
          </a:xfrm>
          <a:prstGeom prst="rect">
            <a:avLst/>
          </a:prstGeom>
          <a:noFill/>
        </p:spPr>
        <p:txBody>
          <a:bodyPr wrap="square" lIns="0" tIns="0" rIns="0" bIns="0" anchor="t">
            <a:spAutoFit/>
          </a:bodyPr>
          <a:lstStyle/>
          <a:p>
            <a:pPr algn="r">
              <a:spcBef>
                <a:spcPts val="0"/>
              </a:spcBef>
              <a:spcAft>
                <a:spcPts val="0"/>
              </a:spcAft>
            </a:pPr>
            <a:r>
              <a:rPr sz="850" b="1" i="0">
                <a:solidFill>
                  <a:srgbClr val="64748B"/>
                </a:solidFill>
                <a:latin typeface="Arial"/>
              </a:rPr>
              <a:t>04  /  12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F172A"/>
          </a:solidFill>
          <a:ln>
            <a:noFill/>
          </a:ln>
        </p:spPr>
        <p:txBody>
          <a:bodyPr rtlCol="0" anchor="ctr"/>
          <a:lstStyle/>
          <a:p>
            <a:pPr algn="ctr"/>
            <a:endParaRPr/>
          </a:p>
        </p:txBody>
      </p:sp>
      <p:sp>
        <p:nvSpPr>
          <p:cNvPr id="3" name="Rectangle 2"/>
          <p:cNvSpPr/>
          <p:nvPr/>
        </p:nvSpPr>
        <p:spPr>
          <a:xfrm>
            <a:off x="0" y="0"/>
            <a:ext cx="2011680" cy="128016"/>
          </a:xfrm>
          <a:prstGeom prst="rect">
            <a:avLst/>
          </a:prstGeom>
          <a:solidFill>
            <a:srgbClr val="38BDF8"/>
          </a:solidFill>
          <a:ln>
            <a:noFill/>
          </a:ln>
        </p:spPr>
        <p:txBody>
          <a:bodyPr rtlCol="0" anchor="ctr"/>
          <a:lstStyle/>
          <a:p>
            <a:pPr algn="ctr"/>
            <a:endParaRPr/>
          </a:p>
        </p:txBody>
      </p:sp>
      <p:sp>
        <p:nvSpPr>
          <p:cNvPr id="4" name="TextBox 3"/>
          <p:cNvSpPr txBox="1"/>
          <p:nvPr/>
        </p:nvSpPr>
        <p:spPr>
          <a:xfrm>
            <a:off x="603504" y="274320"/>
            <a:ext cx="2743200" cy="201168"/>
          </a:xfrm>
          <a:prstGeom prst="rect">
            <a:avLst/>
          </a:prstGeom>
          <a:noFill/>
        </p:spPr>
        <p:txBody>
          <a:bodyPr wrap="square" lIns="0" tIns="0" rIns="0" bIns="0" anchor="t">
            <a:spAutoFit/>
          </a:bodyPr>
          <a:lstStyle/>
          <a:p>
            <a:pPr algn="l">
              <a:spcBef>
                <a:spcPts val="0"/>
              </a:spcBef>
              <a:spcAft>
                <a:spcPts val="0"/>
              </a:spcAft>
            </a:pPr>
            <a:r>
              <a:rPr sz="850" b="1" i="0">
                <a:solidFill>
                  <a:srgbClr val="2563EB"/>
                </a:solidFill>
                <a:latin typeface="Arial"/>
              </a:rPr>
              <a:t>MODEL DEVELOPMENT</a:t>
            </a:r>
          </a:p>
        </p:txBody>
      </p:sp>
      <p:sp>
        <p:nvSpPr>
          <p:cNvPr id="5" name="TextBox 4"/>
          <p:cNvSpPr txBox="1"/>
          <p:nvPr/>
        </p:nvSpPr>
        <p:spPr>
          <a:xfrm>
            <a:off x="594360" y="521207"/>
            <a:ext cx="10972800" cy="530352"/>
          </a:xfrm>
          <a:prstGeom prst="rect">
            <a:avLst/>
          </a:prstGeom>
          <a:noFill/>
        </p:spPr>
        <p:txBody>
          <a:bodyPr wrap="square" lIns="0" tIns="0" rIns="0" bIns="0" anchor="t">
            <a:spAutoFit/>
          </a:bodyPr>
          <a:lstStyle/>
          <a:p>
            <a:pPr algn="l">
              <a:spcBef>
                <a:spcPts val="0"/>
              </a:spcBef>
              <a:spcAft>
                <a:spcPts val="0"/>
              </a:spcAft>
            </a:pPr>
            <a:r>
              <a:rPr sz="2800" b="1" i="0">
                <a:solidFill>
                  <a:srgbClr val="0F172A"/>
                </a:solidFill>
                <a:latin typeface="Arial"/>
              </a:rPr>
              <a:t>End-to-End Modeling Progression</a:t>
            </a:r>
          </a:p>
        </p:txBody>
      </p:sp>
      <p:sp>
        <p:nvSpPr>
          <p:cNvPr id="6" name="Oval 5"/>
          <p:cNvSpPr/>
          <p:nvPr/>
        </p:nvSpPr>
        <p:spPr>
          <a:xfrm>
            <a:off x="11411712" y="347472"/>
            <a:ext cx="164592" cy="164592"/>
          </a:xfrm>
          <a:prstGeom prst="ellipse">
            <a:avLst/>
          </a:prstGeom>
          <a:solidFill>
            <a:srgbClr val="38BDF8"/>
          </a:solidFill>
          <a:ln>
            <a:noFill/>
          </a:ln>
        </p:spPr>
        <p:txBody>
          <a:bodyPr rtlCol="0" anchor="ctr"/>
          <a:lstStyle/>
          <a:p>
            <a:pPr algn="ctr"/>
            <a:endParaRPr/>
          </a:p>
        </p:txBody>
      </p:sp>
      <p:sp>
        <p:nvSpPr>
          <p:cNvPr id="7" name="Oval 6"/>
          <p:cNvSpPr/>
          <p:nvPr/>
        </p:nvSpPr>
        <p:spPr>
          <a:xfrm>
            <a:off x="11612880" y="347472"/>
            <a:ext cx="164592" cy="164592"/>
          </a:xfrm>
          <a:prstGeom prst="ellipse">
            <a:avLst/>
          </a:prstGeom>
          <a:solidFill>
            <a:srgbClr val="EC4899"/>
          </a:solidFill>
          <a:ln>
            <a:noFill/>
          </a:ln>
        </p:spPr>
        <p:txBody>
          <a:bodyPr rtlCol="0" anchor="ctr"/>
          <a:lstStyle/>
          <a:p>
            <a:pPr algn="ctr"/>
            <a:endParaRPr/>
          </a:p>
        </p:txBody>
      </p:sp>
      <p:sp>
        <p:nvSpPr>
          <p:cNvPr id="8" name="Oval 7"/>
          <p:cNvSpPr/>
          <p:nvPr/>
        </p:nvSpPr>
        <p:spPr>
          <a:xfrm>
            <a:off x="11814048" y="347472"/>
            <a:ext cx="164592" cy="164592"/>
          </a:xfrm>
          <a:prstGeom prst="ellipse">
            <a:avLst/>
          </a:prstGeom>
          <a:solidFill>
            <a:srgbClr val="2563EB"/>
          </a:solidFill>
          <a:ln>
            <a:noFill/>
          </a:ln>
        </p:spPr>
        <p:txBody>
          <a:bodyPr rtlCol="0" anchor="ctr"/>
          <a:lstStyle/>
          <a:p>
            <a:pPr algn="ctr"/>
            <a:endParaRPr/>
          </a:p>
        </p:txBody>
      </p:sp>
      <p:sp>
        <p:nvSpPr>
          <p:cNvPr id="9" name="Rounded Rectangle 8"/>
          <p:cNvSpPr/>
          <p:nvPr/>
        </p:nvSpPr>
        <p:spPr>
          <a:xfrm>
            <a:off x="626364" y="1394460"/>
            <a:ext cx="3383280" cy="4736592"/>
          </a:xfrm>
          <a:prstGeom prst="roundRect">
            <a:avLst/>
          </a:prstGeom>
          <a:solidFill>
            <a:srgbClr val="F1F5F9"/>
          </a:solidFill>
          <a:ln>
            <a:noFill/>
          </a:ln>
        </p:spPr>
        <p:txBody>
          <a:bodyPr rtlCol="0" anchor="ctr"/>
          <a:lstStyle/>
          <a:p>
            <a:pPr algn="ctr"/>
            <a:endParaRPr/>
          </a:p>
        </p:txBody>
      </p:sp>
      <p:sp>
        <p:nvSpPr>
          <p:cNvPr id="10" name="Rounded Rectangle 9"/>
          <p:cNvSpPr/>
          <p:nvPr/>
        </p:nvSpPr>
        <p:spPr>
          <a:xfrm>
            <a:off x="594360" y="1353312"/>
            <a:ext cx="3383280" cy="4736592"/>
          </a:xfrm>
          <a:prstGeom prst="roundRect">
            <a:avLst/>
          </a:prstGeom>
          <a:solidFill>
            <a:srgbClr val="FFFFFF"/>
          </a:solidFill>
          <a:ln w="10160">
            <a:solidFill>
              <a:srgbClr val="CBD5E1"/>
            </a:solidFill>
          </a:ln>
        </p:spPr>
        <p:txBody>
          <a:bodyPr rtlCol="0" anchor="ctr"/>
          <a:lstStyle/>
          <a:p>
            <a:pPr algn="ctr"/>
            <a:endParaRPr/>
          </a:p>
        </p:txBody>
      </p:sp>
      <p:sp>
        <p:nvSpPr>
          <p:cNvPr id="11" name="Rectangle 10"/>
          <p:cNvSpPr/>
          <p:nvPr/>
        </p:nvSpPr>
        <p:spPr>
          <a:xfrm>
            <a:off x="594360" y="1371600"/>
            <a:ext cx="50292" cy="4700016"/>
          </a:xfrm>
          <a:prstGeom prst="rect">
            <a:avLst/>
          </a:prstGeom>
          <a:solidFill>
            <a:srgbClr val="38BDF8"/>
          </a:solidFill>
          <a:ln>
            <a:noFill/>
          </a:ln>
        </p:spPr>
        <p:txBody>
          <a:bodyPr rtlCol="0" anchor="ctr"/>
          <a:lstStyle/>
          <a:p>
            <a:pPr algn="ctr"/>
            <a:endParaRPr/>
          </a:p>
        </p:txBody>
      </p:sp>
      <p:sp>
        <p:nvSpPr>
          <p:cNvPr id="12" name="TextBox 11"/>
          <p:cNvSpPr txBox="1"/>
          <p:nvPr/>
        </p:nvSpPr>
        <p:spPr>
          <a:xfrm>
            <a:off x="813816" y="1490472"/>
            <a:ext cx="2971800" cy="201168"/>
          </a:xfrm>
          <a:prstGeom prst="rect">
            <a:avLst/>
          </a:prstGeom>
          <a:noFill/>
        </p:spPr>
        <p:txBody>
          <a:bodyPr wrap="square" lIns="0" tIns="0" rIns="0" bIns="0" anchor="t">
            <a:spAutoFit/>
          </a:bodyPr>
          <a:lstStyle/>
          <a:p>
            <a:pPr algn="l">
              <a:spcBef>
                <a:spcPts val="0"/>
              </a:spcBef>
              <a:spcAft>
                <a:spcPts val="0"/>
              </a:spcAft>
            </a:pPr>
            <a:r>
              <a:rPr sz="850" b="1" i="0">
                <a:solidFill>
                  <a:srgbClr val="38BDF8"/>
                </a:solidFill>
                <a:latin typeface="Arial"/>
              </a:rPr>
              <a:t>PHASE 01</a:t>
            </a:r>
          </a:p>
        </p:txBody>
      </p:sp>
      <p:sp>
        <p:nvSpPr>
          <p:cNvPr id="13" name="TextBox 12"/>
          <p:cNvSpPr txBox="1"/>
          <p:nvPr/>
        </p:nvSpPr>
        <p:spPr>
          <a:xfrm>
            <a:off x="813816" y="1709928"/>
            <a:ext cx="2971800" cy="438912"/>
          </a:xfrm>
          <a:prstGeom prst="rect">
            <a:avLst/>
          </a:prstGeom>
          <a:noFill/>
        </p:spPr>
        <p:txBody>
          <a:bodyPr wrap="square" lIns="0" tIns="0" rIns="0" bIns="0" anchor="t">
            <a:spAutoFit/>
          </a:bodyPr>
          <a:lstStyle/>
          <a:p>
            <a:pPr algn="l">
              <a:spcBef>
                <a:spcPts val="0"/>
              </a:spcBef>
              <a:spcAft>
                <a:spcPts val="0"/>
              </a:spcAft>
            </a:pPr>
            <a:r>
              <a:rPr sz="1510" b="1" i="0">
                <a:solidFill>
                  <a:srgbClr val="1E293B"/>
                </a:solidFill>
                <a:latin typeface="Arial"/>
              </a:rPr>
              <a:t>Classical ML &amp; Stacking</a:t>
            </a:r>
          </a:p>
        </p:txBody>
      </p:sp>
      <p:sp>
        <p:nvSpPr>
          <p:cNvPr id="14" name="Rounded Rectangle 13"/>
          <p:cNvSpPr/>
          <p:nvPr/>
        </p:nvSpPr>
        <p:spPr>
          <a:xfrm>
            <a:off x="4439412" y="1394460"/>
            <a:ext cx="3383280" cy="4736592"/>
          </a:xfrm>
          <a:prstGeom prst="roundRect">
            <a:avLst/>
          </a:prstGeom>
          <a:solidFill>
            <a:srgbClr val="F1F5F9"/>
          </a:solidFill>
          <a:ln>
            <a:noFill/>
          </a:ln>
        </p:spPr>
        <p:txBody>
          <a:bodyPr rtlCol="0" anchor="ctr"/>
          <a:lstStyle/>
          <a:p>
            <a:pPr algn="ctr"/>
            <a:endParaRPr/>
          </a:p>
        </p:txBody>
      </p:sp>
      <p:sp>
        <p:nvSpPr>
          <p:cNvPr id="15" name="Rounded Rectangle 14"/>
          <p:cNvSpPr/>
          <p:nvPr/>
        </p:nvSpPr>
        <p:spPr>
          <a:xfrm>
            <a:off x="4407408" y="1353312"/>
            <a:ext cx="3383280" cy="4736592"/>
          </a:xfrm>
          <a:prstGeom prst="roundRect">
            <a:avLst/>
          </a:prstGeom>
          <a:solidFill>
            <a:srgbClr val="FFFFFF"/>
          </a:solidFill>
          <a:ln w="10160">
            <a:solidFill>
              <a:srgbClr val="CBD5E1"/>
            </a:solidFill>
          </a:ln>
        </p:spPr>
        <p:txBody>
          <a:bodyPr rtlCol="0" anchor="ctr"/>
          <a:lstStyle/>
          <a:p>
            <a:pPr algn="ctr"/>
            <a:endParaRPr/>
          </a:p>
        </p:txBody>
      </p:sp>
      <p:sp>
        <p:nvSpPr>
          <p:cNvPr id="16" name="Rectangle 15"/>
          <p:cNvSpPr/>
          <p:nvPr/>
        </p:nvSpPr>
        <p:spPr>
          <a:xfrm>
            <a:off x="4407408" y="1371600"/>
            <a:ext cx="50292" cy="4700016"/>
          </a:xfrm>
          <a:prstGeom prst="rect">
            <a:avLst/>
          </a:prstGeom>
          <a:solidFill>
            <a:srgbClr val="2563EB"/>
          </a:solidFill>
          <a:ln>
            <a:noFill/>
          </a:ln>
        </p:spPr>
        <p:txBody>
          <a:bodyPr rtlCol="0" anchor="ctr"/>
          <a:lstStyle/>
          <a:p>
            <a:pPr algn="ctr"/>
            <a:endParaRPr/>
          </a:p>
        </p:txBody>
      </p:sp>
      <p:sp>
        <p:nvSpPr>
          <p:cNvPr id="17" name="TextBox 16"/>
          <p:cNvSpPr txBox="1"/>
          <p:nvPr/>
        </p:nvSpPr>
        <p:spPr>
          <a:xfrm>
            <a:off x="4626864" y="1490472"/>
            <a:ext cx="2971800" cy="201168"/>
          </a:xfrm>
          <a:prstGeom prst="rect">
            <a:avLst/>
          </a:prstGeom>
          <a:noFill/>
        </p:spPr>
        <p:txBody>
          <a:bodyPr wrap="square" lIns="0" tIns="0" rIns="0" bIns="0" anchor="t">
            <a:spAutoFit/>
          </a:bodyPr>
          <a:lstStyle/>
          <a:p>
            <a:pPr algn="l">
              <a:spcBef>
                <a:spcPts val="0"/>
              </a:spcBef>
              <a:spcAft>
                <a:spcPts val="0"/>
              </a:spcAft>
            </a:pPr>
            <a:r>
              <a:rPr sz="850" b="1" i="0">
                <a:solidFill>
                  <a:srgbClr val="2563EB"/>
                </a:solidFill>
                <a:latin typeface="Arial"/>
              </a:rPr>
              <a:t>PHASE 02</a:t>
            </a:r>
          </a:p>
        </p:txBody>
      </p:sp>
      <p:sp>
        <p:nvSpPr>
          <p:cNvPr id="18" name="TextBox 17"/>
          <p:cNvSpPr txBox="1"/>
          <p:nvPr/>
        </p:nvSpPr>
        <p:spPr>
          <a:xfrm>
            <a:off x="4626864" y="1709928"/>
            <a:ext cx="2971800" cy="438912"/>
          </a:xfrm>
          <a:prstGeom prst="rect">
            <a:avLst/>
          </a:prstGeom>
          <a:noFill/>
        </p:spPr>
        <p:txBody>
          <a:bodyPr wrap="square" lIns="0" tIns="0" rIns="0" bIns="0" anchor="t">
            <a:spAutoFit/>
          </a:bodyPr>
          <a:lstStyle/>
          <a:p>
            <a:pPr algn="l">
              <a:spcBef>
                <a:spcPts val="0"/>
              </a:spcBef>
              <a:spcAft>
                <a:spcPts val="0"/>
              </a:spcAft>
            </a:pPr>
            <a:r>
              <a:rPr sz="1510" b="1" i="0">
                <a:solidFill>
                  <a:srgbClr val="1E293B"/>
                </a:solidFill>
                <a:latin typeface="Arial"/>
              </a:rPr>
              <a:t>AraBERTv02 Fine-Tuning</a:t>
            </a:r>
          </a:p>
        </p:txBody>
      </p:sp>
      <p:sp>
        <p:nvSpPr>
          <p:cNvPr id="19" name="Rounded Rectangle 18"/>
          <p:cNvSpPr/>
          <p:nvPr/>
        </p:nvSpPr>
        <p:spPr>
          <a:xfrm>
            <a:off x="8252460" y="1394460"/>
            <a:ext cx="3383280" cy="4736592"/>
          </a:xfrm>
          <a:prstGeom prst="roundRect">
            <a:avLst/>
          </a:prstGeom>
          <a:solidFill>
            <a:srgbClr val="F1F5F9"/>
          </a:solidFill>
          <a:ln>
            <a:noFill/>
          </a:ln>
        </p:spPr>
        <p:txBody>
          <a:bodyPr rtlCol="0" anchor="ctr"/>
          <a:lstStyle/>
          <a:p>
            <a:pPr algn="ctr"/>
            <a:endParaRPr/>
          </a:p>
        </p:txBody>
      </p:sp>
      <p:sp>
        <p:nvSpPr>
          <p:cNvPr id="20" name="Rounded Rectangle 19"/>
          <p:cNvSpPr/>
          <p:nvPr/>
        </p:nvSpPr>
        <p:spPr>
          <a:xfrm>
            <a:off x="8220456" y="1353312"/>
            <a:ext cx="3383280" cy="4736592"/>
          </a:xfrm>
          <a:prstGeom prst="roundRect">
            <a:avLst/>
          </a:prstGeom>
          <a:solidFill>
            <a:srgbClr val="FFFAFD"/>
          </a:solidFill>
          <a:ln w="10160">
            <a:solidFill>
              <a:srgbClr val="EC4899"/>
            </a:solidFill>
          </a:ln>
        </p:spPr>
        <p:txBody>
          <a:bodyPr rtlCol="0" anchor="ctr"/>
          <a:lstStyle/>
          <a:p>
            <a:pPr algn="ctr"/>
            <a:endParaRPr/>
          </a:p>
        </p:txBody>
      </p:sp>
      <p:sp>
        <p:nvSpPr>
          <p:cNvPr id="21" name="Rectangle 20"/>
          <p:cNvSpPr/>
          <p:nvPr/>
        </p:nvSpPr>
        <p:spPr>
          <a:xfrm>
            <a:off x="8220456" y="1371600"/>
            <a:ext cx="50292" cy="4700016"/>
          </a:xfrm>
          <a:prstGeom prst="rect">
            <a:avLst/>
          </a:prstGeom>
          <a:solidFill>
            <a:srgbClr val="EC4899"/>
          </a:solidFill>
          <a:ln>
            <a:noFill/>
          </a:ln>
        </p:spPr>
        <p:txBody>
          <a:bodyPr rtlCol="0" anchor="ctr"/>
          <a:lstStyle/>
          <a:p>
            <a:pPr algn="ctr"/>
            <a:endParaRPr/>
          </a:p>
        </p:txBody>
      </p:sp>
      <p:sp>
        <p:nvSpPr>
          <p:cNvPr id="22" name="TextBox 21"/>
          <p:cNvSpPr txBox="1"/>
          <p:nvPr/>
        </p:nvSpPr>
        <p:spPr>
          <a:xfrm>
            <a:off x="8439912" y="1490472"/>
            <a:ext cx="2971800" cy="201168"/>
          </a:xfrm>
          <a:prstGeom prst="rect">
            <a:avLst/>
          </a:prstGeom>
          <a:noFill/>
        </p:spPr>
        <p:txBody>
          <a:bodyPr wrap="square" lIns="0" tIns="0" rIns="0" bIns="0" anchor="t">
            <a:spAutoFit/>
          </a:bodyPr>
          <a:lstStyle/>
          <a:p>
            <a:pPr algn="l">
              <a:spcBef>
                <a:spcPts val="0"/>
              </a:spcBef>
              <a:spcAft>
                <a:spcPts val="0"/>
              </a:spcAft>
            </a:pPr>
            <a:r>
              <a:rPr sz="850" b="1" i="0">
                <a:solidFill>
                  <a:srgbClr val="EC4899"/>
                </a:solidFill>
                <a:latin typeface="Arial"/>
              </a:rPr>
              <a:t>PHASE 03  /  CHAMPION</a:t>
            </a:r>
          </a:p>
        </p:txBody>
      </p:sp>
      <p:sp>
        <p:nvSpPr>
          <p:cNvPr id="23" name="TextBox 22"/>
          <p:cNvSpPr txBox="1"/>
          <p:nvPr/>
        </p:nvSpPr>
        <p:spPr>
          <a:xfrm>
            <a:off x="8439912" y="1709928"/>
            <a:ext cx="2971800" cy="438912"/>
          </a:xfrm>
          <a:prstGeom prst="rect">
            <a:avLst/>
          </a:prstGeom>
          <a:noFill/>
        </p:spPr>
        <p:txBody>
          <a:bodyPr wrap="square" lIns="0" tIns="0" rIns="0" bIns="0" anchor="t">
            <a:spAutoFit/>
          </a:bodyPr>
          <a:lstStyle/>
          <a:p>
            <a:pPr algn="l">
              <a:spcBef>
                <a:spcPts val="0"/>
              </a:spcBef>
              <a:spcAft>
                <a:spcPts val="0"/>
              </a:spcAft>
            </a:pPr>
            <a:r>
              <a:rPr sz="1510" b="1" i="0">
                <a:solidFill>
                  <a:srgbClr val="1E293B"/>
                </a:solidFill>
                <a:latin typeface="Arial"/>
              </a:rPr>
              <a:t>MARBERTv2 Fine-Tuning</a:t>
            </a:r>
          </a:p>
        </p:txBody>
      </p:sp>
      <p:sp>
        <p:nvSpPr>
          <p:cNvPr id="24" name="TextBox 23"/>
          <p:cNvSpPr txBox="1"/>
          <p:nvPr/>
        </p:nvSpPr>
        <p:spPr>
          <a:xfrm>
            <a:off x="804672" y="2194560"/>
            <a:ext cx="2971800" cy="219456"/>
          </a:xfrm>
          <a:prstGeom prst="rect">
            <a:avLst/>
          </a:prstGeom>
          <a:noFill/>
        </p:spPr>
        <p:txBody>
          <a:bodyPr wrap="square" lIns="0" tIns="0" rIns="0" bIns="0" anchor="t">
            <a:spAutoFit/>
          </a:bodyPr>
          <a:lstStyle/>
          <a:p>
            <a:pPr algn="l">
              <a:spcBef>
                <a:spcPts val="0"/>
              </a:spcBef>
              <a:spcAft>
                <a:spcPts val="0"/>
              </a:spcAft>
            </a:pPr>
            <a:r>
              <a:rPr sz="880" b="1" i="0">
                <a:solidFill>
                  <a:srgbClr val="2563EB"/>
                </a:solidFill>
                <a:latin typeface="Arial"/>
              </a:rPr>
              <a:t>HYBRID TF-IDF  •  150,000 FEATURES</a:t>
            </a:r>
          </a:p>
        </p:txBody>
      </p:sp>
      <p:sp>
        <p:nvSpPr>
          <p:cNvPr id="25" name="TextBox 24"/>
          <p:cNvSpPr txBox="1"/>
          <p:nvPr/>
        </p:nvSpPr>
        <p:spPr>
          <a:xfrm>
            <a:off x="777240" y="2578608"/>
            <a:ext cx="3026664" cy="2560320"/>
          </a:xfrm>
          <a:prstGeom prst="rect">
            <a:avLst/>
          </a:prstGeom>
          <a:noFill/>
        </p:spPr>
        <p:txBody>
          <a:bodyPr wrap="square" lIns="54864" tIns="27432" rIns="36576" bIns="18288">
            <a:spAutoFit/>
          </a:bodyPr>
          <a:lstStyle/>
          <a:p>
            <a:pPr>
              <a:lnSpc>
                <a:spcPct val="105000"/>
              </a:lnSpc>
              <a:spcBef>
                <a:spcPts val="0"/>
              </a:spcBef>
              <a:spcAft>
                <a:spcPts val="900"/>
              </a:spcAft>
              <a:defRPr sz="1130">
                <a:solidFill>
                  <a:srgbClr val="1E293B"/>
                </a:solidFill>
                <a:latin typeface="Arial"/>
              </a:defRPr>
            </a:pPr>
            <a:r>
              <a:t>•  Word n-grams (1–3): 75k features for words and idioms.</a:t>
            </a:r>
          </a:p>
          <a:p>
            <a:pPr>
              <a:lnSpc>
                <a:spcPct val="105000"/>
              </a:lnSpc>
              <a:spcBef>
                <a:spcPts val="0"/>
              </a:spcBef>
              <a:spcAft>
                <a:spcPts val="900"/>
              </a:spcAft>
              <a:defRPr sz="1130">
                <a:solidFill>
                  <a:srgbClr val="1E293B"/>
                </a:solidFill>
                <a:latin typeface="Arial"/>
              </a:defRPr>
            </a:pPr>
            <a:r>
              <a:t>•  Character n-grams (2–5), char_wb: 75k features for subword patterns.</a:t>
            </a:r>
          </a:p>
          <a:p>
            <a:pPr>
              <a:lnSpc>
                <a:spcPct val="105000"/>
              </a:lnSpc>
              <a:spcBef>
                <a:spcPts val="0"/>
              </a:spcBef>
              <a:spcAft>
                <a:spcPts val="900"/>
              </a:spcAft>
              <a:defRPr sz="1130">
                <a:solidFill>
                  <a:srgbClr val="1E293B"/>
                </a:solidFill>
                <a:latin typeface="Arial"/>
              </a:defRPr>
            </a:pPr>
            <a:r>
              <a:t>•  LinearSVC, Logistic Regression, MultinomialNB, and SGD.</a:t>
            </a:r>
          </a:p>
          <a:p>
            <a:pPr>
              <a:lnSpc>
                <a:spcPct val="105000"/>
              </a:lnSpc>
              <a:spcBef>
                <a:spcPts val="0"/>
              </a:spcBef>
              <a:spcAft>
                <a:spcPts val="900"/>
              </a:spcAft>
              <a:defRPr sz="1130">
                <a:solidFill>
                  <a:srgbClr val="1E293B"/>
                </a:solidFill>
                <a:latin typeface="Arial"/>
              </a:defRPr>
            </a:pPr>
            <a:r>
              <a:t>•  5-fold StackingClassifier meta-learner.</a:t>
            </a:r>
          </a:p>
        </p:txBody>
      </p:sp>
      <p:sp>
        <p:nvSpPr>
          <p:cNvPr id="26" name="Rounded Rectangle 25"/>
          <p:cNvSpPr/>
          <p:nvPr/>
        </p:nvSpPr>
        <p:spPr>
          <a:xfrm>
            <a:off x="795528" y="5431536"/>
            <a:ext cx="2971800" cy="365760"/>
          </a:xfrm>
          <a:prstGeom prst="roundRect">
            <a:avLst/>
          </a:prstGeom>
          <a:solidFill>
            <a:srgbClr val="E0F2FE"/>
          </a:solidFill>
          <a:ln>
            <a:noFill/>
          </a:ln>
        </p:spPr>
        <p:txBody>
          <a:bodyPr rtlCol="0" anchor="ctr"/>
          <a:lstStyle/>
          <a:p>
            <a:pPr algn="ctr"/>
            <a:endParaRPr/>
          </a:p>
        </p:txBody>
      </p:sp>
      <p:sp>
        <p:nvSpPr>
          <p:cNvPr id="27" name="TextBox 26"/>
          <p:cNvSpPr txBox="1"/>
          <p:nvPr/>
        </p:nvSpPr>
        <p:spPr>
          <a:xfrm>
            <a:off x="877824" y="5541264"/>
            <a:ext cx="2807208" cy="146304"/>
          </a:xfrm>
          <a:prstGeom prst="rect">
            <a:avLst/>
          </a:prstGeom>
          <a:noFill/>
        </p:spPr>
        <p:txBody>
          <a:bodyPr wrap="square" lIns="0" tIns="0" rIns="0" bIns="0" anchor="t">
            <a:spAutoFit/>
          </a:bodyPr>
          <a:lstStyle/>
          <a:p>
            <a:pPr algn="ctr">
              <a:spcBef>
                <a:spcPts val="0"/>
              </a:spcBef>
              <a:spcAft>
                <a:spcPts val="0"/>
              </a:spcAft>
            </a:pPr>
            <a:r>
              <a:rPr sz="800" b="1" i="0">
                <a:solidFill>
                  <a:srgbClr val="2563EB"/>
                </a:solidFill>
                <a:latin typeface="Arial"/>
              </a:rPr>
              <a:t>STRONG CLASSICAL BASELINE</a:t>
            </a:r>
          </a:p>
        </p:txBody>
      </p:sp>
      <p:sp>
        <p:nvSpPr>
          <p:cNvPr id="28" name="TextBox 27"/>
          <p:cNvSpPr txBox="1"/>
          <p:nvPr/>
        </p:nvSpPr>
        <p:spPr>
          <a:xfrm>
            <a:off x="4626864" y="2194560"/>
            <a:ext cx="2962656" cy="347472"/>
          </a:xfrm>
          <a:prstGeom prst="rect">
            <a:avLst/>
          </a:prstGeom>
          <a:noFill/>
        </p:spPr>
        <p:txBody>
          <a:bodyPr wrap="square" lIns="0" tIns="0" rIns="0" bIns="0" anchor="t">
            <a:spAutoFit/>
          </a:bodyPr>
          <a:lstStyle/>
          <a:p>
            <a:pPr algn="l">
              <a:spcBef>
                <a:spcPts val="0"/>
              </a:spcBef>
              <a:spcAft>
                <a:spcPts val="0"/>
              </a:spcAft>
            </a:pPr>
            <a:r>
              <a:rPr sz="1030" b="1" i="0">
                <a:solidFill>
                  <a:srgbClr val="2563EB"/>
                </a:solidFill>
                <a:latin typeface="Arial"/>
              </a:rPr>
              <a:t>aubmindlab/bert-base-arabertv02</a:t>
            </a:r>
          </a:p>
        </p:txBody>
      </p:sp>
      <p:sp>
        <p:nvSpPr>
          <p:cNvPr id="29" name="Rounded Rectangle 28"/>
          <p:cNvSpPr/>
          <p:nvPr/>
        </p:nvSpPr>
        <p:spPr>
          <a:xfrm>
            <a:off x="4649724" y="2702052"/>
            <a:ext cx="1371600" cy="896112"/>
          </a:xfrm>
          <a:prstGeom prst="roundRect">
            <a:avLst/>
          </a:prstGeom>
          <a:solidFill>
            <a:srgbClr val="F1F5F9"/>
          </a:solidFill>
          <a:ln>
            <a:noFill/>
          </a:ln>
        </p:spPr>
        <p:txBody>
          <a:bodyPr rtlCol="0" anchor="ctr"/>
          <a:lstStyle/>
          <a:p>
            <a:pPr algn="ctr"/>
            <a:endParaRPr/>
          </a:p>
        </p:txBody>
      </p:sp>
      <p:sp>
        <p:nvSpPr>
          <p:cNvPr id="30" name="Rounded Rectangle 29"/>
          <p:cNvSpPr/>
          <p:nvPr/>
        </p:nvSpPr>
        <p:spPr>
          <a:xfrm>
            <a:off x="4626864" y="2670048"/>
            <a:ext cx="1371600" cy="896112"/>
          </a:xfrm>
          <a:prstGeom prst="roundRect">
            <a:avLst/>
          </a:prstGeom>
          <a:solidFill>
            <a:srgbClr val="FFFFFF"/>
          </a:solidFill>
          <a:ln w="10160">
            <a:solidFill>
              <a:srgbClr val="CBD5E1"/>
            </a:solidFill>
          </a:ln>
        </p:spPr>
        <p:txBody>
          <a:bodyPr rtlCol="0" anchor="ctr"/>
          <a:lstStyle/>
          <a:p>
            <a:pPr algn="ctr"/>
            <a:endParaRPr/>
          </a:p>
        </p:txBody>
      </p:sp>
      <p:sp>
        <p:nvSpPr>
          <p:cNvPr id="31" name="Rectangle 30"/>
          <p:cNvSpPr/>
          <p:nvPr/>
        </p:nvSpPr>
        <p:spPr>
          <a:xfrm>
            <a:off x="4626864" y="2670048"/>
            <a:ext cx="54864" cy="896112"/>
          </a:xfrm>
          <a:prstGeom prst="rect">
            <a:avLst/>
          </a:prstGeom>
          <a:solidFill>
            <a:srgbClr val="2563EB"/>
          </a:solidFill>
          <a:ln>
            <a:noFill/>
          </a:ln>
        </p:spPr>
        <p:txBody>
          <a:bodyPr rtlCol="0" anchor="ctr"/>
          <a:lstStyle/>
          <a:p>
            <a:pPr algn="ctr"/>
            <a:endParaRPr/>
          </a:p>
        </p:txBody>
      </p:sp>
      <p:sp>
        <p:nvSpPr>
          <p:cNvPr id="32" name="TextBox 31"/>
          <p:cNvSpPr txBox="1"/>
          <p:nvPr/>
        </p:nvSpPr>
        <p:spPr>
          <a:xfrm>
            <a:off x="4828032" y="2798064"/>
            <a:ext cx="1005840" cy="192024"/>
          </a:xfrm>
          <a:prstGeom prst="rect">
            <a:avLst/>
          </a:prstGeom>
          <a:noFill/>
        </p:spPr>
        <p:txBody>
          <a:bodyPr wrap="square" lIns="0" tIns="0" rIns="0" bIns="0" anchor="t">
            <a:spAutoFit/>
          </a:bodyPr>
          <a:lstStyle/>
          <a:p>
            <a:pPr algn="l">
              <a:spcBef>
                <a:spcPts val="0"/>
              </a:spcBef>
              <a:spcAft>
                <a:spcPts val="0"/>
              </a:spcAft>
            </a:pPr>
            <a:r>
              <a:rPr sz="850" b="1" i="0">
                <a:solidFill>
                  <a:srgbClr val="64748B"/>
                </a:solidFill>
                <a:latin typeface="Arial"/>
              </a:rPr>
              <a:t>PARAMETERS</a:t>
            </a:r>
          </a:p>
        </p:txBody>
      </p:sp>
      <p:sp>
        <p:nvSpPr>
          <p:cNvPr id="33" name="TextBox 32"/>
          <p:cNvSpPr txBox="1"/>
          <p:nvPr/>
        </p:nvSpPr>
        <p:spPr>
          <a:xfrm>
            <a:off x="4828032" y="2999232"/>
            <a:ext cx="1005840" cy="457200"/>
          </a:xfrm>
          <a:prstGeom prst="rect">
            <a:avLst/>
          </a:prstGeom>
          <a:noFill/>
        </p:spPr>
        <p:txBody>
          <a:bodyPr wrap="square" lIns="0" tIns="0" rIns="0" bIns="0" anchor="t">
            <a:spAutoFit/>
          </a:bodyPr>
          <a:lstStyle/>
          <a:p>
            <a:pPr algn="l">
              <a:spcBef>
                <a:spcPts val="0"/>
              </a:spcBef>
              <a:spcAft>
                <a:spcPts val="0"/>
              </a:spcAft>
            </a:pPr>
            <a:r>
              <a:rPr sz="2700" b="1" i="0">
                <a:solidFill>
                  <a:srgbClr val="2563EB"/>
                </a:solidFill>
                <a:latin typeface="Arial"/>
              </a:rPr>
              <a:t>136M</a:t>
            </a:r>
          </a:p>
        </p:txBody>
      </p:sp>
      <p:sp>
        <p:nvSpPr>
          <p:cNvPr id="34" name="Rounded Rectangle 33"/>
          <p:cNvSpPr/>
          <p:nvPr/>
        </p:nvSpPr>
        <p:spPr>
          <a:xfrm>
            <a:off x="6176772" y="2702052"/>
            <a:ext cx="1371600" cy="896112"/>
          </a:xfrm>
          <a:prstGeom prst="roundRect">
            <a:avLst/>
          </a:prstGeom>
          <a:solidFill>
            <a:srgbClr val="F1F5F9"/>
          </a:solidFill>
          <a:ln>
            <a:noFill/>
          </a:ln>
        </p:spPr>
        <p:txBody>
          <a:bodyPr rtlCol="0" anchor="ctr"/>
          <a:lstStyle/>
          <a:p>
            <a:pPr algn="ctr"/>
            <a:endParaRPr/>
          </a:p>
        </p:txBody>
      </p:sp>
      <p:sp>
        <p:nvSpPr>
          <p:cNvPr id="35" name="Rounded Rectangle 34"/>
          <p:cNvSpPr/>
          <p:nvPr/>
        </p:nvSpPr>
        <p:spPr>
          <a:xfrm>
            <a:off x="6153912" y="2670048"/>
            <a:ext cx="1371600" cy="896112"/>
          </a:xfrm>
          <a:prstGeom prst="roundRect">
            <a:avLst/>
          </a:prstGeom>
          <a:solidFill>
            <a:srgbClr val="FFFFFF"/>
          </a:solidFill>
          <a:ln w="10160">
            <a:solidFill>
              <a:srgbClr val="CBD5E1"/>
            </a:solidFill>
          </a:ln>
        </p:spPr>
        <p:txBody>
          <a:bodyPr rtlCol="0" anchor="ctr"/>
          <a:lstStyle/>
          <a:p>
            <a:pPr algn="ctr"/>
            <a:endParaRPr/>
          </a:p>
        </p:txBody>
      </p:sp>
      <p:sp>
        <p:nvSpPr>
          <p:cNvPr id="36" name="Rectangle 35"/>
          <p:cNvSpPr/>
          <p:nvPr/>
        </p:nvSpPr>
        <p:spPr>
          <a:xfrm>
            <a:off x="6153912" y="2670048"/>
            <a:ext cx="54864" cy="896112"/>
          </a:xfrm>
          <a:prstGeom prst="rect">
            <a:avLst/>
          </a:prstGeom>
          <a:solidFill>
            <a:srgbClr val="2563EB"/>
          </a:solidFill>
          <a:ln>
            <a:noFill/>
          </a:ln>
        </p:spPr>
        <p:txBody>
          <a:bodyPr rtlCol="0" anchor="ctr"/>
          <a:lstStyle/>
          <a:p>
            <a:pPr algn="ctr"/>
            <a:endParaRPr/>
          </a:p>
        </p:txBody>
      </p:sp>
      <p:sp>
        <p:nvSpPr>
          <p:cNvPr id="37" name="TextBox 36"/>
          <p:cNvSpPr txBox="1"/>
          <p:nvPr/>
        </p:nvSpPr>
        <p:spPr>
          <a:xfrm>
            <a:off x="6355080" y="2798064"/>
            <a:ext cx="1005840" cy="192024"/>
          </a:xfrm>
          <a:prstGeom prst="rect">
            <a:avLst/>
          </a:prstGeom>
          <a:noFill/>
        </p:spPr>
        <p:txBody>
          <a:bodyPr wrap="square" lIns="0" tIns="0" rIns="0" bIns="0" anchor="t">
            <a:spAutoFit/>
          </a:bodyPr>
          <a:lstStyle/>
          <a:p>
            <a:pPr algn="l">
              <a:spcBef>
                <a:spcPts val="0"/>
              </a:spcBef>
              <a:spcAft>
                <a:spcPts val="0"/>
              </a:spcAft>
            </a:pPr>
            <a:r>
              <a:rPr sz="850" b="1" i="0">
                <a:solidFill>
                  <a:srgbClr val="64748B"/>
                </a:solidFill>
                <a:latin typeface="Arial"/>
              </a:rPr>
              <a:t>EPOCHS</a:t>
            </a:r>
          </a:p>
        </p:txBody>
      </p:sp>
      <p:sp>
        <p:nvSpPr>
          <p:cNvPr id="38" name="TextBox 37"/>
          <p:cNvSpPr txBox="1"/>
          <p:nvPr/>
        </p:nvSpPr>
        <p:spPr>
          <a:xfrm>
            <a:off x="6355080" y="2999232"/>
            <a:ext cx="1005840" cy="457200"/>
          </a:xfrm>
          <a:prstGeom prst="rect">
            <a:avLst/>
          </a:prstGeom>
          <a:noFill/>
        </p:spPr>
        <p:txBody>
          <a:bodyPr wrap="square" lIns="0" tIns="0" rIns="0" bIns="0" anchor="t">
            <a:spAutoFit/>
          </a:bodyPr>
          <a:lstStyle/>
          <a:p>
            <a:pPr algn="l">
              <a:spcBef>
                <a:spcPts val="0"/>
              </a:spcBef>
              <a:spcAft>
                <a:spcPts val="0"/>
              </a:spcAft>
            </a:pPr>
            <a:r>
              <a:rPr sz="2700" b="1" i="0">
                <a:solidFill>
                  <a:srgbClr val="2563EB"/>
                </a:solidFill>
                <a:latin typeface="Arial"/>
              </a:rPr>
              <a:t>4</a:t>
            </a:r>
          </a:p>
        </p:txBody>
      </p:sp>
      <p:sp>
        <p:nvSpPr>
          <p:cNvPr id="39" name="TextBox 38"/>
          <p:cNvSpPr txBox="1"/>
          <p:nvPr/>
        </p:nvSpPr>
        <p:spPr>
          <a:xfrm>
            <a:off x="4608576" y="3794760"/>
            <a:ext cx="2999232" cy="1234440"/>
          </a:xfrm>
          <a:prstGeom prst="rect">
            <a:avLst/>
          </a:prstGeom>
          <a:noFill/>
        </p:spPr>
        <p:txBody>
          <a:bodyPr wrap="square" lIns="54864" tIns="27432" rIns="36576" bIns="18288">
            <a:spAutoFit/>
          </a:bodyPr>
          <a:lstStyle/>
          <a:p>
            <a:pPr>
              <a:lnSpc>
                <a:spcPct val="105000"/>
              </a:lnSpc>
              <a:spcBef>
                <a:spcPts val="0"/>
              </a:spcBef>
              <a:spcAft>
                <a:spcPts val="1200"/>
              </a:spcAft>
              <a:defRPr sz="1150">
                <a:solidFill>
                  <a:srgbClr val="1E293B"/>
                </a:solidFill>
                <a:latin typeface="Arial"/>
              </a:defRPr>
            </a:pPr>
            <a:r>
              <a:t>•  Pre-trained primarily on formal MSA news and encyclopedic text.</a:t>
            </a:r>
          </a:p>
          <a:p>
            <a:pPr>
              <a:lnSpc>
                <a:spcPct val="105000"/>
              </a:lnSpc>
              <a:spcBef>
                <a:spcPts val="0"/>
              </a:spcBef>
              <a:spcAft>
                <a:spcPts val="1200"/>
              </a:spcAft>
              <a:defRPr sz="1150">
                <a:solidFill>
                  <a:srgbClr val="1E293B"/>
                </a:solidFill>
                <a:latin typeface="Arial"/>
              </a:defRPr>
            </a:pPr>
            <a:r>
              <a:t>•  Learning rate: 3e-5  •  Batch size: 32.</a:t>
            </a:r>
          </a:p>
        </p:txBody>
      </p:sp>
      <p:sp>
        <p:nvSpPr>
          <p:cNvPr id="40" name="TextBox 39"/>
          <p:cNvSpPr txBox="1"/>
          <p:nvPr/>
        </p:nvSpPr>
        <p:spPr>
          <a:xfrm>
            <a:off x="4636008" y="5486400"/>
            <a:ext cx="2926080" cy="173736"/>
          </a:xfrm>
          <a:prstGeom prst="rect">
            <a:avLst/>
          </a:prstGeom>
          <a:noFill/>
        </p:spPr>
        <p:txBody>
          <a:bodyPr wrap="square" lIns="0" tIns="0" rIns="0" bIns="0" anchor="t">
            <a:spAutoFit/>
          </a:bodyPr>
          <a:lstStyle/>
          <a:p>
            <a:pPr algn="ctr">
              <a:spcBef>
                <a:spcPts val="0"/>
              </a:spcBef>
              <a:spcAft>
                <a:spcPts val="0"/>
              </a:spcAft>
            </a:pPr>
            <a:r>
              <a:rPr sz="810" b="1" i="0">
                <a:solidFill>
                  <a:srgbClr val="2563EB"/>
                </a:solidFill>
                <a:latin typeface="Arial"/>
              </a:rPr>
              <a:t>MSA-ORIENTED PRE-TRAINING</a:t>
            </a:r>
          </a:p>
        </p:txBody>
      </p:sp>
      <p:sp>
        <p:nvSpPr>
          <p:cNvPr id="41" name="Rounded Rectangle 40"/>
          <p:cNvSpPr/>
          <p:nvPr/>
        </p:nvSpPr>
        <p:spPr>
          <a:xfrm>
            <a:off x="8439912" y="2212848"/>
            <a:ext cx="2944368" cy="448056"/>
          </a:xfrm>
          <a:prstGeom prst="roundRect">
            <a:avLst/>
          </a:prstGeom>
          <a:solidFill>
            <a:srgbClr val="FCE7F3"/>
          </a:solidFill>
          <a:ln>
            <a:noFill/>
          </a:ln>
        </p:spPr>
        <p:txBody>
          <a:bodyPr rtlCol="0" anchor="ctr"/>
          <a:lstStyle/>
          <a:p>
            <a:pPr algn="ctr"/>
            <a:endParaRPr/>
          </a:p>
        </p:txBody>
      </p:sp>
      <p:sp>
        <p:nvSpPr>
          <p:cNvPr id="42" name="TextBox 41"/>
          <p:cNvSpPr txBox="1"/>
          <p:nvPr/>
        </p:nvSpPr>
        <p:spPr>
          <a:xfrm>
            <a:off x="8531352" y="2350008"/>
            <a:ext cx="2761488" cy="173736"/>
          </a:xfrm>
          <a:prstGeom prst="rect">
            <a:avLst/>
          </a:prstGeom>
          <a:noFill/>
        </p:spPr>
        <p:txBody>
          <a:bodyPr wrap="square" lIns="0" tIns="0" rIns="0" bIns="0" anchor="t">
            <a:spAutoFit/>
          </a:bodyPr>
          <a:lstStyle/>
          <a:p>
            <a:pPr algn="ctr">
              <a:spcBef>
                <a:spcPts val="0"/>
              </a:spcBef>
              <a:spcAft>
                <a:spcPts val="0"/>
              </a:spcAft>
            </a:pPr>
            <a:r>
              <a:rPr sz="1140" b="1" i="0">
                <a:solidFill>
                  <a:srgbClr val="EC4899"/>
                </a:solidFill>
                <a:latin typeface="Arial"/>
              </a:rPr>
              <a:t>UBC-NLP/MARBERTv2</a:t>
            </a:r>
          </a:p>
        </p:txBody>
      </p:sp>
      <p:sp>
        <p:nvSpPr>
          <p:cNvPr id="43" name="Rounded Rectangle 42"/>
          <p:cNvSpPr/>
          <p:nvPr/>
        </p:nvSpPr>
        <p:spPr>
          <a:xfrm>
            <a:off x="8462772" y="2866644"/>
            <a:ext cx="1371600" cy="896112"/>
          </a:xfrm>
          <a:prstGeom prst="roundRect">
            <a:avLst/>
          </a:prstGeom>
          <a:solidFill>
            <a:srgbClr val="F1F5F9"/>
          </a:solidFill>
          <a:ln>
            <a:noFill/>
          </a:ln>
        </p:spPr>
        <p:txBody>
          <a:bodyPr rtlCol="0" anchor="ctr"/>
          <a:lstStyle/>
          <a:p>
            <a:pPr algn="ctr"/>
            <a:endParaRPr/>
          </a:p>
        </p:txBody>
      </p:sp>
      <p:sp>
        <p:nvSpPr>
          <p:cNvPr id="44" name="Rounded Rectangle 43"/>
          <p:cNvSpPr/>
          <p:nvPr/>
        </p:nvSpPr>
        <p:spPr>
          <a:xfrm>
            <a:off x="8439912" y="2834640"/>
            <a:ext cx="1371600" cy="896112"/>
          </a:xfrm>
          <a:prstGeom prst="roundRect">
            <a:avLst/>
          </a:prstGeom>
          <a:solidFill>
            <a:srgbClr val="FFFFFF"/>
          </a:solidFill>
          <a:ln w="10160">
            <a:solidFill>
              <a:srgbClr val="CBD5E1"/>
            </a:solidFill>
          </a:ln>
        </p:spPr>
        <p:txBody>
          <a:bodyPr rtlCol="0" anchor="ctr"/>
          <a:lstStyle/>
          <a:p>
            <a:pPr algn="ctr"/>
            <a:endParaRPr/>
          </a:p>
        </p:txBody>
      </p:sp>
      <p:sp>
        <p:nvSpPr>
          <p:cNvPr id="45" name="Rectangle 44"/>
          <p:cNvSpPr/>
          <p:nvPr/>
        </p:nvSpPr>
        <p:spPr>
          <a:xfrm>
            <a:off x="8439912" y="2834640"/>
            <a:ext cx="54864" cy="896112"/>
          </a:xfrm>
          <a:prstGeom prst="rect">
            <a:avLst/>
          </a:prstGeom>
          <a:solidFill>
            <a:srgbClr val="EC4899"/>
          </a:solidFill>
          <a:ln>
            <a:noFill/>
          </a:ln>
        </p:spPr>
        <p:txBody>
          <a:bodyPr rtlCol="0" anchor="ctr"/>
          <a:lstStyle/>
          <a:p>
            <a:pPr algn="ctr"/>
            <a:endParaRPr/>
          </a:p>
        </p:txBody>
      </p:sp>
      <p:sp>
        <p:nvSpPr>
          <p:cNvPr id="46" name="TextBox 45"/>
          <p:cNvSpPr txBox="1"/>
          <p:nvPr/>
        </p:nvSpPr>
        <p:spPr>
          <a:xfrm>
            <a:off x="8641080" y="2962656"/>
            <a:ext cx="1005840" cy="192024"/>
          </a:xfrm>
          <a:prstGeom prst="rect">
            <a:avLst/>
          </a:prstGeom>
          <a:noFill/>
        </p:spPr>
        <p:txBody>
          <a:bodyPr wrap="square" lIns="0" tIns="0" rIns="0" bIns="0" anchor="t">
            <a:spAutoFit/>
          </a:bodyPr>
          <a:lstStyle/>
          <a:p>
            <a:pPr algn="l">
              <a:spcBef>
                <a:spcPts val="0"/>
              </a:spcBef>
              <a:spcAft>
                <a:spcPts val="0"/>
              </a:spcAft>
            </a:pPr>
            <a:r>
              <a:rPr sz="850" b="1" i="0">
                <a:solidFill>
                  <a:srgbClr val="64748B"/>
                </a:solidFill>
                <a:latin typeface="Arial"/>
              </a:rPr>
              <a:t>PARAMETERS</a:t>
            </a:r>
          </a:p>
        </p:txBody>
      </p:sp>
      <p:sp>
        <p:nvSpPr>
          <p:cNvPr id="47" name="TextBox 46"/>
          <p:cNvSpPr txBox="1"/>
          <p:nvPr/>
        </p:nvSpPr>
        <p:spPr>
          <a:xfrm>
            <a:off x="8641080" y="3163824"/>
            <a:ext cx="1005840" cy="457200"/>
          </a:xfrm>
          <a:prstGeom prst="rect">
            <a:avLst/>
          </a:prstGeom>
          <a:noFill/>
        </p:spPr>
        <p:txBody>
          <a:bodyPr wrap="square" lIns="0" tIns="0" rIns="0" bIns="0" anchor="t">
            <a:spAutoFit/>
          </a:bodyPr>
          <a:lstStyle/>
          <a:p>
            <a:pPr algn="l">
              <a:spcBef>
                <a:spcPts val="0"/>
              </a:spcBef>
              <a:spcAft>
                <a:spcPts val="0"/>
              </a:spcAft>
            </a:pPr>
            <a:r>
              <a:rPr sz="2700" b="1" i="0">
                <a:solidFill>
                  <a:srgbClr val="EC4899"/>
                </a:solidFill>
                <a:latin typeface="Arial"/>
              </a:rPr>
              <a:t>163M</a:t>
            </a:r>
          </a:p>
        </p:txBody>
      </p:sp>
      <p:sp>
        <p:nvSpPr>
          <p:cNvPr id="48" name="Rounded Rectangle 47"/>
          <p:cNvSpPr/>
          <p:nvPr/>
        </p:nvSpPr>
        <p:spPr>
          <a:xfrm>
            <a:off x="9989820" y="2866644"/>
            <a:ext cx="1371600" cy="896112"/>
          </a:xfrm>
          <a:prstGeom prst="roundRect">
            <a:avLst/>
          </a:prstGeom>
          <a:solidFill>
            <a:srgbClr val="F1F5F9"/>
          </a:solidFill>
          <a:ln>
            <a:noFill/>
          </a:ln>
        </p:spPr>
        <p:txBody>
          <a:bodyPr rtlCol="0" anchor="ctr"/>
          <a:lstStyle/>
          <a:p>
            <a:pPr algn="ctr"/>
            <a:endParaRPr/>
          </a:p>
        </p:txBody>
      </p:sp>
      <p:sp>
        <p:nvSpPr>
          <p:cNvPr id="49" name="Rounded Rectangle 48"/>
          <p:cNvSpPr/>
          <p:nvPr/>
        </p:nvSpPr>
        <p:spPr>
          <a:xfrm>
            <a:off x="9966960" y="2834640"/>
            <a:ext cx="1371600" cy="896112"/>
          </a:xfrm>
          <a:prstGeom prst="roundRect">
            <a:avLst/>
          </a:prstGeom>
          <a:solidFill>
            <a:srgbClr val="FFFFFF"/>
          </a:solidFill>
          <a:ln w="10160">
            <a:solidFill>
              <a:srgbClr val="CBD5E1"/>
            </a:solidFill>
          </a:ln>
        </p:spPr>
        <p:txBody>
          <a:bodyPr rtlCol="0" anchor="ctr"/>
          <a:lstStyle/>
          <a:p>
            <a:pPr algn="ctr"/>
            <a:endParaRPr/>
          </a:p>
        </p:txBody>
      </p:sp>
      <p:sp>
        <p:nvSpPr>
          <p:cNvPr id="50" name="Rectangle 49"/>
          <p:cNvSpPr/>
          <p:nvPr/>
        </p:nvSpPr>
        <p:spPr>
          <a:xfrm>
            <a:off x="9966960" y="2834640"/>
            <a:ext cx="54864" cy="896112"/>
          </a:xfrm>
          <a:prstGeom prst="rect">
            <a:avLst/>
          </a:prstGeom>
          <a:solidFill>
            <a:srgbClr val="EC4899"/>
          </a:solidFill>
          <a:ln>
            <a:noFill/>
          </a:ln>
        </p:spPr>
        <p:txBody>
          <a:bodyPr rtlCol="0" anchor="ctr"/>
          <a:lstStyle/>
          <a:p>
            <a:pPr algn="ctr"/>
            <a:endParaRPr/>
          </a:p>
        </p:txBody>
      </p:sp>
      <p:sp>
        <p:nvSpPr>
          <p:cNvPr id="51" name="TextBox 50"/>
          <p:cNvSpPr txBox="1"/>
          <p:nvPr/>
        </p:nvSpPr>
        <p:spPr>
          <a:xfrm>
            <a:off x="10168128" y="2962656"/>
            <a:ext cx="1005840" cy="192024"/>
          </a:xfrm>
          <a:prstGeom prst="rect">
            <a:avLst/>
          </a:prstGeom>
          <a:noFill/>
        </p:spPr>
        <p:txBody>
          <a:bodyPr wrap="square" lIns="0" tIns="0" rIns="0" bIns="0" anchor="t">
            <a:spAutoFit/>
          </a:bodyPr>
          <a:lstStyle/>
          <a:p>
            <a:pPr algn="l">
              <a:spcBef>
                <a:spcPts val="0"/>
              </a:spcBef>
              <a:spcAft>
                <a:spcPts val="0"/>
              </a:spcAft>
            </a:pPr>
            <a:r>
              <a:rPr sz="850" b="1" i="0">
                <a:solidFill>
                  <a:srgbClr val="64748B"/>
                </a:solidFill>
                <a:latin typeface="Arial"/>
              </a:rPr>
              <a:t>DIALECTAL TWEETS</a:t>
            </a:r>
          </a:p>
        </p:txBody>
      </p:sp>
      <p:sp>
        <p:nvSpPr>
          <p:cNvPr id="52" name="TextBox 51"/>
          <p:cNvSpPr txBox="1"/>
          <p:nvPr/>
        </p:nvSpPr>
        <p:spPr>
          <a:xfrm>
            <a:off x="10168128" y="3163824"/>
            <a:ext cx="1005840" cy="457200"/>
          </a:xfrm>
          <a:prstGeom prst="rect">
            <a:avLst/>
          </a:prstGeom>
          <a:noFill/>
        </p:spPr>
        <p:txBody>
          <a:bodyPr wrap="square" lIns="0" tIns="0" rIns="0" bIns="0" anchor="t">
            <a:spAutoFit/>
          </a:bodyPr>
          <a:lstStyle/>
          <a:p>
            <a:pPr algn="l">
              <a:spcBef>
                <a:spcPts val="0"/>
              </a:spcBef>
              <a:spcAft>
                <a:spcPts val="0"/>
              </a:spcAft>
            </a:pPr>
            <a:r>
              <a:rPr sz="2700" b="1" i="0">
                <a:solidFill>
                  <a:srgbClr val="EC4899"/>
                </a:solidFill>
                <a:latin typeface="Arial"/>
              </a:rPr>
              <a:t>1B</a:t>
            </a:r>
          </a:p>
        </p:txBody>
      </p:sp>
      <p:sp>
        <p:nvSpPr>
          <p:cNvPr id="53" name="TextBox 52"/>
          <p:cNvSpPr txBox="1"/>
          <p:nvPr/>
        </p:nvSpPr>
        <p:spPr>
          <a:xfrm>
            <a:off x="8421624" y="3968496"/>
            <a:ext cx="2999232" cy="1417320"/>
          </a:xfrm>
          <a:prstGeom prst="rect">
            <a:avLst/>
          </a:prstGeom>
          <a:noFill/>
        </p:spPr>
        <p:txBody>
          <a:bodyPr wrap="square" lIns="54864" tIns="27432" rIns="36576" bIns="18288">
            <a:spAutoFit/>
          </a:bodyPr>
          <a:lstStyle/>
          <a:p>
            <a:pPr>
              <a:lnSpc>
                <a:spcPct val="105000"/>
              </a:lnSpc>
              <a:spcBef>
                <a:spcPts val="0"/>
              </a:spcBef>
              <a:spcAft>
                <a:spcPts val="900"/>
              </a:spcAft>
              <a:defRPr sz="1140">
                <a:solidFill>
                  <a:srgbClr val="1E293B"/>
                </a:solidFill>
                <a:latin typeface="Arial"/>
              </a:defRPr>
            </a:pPr>
            <a:r>
              <a:t>•  Pre-trained on 1 billion dialectal Arabic tweets plus MSA data.</a:t>
            </a:r>
          </a:p>
          <a:p>
            <a:pPr>
              <a:lnSpc>
                <a:spcPct val="105000"/>
              </a:lnSpc>
              <a:spcBef>
                <a:spcPts val="0"/>
              </a:spcBef>
              <a:spcAft>
                <a:spcPts val="900"/>
              </a:spcAft>
              <a:defRPr sz="1140">
                <a:solidFill>
                  <a:srgbClr val="1E293B"/>
                </a:solidFill>
                <a:latin typeface="Arial"/>
              </a:defRPr>
            </a:pPr>
            <a:r>
              <a:t>•  100k dialect-aware WordPiece vocabulary.</a:t>
            </a:r>
          </a:p>
          <a:p>
            <a:pPr>
              <a:lnSpc>
                <a:spcPct val="105000"/>
              </a:lnSpc>
              <a:spcBef>
                <a:spcPts val="0"/>
              </a:spcBef>
              <a:spcAft>
                <a:spcPts val="900"/>
              </a:spcAft>
              <a:defRPr sz="1140">
                <a:solidFill>
                  <a:srgbClr val="1E293B"/>
                </a:solidFill>
                <a:latin typeface="Arial"/>
              </a:defRPr>
            </a:pPr>
            <a:r>
              <a:t>•  Selected as the champion model for unseen-test performance.</a:t>
            </a:r>
          </a:p>
        </p:txBody>
      </p:sp>
      <p:sp>
        <p:nvSpPr>
          <p:cNvPr id="54" name="TextBox 53"/>
          <p:cNvSpPr txBox="1"/>
          <p:nvPr/>
        </p:nvSpPr>
        <p:spPr>
          <a:xfrm>
            <a:off x="8449056" y="5596128"/>
            <a:ext cx="2926080" cy="173736"/>
          </a:xfrm>
          <a:prstGeom prst="rect">
            <a:avLst/>
          </a:prstGeom>
          <a:noFill/>
        </p:spPr>
        <p:txBody>
          <a:bodyPr wrap="square" lIns="0" tIns="0" rIns="0" bIns="0" anchor="t">
            <a:spAutoFit/>
          </a:bodyPr>
          <a:lstStyle/>
          <a:p>
            <a:pPr algn="ctr">
              <a:spcBef>
                <a:spcPts val="0"/>
              </a:spcBef>
              <a:spcAft>
                <a:spcPts val="0"/>
              </a:spcAft>
            </a:pPr>
            <a:r>
              <a:rPr sz="810" b="1" i="0">
                <a:solidFill>
                  <a:srgbClr val="EC4899"/>
                </a:solidFill>
                <a:latin typeface="Arial"/>
              </a:rPr>
              <a:t>DIALECT-AWARE PRE-TRAINING</a:t>
            </a:r>
          </a:p>
        </p:txBody>
      </p:sp>
      <p:cxnSp>
        <p:nvCxnSpPr>
          <p:cNvPr id="55" name="Connector 54"/>
          <p:cNvCxnSpPr/>
          <p:nvPr/>
        </p:nvCxnSpPr>
        <p:spPr>
          <a:xfrm>
            <a:off x="4087368" y="1755648"/>
            <a:ext cx="201168" cy="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56" name="Chevron 55"/>
          <p:cNvSpPr/>
          <p:nvPr/>
        </p:nvSpPr>
        <p:spPr>
          <a:xfrm>
            <a:off x="4233672" y="1673352"/>
            <a:ext cx="146304" cy="164592"/>
          </a:xfrm>
          <a:prstGeom prst="chevron">
            <a:avLst/>
          </a:prstGeom>
          <a:solidFill>
            <a:srgbClr val="64748B"/>
          </a:solidFill>
          <a:ln>
            <a:noFill/>
          </a:ln>
        </p:spPr>
        <p:txBody>
          <a:bodyPr rtlCol="0" anchor="ctr"/>
          <a:lstStyle/>
          <a:p>
            <a:pPr algn="ctr"/>
            <a:endParaRPr/>
          </a:p>
        </p:txBody>
      </p:sp>
      <p:cxnSp>
        <p:nvCxnSpPr>
          <p:cNvPr id="57" name="Connector 56"/>
          <p:cNvCxnSpPr/>
          <p:nvPr/>
        </p:nvCxnSpPr>
        <p:spPr>
          <a:xfrm>
            <a:off x="7900416" y="1755648"/>
            <a:ext cx="201168" cy="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58" name="Chevron 57"/>
          <p:cNvSpPr/>
          <p:nvPr/>
        </p:nvSpPr>
        <p:spPr>
          <a:xfrm>
            <a:off x="8046720" y="1673352"/>
            <a:ext cx="146304" cy="164592"/>
          </a:xfrm>
          <a:prstGeom prst="chevron">
            <a:avLst/>
          </a:prstGeom>
          <a:solidFill>
            <a:srgbClr val="64748B"/>
          </a:solidFill>
          <a:ln>
            <a:noFill/>
          </a:ln>
        </p:spPr>
        <p:txBody>
          <a:bodyPr rtlCol="0" anchor="ctr"/>
          <a:lstStyle/>
          <a:p>
            <a:pPr algn="ctr"/>
            <a:endParaRPr/>
          </a:p>
        </p:txBody>
      </p:sp>
      <p:cxnSp>
        <p:nvCxnSpPr>
          <p:cNvPr id="59" name="Connector 58"/>
          <p:cNvCxnSpPr/>
          <p:nvPr/>
        </p:nvCxnSpPr>
        <p:spPr>
          <a:xfrm>
            <a:off x="594360" y="6473952"/>
            <a:ext cx="11000232" cy="0"/>
          </a:xfrm>
          <a:prstGeom prst="line">
            <a:avLst/>
          </a:prstGeom>
          <a:ln w="8890">
            <a:solidFill>
              <a:srgbClr val="CBD5E1"/>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603504" y="6547104"/>
            <a:ext cx="4572000" cy="164592"/>
          </a:xfrm>
          <a:prstGeom prst="rect">
            <a:avLst/>
          </a:prstGeom>
          <a:noFill/>
        </p:spPr>
        <p:txBody>
          <a:bodyPr wrap="square" lIns="0" tIns="0" rIns="0" bIns="0" anchor="t">
            <a:spAutoFit/>
          </a:bodyPr>
          <a:lstStyle/>
          <a:p>
            <a:pPr algn="l">
              <a:spcBef>
                <a:spcPts val="0"/>
              </a:spcBef>
              <a:spcAft>
                <a:spcPts val="0"/>
              </a:spcAft>
            </a:pPr>
            <a:r>
              <a:rPr sz="800" b="1" i="0">
                <a:solidFill>
                  <a:srgbClr val="64748B"/>
                </a:solidFill>
                <a:latin typeface="Arial"/>
              </a:rPr>
              <a:t>ARABIC DIALECT CLASSIFICATION</a:t>
            </a:r>
          </a:p>
        </p:txBody>
      </p:sp>
      <p:sp>
        <p:nvSpPr>
          <p:cNvPr id="61" name="TextBox 60"/>
          <p:cNvSpPr txBox="1"/>
          <p:nvPr/>
        </p:nvSpPr>
        <p:spPr>
          <a:xfrm>
            <a:off x="10652760" y="6528816"/>
            <a:ext cx="914400" cy="182880"/>
          </a:xfrm>
          <a:prstGeom prst="rect">
            <a:avLst/>
          </a:prstGeom>
          <a:noFill/>
        </p:spPr>
        <p:txBody>
          <a:bodyPr wrap="square" lIns="0" tIns="0" rIns="0" bIns="0" anchor="t">
            <a:spAutoFit/>
          </a:bodyPr>
          <a:lstStyle/>
          <a:p>
            <a:pPr algn="r">
              <a:spcBef>
                <a:spcPts val="0"/>
              </a:spcBef>
              <a:spcAft>
                <a:spcPts val="0"/>
              </a:spcAft>
            </a:pPr>
            <a:r>
              <a:rPr sz="850" b="1" i="0">
                <a:solidFill>
                  <a:srgbClr val="64748B"/>
                </a:solidFill>
                <a:latin typeface="Arial"/>
              </a:rPr>
              <a:t>05  /  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F172A"/>
          </a:solidFill>
          <a:ln>
            <a:noFill/>
          </a:ln>
        </p:spPr>
        <p:txBody>
          <a:bodyPr rtlCol="0" anchor="ctr"/>
          <a:lstStyle/>
          <a:p>
            <a:pPr algn="ctr"/>
            <a:endParaRPr/>
          </a:p>
        </p:txBody>
      </p:sp>
      <p:sp>
        <p:nvSpPr>
          <p:cNvPr id="3" name="Rectangle 2"/>
          <p:cNvSpPr/>
          <p:nvPr/>
        </p:nvSpPr>
        <p:spPr>
          <a:xfrm>
            <a:off x="0" y="0"/>
            <a:ext cx="2011680" cy="128016"/>
          </a:xfrm>
          <a:prstGeom prst="rect">
            <a:avLst/>
          </a:prstGeom>
          <a:solidFill>
            <a:srgbClr val="38BDF8"/>
          </a:solidFill>
          <a:ln>
            <a:noFill/>
          </a:ln>
        </p:spPr>
        <p:txBody>
          <a:bodyPr rtlCol="0" anchor="ctr"/>
          <a:lstStyle/>
          <a:p>
            <a:pPr algn="ctr"/>
            <a:endParaRPr/>
          </a:p>
        </p:txBody>
      </p:sp>
      <p:sp>
        <p:nvSpPr>
          <p:cNvPr id="4" name="TextBox 3"/>
          <p:cNvSpPr txBox="1"/>
          <p:nvPr/>
        </p:nvSpPr>
        <p:spPr>
          <a:xfrm>
            <a:off x="603504" y="274320"/>
            <a:ext cx="2743200" cy="201168"/>
          </a:xfrm>
          <a:prstGeom prst="rect">
            <a:avLst/>
          </a:prstGeom>
          <a:noFill/>
        </p:spPr>
        <p:txBody>
          <a:bodyPr wrap="square" lIns="0" tIns="0" rIns="0" bIns="0" anchor="t">
            <a:spAutoFit/>
          </a:bodyPr>
          <a:lstStyle/>
          <a:p>
            <a:pPr algn="l">
              <a:spcBef>
                <a:spcPts val="0"/>
              </a:spcBef>
              <a:spcAft>
                <a:spcPts val="0"/>
              </a:spcAft>
            </a:pPr>
            <a:r>
              <a:rPr sz="850" b="1" i="0">
                <a:solidFill>
                  <a:srgbClr val="2563EB"/>
                </a:solidFill>
                <a:latin typeface="Arial"/>
              </a:rPr>
              <a:t>TRAINING STRATEGY</a:t>
            </a:r>
          </a:p>
        </p:txBody>
      </p:sp>
      <p:sp>
        <p:nvSpPr>
          <p:cNvPr id="5" name="TextBox 4"/>
          <p:cNvSpPr txBox="1"/>
          <p:nvPr/>
        </p:nvSpPr>
        <p:spPr>
          <a:xfrm>
            <a:off x="594360" y="521207"/>
            <a:ext cx="10972800" cy="530352"/>
          </a:xfrm>
          <a:prstGeom prst="rect">
            <a:avLst/>
          </a:prstGeom>
          <a:noFill/>
        </p:spPr>
        <p:txBody>
          <a:bodyPr wrap="square" lIns="0" tIns="0" rIns="0" bIns="0" anchor="t">
            <a:spAutoFit/>
          </a:bodyPr>
          <a:lstStyle/>
          <a:p>
            <a:pPr algn="l">
              <a:spcBef>
                <a:spcPts val="0"/>
              </a:spcBef>
              <a:spcAft>
                <a:spcPts val="0"/>
              </a:spcAft>
            </a:pPr>
            <a:r>
              <a:rPr sz="2800" b="1" i="0">
                <a:solidFill>
                  <a:srgbClr val="0F172A"/>
                </a:solidFill>
                <a:latin typeface="Arial"/>
              </a:rPr>
              <a:t>Anti-Overfitting &amp; Regularization Strategy in MARBERTv2</a:t>
            </a:r>
          </a:p>
        </p:txBody>
      </p:sp>
      <p:sp>
        <p:nvSpPr>
          <p:cNvPr id="6" name="Oval 5"/>
          <p:cNvSpPr/>
          <p:nvPr/>
        </p:nvSpPr>
        <p:spPr>
          <a:xfrm>
            <a:off x="11411712" y="347472"/>
            <a:ext cx="164592" cy="164592"/>
          </a:xfrm>
          <a:prstGeom prst="ellipse">
            <a:avLst/>
          </a:prstGeom>
          <a:solidFill>
            <a:srgbClr val="38BDF8"/>
          </a:solidFill>
          <a:ln>
            <a:noFill/>
          </a:ln>
        </p:spPr>
        <p:txBody>
          <a:bodyPr rtlCol="0" anchor="ctr"/>
          <a:lstStyle/>
          <a:p>
            <a:pPr algn="ctr"/>
            <a:endParaRPr/>
          </a:p>
        </p:txBody>
      </p:sp>
      <p:sp>
        <p:nvSpPr>
          <p:cNvPr id="7" name="Oval 6"/>
          <p:cNvSpPr/>
          <p:nvPr/>
        </p:nvSpPr>
        <p:spPr>
          <a:xfrm>
            <a:off x="11612880" y="347472"/>
            <a:ext cx="164592" cy="164592"/>
          </a:xfrm>
          <a:prstGeom prst="ellipse">
            <a:avLst/>
          </a:prstGeom>
          <a:solidFill>
            <a:srgbClr val="EC4899"/>
          </a:solidFill>
          <a:ln>
            <a:noFill/>
          </a:ln>
        </p:spPr>
        <p:txBody>
          <a:bodyPr rtlCol="0" anchor="ctr"/>
          <a:lstStyle/>
          <a:p>
            <a:pPr algn="ctr"/>
            <a:endParaRPr/>
          </a:p>
        </p:txBody>
      </p:sp>
      <p:sp>
        <p:nvSpPr>
          <p:cNvPr id="8" name="Oval 7"/>
          <p:cNvSpPr/>
          <p:nvPr/>
        </p:nvSpPr>
        <p:spPr>
          <a:xfrm>
            <a:off x="11814048" y="347472"/>
            <a:ext cx="164592" cy="164592"/>
          </a:xfrm>
          <a:prstGeom prst="ellipse">
            <a:avLst/>
          </a:prstGeom>
          <a:solidFill>
            <a:srgbClr val="2563EB"/>
          </a:solidFill>
          <a:ln>
            <a:noFill/>
          </a:ln>
        </p:spPr>
        <p:txBody>
          <a:bodyPr rtlCol="0" anchor="ctr"/>
          <a:lstStyle/>
          <a:p>
            <a:pPr algn="ctr"/>
            <a:endParaRPr/>
          </a:p>
        </p:txBody>
      </p:sp>
      <p:sp>
        <p:nvSpPr>
          <p:cNvPr id="9" name="Rounded Rectangle 8"/>
          <p:cNvSpPr/>
          <p:nvPr/>
        </p:nvSpPr>
        <p:spPr>
          <a:xfrm>
            <a:off x="626364" y="1412748"/>
            <a:ext cx="5394960" cy="4727448"/>
          </a:xfrm>
          <a:prstGeom prst="roundRect">
            <a:avLst/>
          </a:prstGeom>
          <a:solidFill>
            <a:srgbClr val="F1F5F9"/>
          </a:solidFill>
          <a:ln>
            <a:noFill/>
          </a:ln>
        </p:spPr>
        <p:txBody>
          <a:bodyPr rtlCol="0" anchor="ctr"/>
          <a:lstStyle/>
          <a:p>
            <a:pPr algn="ctr"/>
            <a:endParaRPr/>
          </a:p>
        </p:txBody>
      </p:sp>
      <p:sp>
        <p:nvSpPr>
          <p:cNvPr id="10" name="Rounded Rectangle 9"/>
          <p:cNvSpPr/>
          <p:nvPr/>
        </p:nvSpPr>
        <p:spPr>
          <a:xfrm>
            <a:off x="594360" y="1371600"/>
            <a:ext cx="5394960" cy="4727448"/>
          </a:xfrm>
          <a:prstGeom prst="roundRect">
            <a:avLst/>
          </a:prstGeom>
          <a:solidFill>
            <a:srgbClr val="FFFFFF"/>
          </a:solidFill>
          <a:ln w="10160">
            <a:solidFill>
              <a:srgbClr val="CBD5E1"/>
            </a:solidFill>
          </a:ln>
        </p:spPr>
        <p:txBody>
          <a:bodyPr rtlCol="0" anchor="ctr"/>
          <a:lstStyle/>
          <a:p>
            <a:pPr algn="ctr"/>
            <a:endParaRPr/>
          </a:p>
        </p:txBody>
      </p:sp>
      <p:sp>
        <p:nvSpPr>
          <p:cNvPr id="11" name="Rectangle 10"/>
          <p:cNvSpPr/>
          <p:nvPr/>
        </p:nvSpPr>
        <p:spPr>
          <a:xfrm>
            <a:off x="594360" y="1389888"/>
            <a:ext cx="50292" cy="4690872"/>
          </a:xfrm>
          <a:prstGeom prst="rect">
            <a:avLst/>
          </a:prstGeom>
          <a:solidFill>
            <a:srgbClr val="EC4899"/>
          </a:solidFill>
          <a:ln>
            <a:noFill/>
          </a:ln>
        </p:spPr>
        <p:txBody>
          <a:bodyPr rtlCol="0" anchor="ctr"/>
          <a:lstStyle/>
          <a:p>
            <a:pPr algn="ctr"/>
            <a:endParaRPr/>
          </a:p>
        </p:txBody>
      </p:sp>
      <p:sp>
        <p:nvSpPr>
          <p:cNvPr id="12" name="TextBox 11"/>
          <p:cNvSpPr txBox="1"/>
          <p:nvPr/>
        </p:nvSpPr>
        <p:spPr>
          <a:xfrm>
            <a:off x="813816" y="1572768"/>
            <a:ext cx="4983480" cy="438912"/>
          </a:xfrm>
          <a:prstGeom prst="rect">
            <a:avLst/>
          </a:prstGeom>
          <a:noFill/>
        </p:spPr>
        <p:txBody>
          <a:bodyPr wrap="square" lIns="0" tIns="0" rIns="0" bIns="0" anchor="t">
            <a:spAutoFit/>
          </a:bodyPr>
          <a:lstStyle/>
          <a:p>
            <a:pPr algn="l">
              <a:spcBef>
                <a:spcPts val="0"/>
              </a:spcBef>
              <a:spcAft>
                <a:spcPts val="0"/>
              </a:spcAft>
            </a:pPr>
            <a:r>
              <a:rPr sz="1700" b="1" i="0">
                <a:solidFill>
                  <a:srgbClr val="1E293B"/>
                </a:solidFill>
                <a:latin typeface="Arial"/>
              </a:rPr>
              <a:t>The Challenge  /  AraBERTv02</a:t>
            </a:r>
          </a:p>
        </p:txBody>
      </p:sp>
      <p:sp>
        <p:nvSpPr>
          <p:cNvPr id="13" name="TextBox 12"/>
          <p:cNvSpPr txBox="1"/>
          <p:nvPr/>
        </p:nvSpPr>
        <p:spPr>
          <a:xfrm>
            <a:off x="859536" y="2039112"/>
            <a:ext cx="4754880" cy="219456"/>
          </a:xfrm>
          <a:prstGeom prst="rect">
            <a:avLst/>
          </a:prstGeom>
          <a:noFill/>
        </p:spPr>
        <p:txBody>
          <a:bodyPr wrap="square" lIns="0" tIns="0" rIns="0" bIns="0" anchor="t">
            <a:spAutoFit/>
          </a:bodyPr>
          <a:lstStyle/>
          <a:p>
            <a:pPr algn="l">
              <a:spcBef>
                <a:spcPts val="0"/>
              </a:spcBef>
              <a:spcAft>
                <a:spcPts val="0"/>
              </a:spcAft>
            </a:pPr>
            <a:r>
              <a:rPr sz="900" b="1" i="0">
                <a:solidFill>
                  <a:srgbClr val="EC4899"/>
                </a:solidFill>
                <a:latin typeface="Arial"/>
              </a:rPr>
              <a:t>VALIDATION LOSS ROSE AFTER EPOCH 2</a:t>
            </a:r>
          </a:p>
        </p:txBody>
      </p:sp>
      <p:cxnSp>
        <p:nvCxnSpPr>
          <p:cNvPr id="14" name="Connector 13"/>
          <p:cNvCxnSpPr/>
          <p:nvPr/>
        </p:nvCxnSpPr>
        <p:spPr>
          <a:xfrm>
            <a:off x="969264" y="3520440"/>
            <a:ext cx="4434840" cy="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69264" y="2514600"/>
            <a:ext cx="0" cy="100584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655064" y="2980944"/>
            <a:ext cx="1527048" cy="192024"/>
          </a:xfrm>
          <a:prstGeom prst="line">
            <a:avLst/>
          </a:prstGeom>
          <a:ln w="30480">
            <a:solidFill>
              <a:srgbClr val="EC489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182112" y="2697480"/>
            <a:ext cx="1536192" cy="283464"/>
          </a:xfrm>
          <a:prstGeom prst="line">
            <a:avLst/>
          </a:prstGeom>
          <a:ln w="30480">
            <a:solidFill>
              <a:srgbClr val="EC4899"/>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600200" y="3118103"/>
            <a:ext cx="109728" cy="109728"/>
          </a:xfrm>
          <a:prstGeom prst="ellipse">
            <a:avLst/>
          </a:prstGeom>
          <a:solidFill>
            <a:srgbClr val="EC4899"/>
          </a:solidFill>
          <a:ln>
            <a:noFill/>
          </a:ln>
        </p:spPr>
        <p:txBody>
          <a:bodyPr rtlCol="0" anchor="ctr"/>
          <a:lstStyle/>
          <a:p>
            <a:pPr algn="ctr"/>
            <a:endParaRPr/>
          </a:p>
        </p:txBody>
      </p:sp>
      <p:sp>
        <p:nvSpPr>
          <p:cNvPr id="19" name="TextBox 18"/>
          <p:cNvSpPr txBox="1"/>
          <p:nvPr/>
        </p:nvSpPr>
        <p:spPr>
          <a:xfrm>
            <a:off x="1325880" y="2889503"/>
            <a:ext cx="658368" cy="164592"/>
          </a:xfrm>
          <a:prstGeom prst="rect">
            <a:avLst/>
          </a:prstGeom>
          <a:noFill/>
        </p:spPr>
        <p:txBody>
          <a:bodyPr wrap="square" lIns="0" tIns="0" rIns="0" bIns="0" anchor="t">
            <a:spAutoFit/>
          </a:bodyPr>
          <a:lstStyle/>
          <a:p>
            <a:pPr algn="ctr">
              <a:spcBef>
                <a:spcPts val="0"/>
              </a:spcBef>
              <a:spcAft>
                <a:spcPts val="0"/>
              </a:spcAft>
            </a:pPr>
            <a:r>
              <a:rPr sz="900" b="1" i="0">
                <a:solidFill>
                  <a:srgbClr val="EC4899"/>
                </a:solidFill>
                <a:latin typeface="Arial"/>
              </a:rPr>
              <a:t>0.264</a:t>
            </a:r>
          </a:p>
        </p:txBody>
      </p:sp>
      <p:sp>
        <p:nvSpPr>
          <p:cNvPr id="20" name="Oval 19"/>
          <p:cNvSpPr/>
          <p:nvPr/>
        </p:nvSpPr>
        <p:spPr>
          <a:xfrm>
            <a:off x="3127248" y="2926079"/>
            <a:ext cx="109728" cy="109728"/>
          </a:xfrm>
          <a:prstGeom prst="ellipse">
            <a:avLst/>
          </a:prstGeom>
          <a:solidFill>
            <a:srgbClr val="EC4899"/>
          </a:solidFill>
          <a:ln>
            <a:noFill/>
          </a:ln>
        </p:spPr>
        <p:txBody>
          <a:bodyPr rtlCol="0" anchor="ctr"/>
          <a:lstStyle/>
          <a:p>
            <a:pPr algn="ctr"/>
            <a:endParaRPr/>
          </a:p>
        </p:txBody>
      </p:sp>
      <p:sp>
        <p:nvSpPr>
          <p:cNvPr id="21" name="TextBox 20"/>
          <p:cNvSpPr txBox="1"/>
          <p:nvPr/>
        </p:nvSpPr>
        <p:spPr>
          <a:xfrm>
            <a:off x="2852928" y="2697479"/>
            <a:ext cx="658368" cy="164592"/>
          </a:xfrm>
          <a:prstGeom prst="rect">
            <a:avLst/>
          </a:prstGeom>
          <a:noFill/>
        </p:spPr>
        <p:txBody>
          <a:bodyPr wrap="square" lIns="0" tIns="0" rIns="0" bIns="0" anchor="t">
            <a:spAutoFit/>
          </a:bodyPr>
          <a:lstStyle/>
          <a:p>
            <a:pPr algn="ctr">
              <a:spcBef>
                <a:spcPts val="0"/>
              </a:spcBef>
              <a:spcAft>
                <a:spcPts val="0"/>
              </a:spcAft>
            </a:pPr>
            <a:r>
              <a:rPr sz="900" b="1" i="0">
                <a:solidFill>
                  <a:srgbClr val="EC4899"/>
                </a:solidFill>
                <a:latin typeface="Arial"/>
              </a:rPr>
              <a:t>0.305</a:t>
            </a:r>
          </a:p>
        </p:txBody>
      </p:sp>
      <p:sp>
        <p:nvSpPr>
          <p:cNvPr id="22" name="Oval 21"/>
          <p:cNvSpPr/>
          <p:nvPr/>
        </p:nvSpPr>
        <p:spPr>
          <a:xfrm>
            <a:off x="4663440" y="2642616"/>
            <a:ext cx="109728" cy="109728"/>
          </a:xfrm>
          <a:prstGeom prst="ellipse">
            <a:avLst/>
          </a:prstGeom>
          <a:solidFill>
            <a:srgbClr val="EC4899"/>
          </a:solidFill>
          <a:ln>
            <a:noFill/>
          </a:ln>
        </p:spPr>
        <p:txBody>
          <a:bodyPr rtlCol="0" anchor="ctr"/>
          <a:lstStyle/>
          <a:p>
            <a:pPr algn="ctr"/>
            <a:endParaRPr/>
          </a:p>
        </p:txBody>
      </p:sp>
      <p:sp>
        <p:nvSpPr>
          <p:cNvPr id="23" name="TextBox 22"/>
          <p:cNvSpPr txBox="1"/>
          <p:nvPr/>
        </p:nvSpPr>
        <p:spPr>
          <a:xfrm>
            <a:off x="4389120" y="2414016"/>
            <a:ext cx="658368" cy="164592"/>
          </a:xfrm>
          <a:prstGeom prst="rect">
            <a:avLst/>
          </a:prstGeom>
          <a:noFill/>
        </p:spPr>
        <p:txBody>
          <a:bodyPr wrap="square" lIns="0" tIns="0" rIns="0" bIns="0" anchor="t">
            <a:spAutoFit/>
          </a:bodyPr>
          <a:lstStyle/>
          <a:p>
            <a:pPr algn="ctr">
              <a:spcBef>
                <a:spcPts val="0"/>
              </a:spcBef>
              <a:spcAft>
                <a:spcPts val="0"/>
              </a:spcAft>
            </a:pPr>
            <a:r>
              <a:rPr sz="900" b="1" i="0">
                <a:solidFill>
                  <a:srgbClr val="EC4899"/>
                </a:solidFill>
                <a:latin typeface="Arial"/>
              </a:rPr>
              <a:t>0.371</a:t>
            </a:r>
          </a:p>
        </p:txBody>
      </p:sp>
      <p:sp>
        <p:nvSpPr>
          <p:cNvPr id="24" name="TextBox 23"/>
          <p:cNvSpPr txBox="1"/>
          <p:nvPr/>
        </p:nvSpPr>
        <p:spPr>
          <a:xfrm>
            <a:off x="1289304" y="3611880"/>
            <a:ext cx="731520" cy="164592"/>
          </a:xfrm>
          <a:prstGeom prst="rect">
            <a:avLst/>
          </a:prstGeom>
          <a:noFill/>
        </p:spPr>
        <p:txBody>
          <a:bodyPr wrap="square" lIns="0" tIns="0" rIns="0" bIns="0" anchor="t">
            <a:spAutoFit/>
          </a:bodyPr>
          <a:lstStyle/>
          <a:p>
            <a:pPr algn="ctr">
              <a:spcBef>
                <a:spcPts val="0"/>
              </a:spcBef>
              <a:spcAft>
                <a:spcPts val="0"/>
              </a:spcAft>
            </a:pPr>
            <a:r>
              <a:rPr sz="860" b="0" i="0">
                <a:solidFill>
                  <a:srgbClr val="64748B"/>
                </a:solidFill>
                <a:latin typeface="Arial"/>
              </a:rPr>
              <a:t>Epoch 2</a:t>
            </a:r>
          </a:p>
        </p:txBody>
      </p:sp>
      <p:sp>
        <p:nvSpPr>
          <p:cNvPr id="25" name="TextBox 24"/>
          <p:cNvSpPr txBox="1"/>
          <p:nvPr/>
        </p:nvSpPr>
        <p:spPr>
          <a:xfrm>
            <a:off x="2816352" y="3611880"/>
            <a:ext cx="731520" cy="164592"/>
          </a:xfrm>
          <a:prstGeom prst="rect">
            <a:avLst/>
          </a:prstGeom>
          <a:noFill/>
        </p:spPr>
        <p:txBody>
          <a:bodyPr wrap="square" lIns="0" tIns="0" rIns="0" bIns="0" anchor="t">
            <a:spAutoFit/>
          </a:bodyPr>
          <a:lstStyle/>
          <a:p>
            <a:pPr algn="ctr">
              <a:spcBef>
                <a:spcPts val="0"/>
              </a:spcBef>
              <a:spcAft>
                <a:spcPts val="0"/>
              </a:spcAft>
            </a:pPr>
            <a:r>
              <a:rPr sz="860" b="0" i="0">
                <a:solidFill>
                  <a:srgbClr val="64748B"/>
                </a:solidFill>
                <a:latin typeface="Arial"/>
              </a:rPr>
              <a:t>Epoch 3</a:t>
            </a:r>
          </a:p>
        </p:txBody>
      </p:sp>
      <p:sp>
        <p:nvSpPr>
          <p:cNvPr id="26" name="TextBox 25"/>
          <p:cNvSpPr txBox="1"/>
          <p:nvPr/>
        </p:nvSpPr>
        <p:spPr>
          <a:xfrm>
            <a:off x="4352544" y="3611880"/>
            <a:ext cx="731520" cy="164592"/>
          </a:xfrm>
          <a:prstGeom prst="rect">
            <a:avLst/>
          </a:prstGeom>
          <a:noFill/>
        </p:spPr>
        <p:txBody>
          <a:bodyPr wrap="square" lIns="0" tIns="0" rIns="0" bIns="0" anchor="t">
            <a:spAutoFit/>
          </a:bodyPr>
          <a:lstStyle/>
          <a:p>
            <a:pPr algn="ctr">
              <a:spcBef>
                <a:spcPts val="0"/>
              </a:spcBef>
              <a:spcAft>
                <a:spcPts val="0"/>
              </a:spcAft>
            </a:pPr>
            <a:r>
              <a:rPr sz="860" b="0" i="0">
                <a:solidFill>
                  <a:srgbClr val="64748B"/>
                </a:solidFill>
                <a:latin typeface="Arial"/>
              </a:rPr>
              <a:t>Epoch 4</a:t>
            </a:r>
          </a:p>
        </p:txBody>
      </p:sp>
      <p:sp>
        <p:nvSpPr>
          <p:cNvPr id="27" name="Rounded Rectangle 26"/>
          <p:cNvSpPr/>
          <p:nvPr/>
        </p:nvSpPr>
        <p:spPr>
          <a:xfrm>
            <a:off x="868680" y="4828032"/>
            <a:ext cx="4736592" cy="841248"/>
          </a:xfrm>
          <a:prstGeom prst="roundRect">
            <a:avLst/>
          </a:prstGeom>
          <a:solidFill>
            <a:srgbClr val="FCE7F3"/>
          </a:solidFill>
          <a:ln>
            <a:noFill/>
          </a:ln>
        </p:spPr>
        <p:txBody>
          <a:bodyPr rtlCol="0" anchor="ctr"/>
          <a:lstStyle/>
          <a:p>
            <a:pPr algn="ctr"/>
            <a:endParaRPr/>
          </a:p>
        </p:txBody>
      </p:sp>
      <p:sp>
        <p:nvSpPr>
          <p:cNvPr id="28" name="TextBox 27"/>
          <p:cNvSpPr txBox="1"/>
          <p:nvPr/>
        </p:nvSpPr>
        <p:spPr>
          <a:xfrm>
            <a:off x="1042415" y="4974336"/>
            <a:ext cx="4389120" cy="521207"/>
          </a:xfrm>
          <a:prstGeom prst="rect">
            <a:avLst/>
          </a:prstGeom>
          <a:noFill/>
        </p:spPr>
        <p:txBody>
          <a:bodyPr wrap="square" lIns="9144" tIns="9144" rIns="9144" bIns="9144" anchor="t">
            <a:spAutoFit/>
          </a:bodyPr>
          <a:lstStyle/>
          <a:p>
            <a:pPr algn="l">
              <a:spcBef>
                <a:spcPts val="0"/>
              </a:spcBef>
              <a:spcAft>
                <a:spcPts val="0"/>
              </a:spcAft>
            </a:pPr>
            <a:r>
              <a:rPr sz="1120" b="0" i="0">
                <a:solidFill>
                  <a:srgbClr val="1E293B"/>
                </a:solidFill>
                <a:latin typeface="Arial"/>
              </a:rPr>
              <a:t>Training loss reached 0.072 by Epoch 4, while validation loss kept rising. Higher learning rates encouraged memorization of short phrases.</a:t>
            </a:r>
          </a:p>
        </p:txBody>
      </p:sp>
      <p:sp>
        <p:nvSpPr>
          <p:cNvPr id="29" name="Rounded Rectangle 28"/>
          <p:cNvSpPr/>
          <p:nvPr/>
        </p:nvSpPr>
        <p:spPr>
          <a:xfrm>
            <a:off x="6231636" y="1412748"/>
            <a:ext cx="5394960" cy="4727448"/>
          </a:xfrm>
          <a:prstGeom prst="roundRect">
            <a:avLst/>
          </a:prstGeom>
          <a:solidFill>
            <a:srgbClr val="F1F5F9"/>
          </a:solidFill>
          <a:ln>
            <a:noFill/>
          </a:ln>
        </p:spPr>
        <p:txBody>
          <a:bodyPr rtlCol="0" anchor="ctr"/>
          <a:lstStyle/>
          <a:p>
            <a:pPr algn="ctr"/>
            <a:endParaRPr/>
          </a:p>
        </p:txBody>
      </p:sp>
      <p:sp>
        <p:nvSpPr>
          <p:cNvPr id="30" name="Rounded Rectangle 29"/>
          <p:cNvSpPr/>
          <p:nvPr/>
        </p:nvSpPr>
        <p:spPr>
          <a:xfrm>
            <a:off x="6199632" y="1371600"/>
            <a:ext cx="5394960" cy="4727448"/>
          </a:xfrm>
          <a:prstGeom prst="roundRect">
            <a:avLst/>
          </a:prstGeom>
          <a:solidFill>
            <a:srgbClr val="FFFFFF"/>
          </a:solidFill>
          <a:ln w="10160">
            <a:solidFill>
              <a:srgbClr val="CBD5E1"/>
            </a:solidFill>
          </a:ln>
        </p:spPr>
        <p:txBody>
          <a:bodyPr rtlCol="0" anchor="ctr"/>
          <a:lstStyle/>
          <a:p>
            <a:pPr algn="ctr"/>
            <a:endParaRPr/>
          </a:p>
        </p:txBody>
      </p:sp>
      <p:sp>
        <p:nvSpPr>
          <p:cNvPr id="31" name="Rectangle 30"/>
          <p:cNvSpPr/>
          <p:nvPr/>
        </p:nvSpPr>
        <p:spPr>
          <a:xfrm>
            <a:off x="6199632" y="1389888"/>
            <a:ext cx="50292" cy="4690872"/>
          </a:xfrm>
          <a:prstGeom prst="rect">
            <a:avLst/>
          </a:prstGeom>
          <a:solidFill>
            <a:srgbClr val="16A34A"/>
          </a:solidFill>
          <a:ln>
            <a:noFill/>
          </a:ln>
        </p:spPr>
        <p:txBody>
          <a:bodyPr rtlCol="0" anchor="ctr"/>
          <a:lstStyle/>
          <a:p>
            <a:pPr algn="ctr"/>
            <a:endParaRPr/>
          </a:p>
        </p:txBody>
      </p:sp>
      <p:sp>
        <p:nvSpPr>
          <p:cNvPr id="32" name="TextBox 31"/>
          <p:cNvSpPr txBox="1"/>
          <p:nvPr/>
        </p:nvSpPr>
        <p:spPr>
          <a:xfrm>
            <a:off x="6419088" y="1572768"/>
            <a:ext cx="4983480" cy="438912"/>
          </a:xfrm>
          <a:prstGeom prst="rect">
            <a:avLst/>
          </a:prstGeom>
          <a:noFill/>
        </p:spPr>
        <p:txBody>
          <a:bodyPr wrap="square" lIns="0" tIns="0" rIns="0" bIns="0" anchor="t">
            <a:spAutoFit/>
          </a:bodyPr>
          <a:lstStyle/>
          <a:p>
            <a:pPr algn="l">
              <a:spcBef>
                <a:spcPts val="0"/>
              </a:spcBef>
              <a:spcAft>
                <a:spcPts val="0"/>
              </a:spcAft>
            </a:pPr>
            <a:r>
              <a:rPr sz="1700" b="1" i="0">
                <a:solidFill>
                  <a:srgbClr val="1E293B"/>
                </a:solidFill>
                <a:latin typeface="Arial"/>
              </a:rPr>
              <a:t>The Solution  /  MARBERTv2</a:t>
            </a:r>
          </a:p>
        </p:txBody>
      </p:sp>
      <p:sp>
        <p:nvSpPr>
          <p:cNvPr id="33" name="Rounded Rectangle 32"/>
          <p:cNvSpPr/>
          <p:nvPr/>
        </p:nvSpPr>
        <p:spPr>
          <a:xfrm>
            <a:off x="6446520" y="2057400"/>
            <a:ext cx="2139696" cy="841248"/>
          </a:xfrm>
          <a:prstGeom prst="roundRect">
            <a:avLst/>
          </a:prstGeom>
          <a:solidFill>
            <a:srgbClr val="F8FAFC"/>
          </a:solidFill>
          <a:ln w="10160">
            <a:solidFill>
              <a:srgbClr val="CBD5E1"/>
            </a:solidFill>
          </a:ln>
        </p:spPr>
        <p:txBody>
          <a:bodyPr rtlCol="0" anchor="ctr"/>
          <a:lstStyle/>
          <a:p>
            <a:pPr algn="ctr"/>
            <a:endParaRPr/>
          </a:p>
        </p:txBody>
      </p:sp>
      <p:sp>
        <p:nvSpPr>
          <p:cNvPr id="34" name="TextBox 33"/>
          <p:cNvSpPr txBox="1"/>
          <p:nvPr/>
        </p:nvSpPr>
        <p:spPr>
          <a:xfrm>
            <a:off x="6574536" y="2167128"/>
            <a:ext cx="804672" cy="329184"/>
          </a:xfrm>
          <a:prstGeom prst="rect">
            <a:avLst/>
          </a:prstGeom>
          <a:noFill/>
        </p:spPr>
        <p:txBody>
          <a:bodyPr wrap="square" lIns="0" tIns="0" rIns="0" bIns="0" anchor="t">
            <a:spAutoFit/>
          </a:bodyPr>
          <a:lstStyle/>
          <a:p>
            <a:pPr algn="l">
              <a:spcBef>
                <a:spcPts val="0"/>
              </a:spcBef>
              <a:spcAft>
                <a:spcPts val="0"/>
              </a:spcAft>
            </a:pPr>
            <a:r>
              <a:rPr sz="2000" b="1" i="0">
                <a:solidFill>
                  <a:srgbClr val="2563EB"/>
                </a:solidFill>
                <a:latin typeface="Arial"/>
              </a:rPr>
              <a:t>2e-5</a:t>
            </a:r>
          </a:p>
        </p:txBody>
      </p:sp>
      <p:sp>
        <p:nvSpPr>
          <p:cNvPr id="35" name="TextBox 34"/>
          <p:cNvSpPr txBox="1"/>
          <p:nvPr/>
        </p:nvSpPr>
        <p:spPr>
          <a:xfrm>
            <a:off x="7342631" y="2231136"/>
            <a:ext cx="1106424" cy="365760"/>
          </a:xfrm>
          <a:prstGeom prst="rect">
            <a:avLst/>
          </a:prstGeom>
          <a:noFill/>
        </p:spPr>
        <p:txBody>
          <a:bodyPr wrap="square" lIns="0" tIns="0" rIns="0" bIns="0" anchor="ctr">
            <a:spAutoFit/>
          </a:bodyPr>
          <a:lstStyle/>
          <a:p>
            <a:pPr algn="l">
              <a:spcBef>
                <a:spcPts val="0"/>
              </a:spcBef>
              <a:spcAft>
                <a:spcPts val="0"/>
              </a:spcAft>
            </a:pPr>
            <a:r>
              <a:rPr sz="940" b="1" i="0">
                <a:solidFill>
                  <a:srgbClr val="1E293B"/>
                </a:solidFill>
                <a:latin typeface="Arial"/>
              </a:rPr>
              <a:t>Peak learning rate</a:t>
            </a:r>
          </a:p>
        </p:txBody>
      </p:sp>
      <p:sp>
        <p:nvSpPr>
          <p:cNvPr id="36" name="Rounded Rectangle 35"/>
          <p:cNvSpPr/>
          <p:nvPr/>
        </p:nvSpPr>
        <p:spPr>
          <a:xfrm>
            <a:off x="8778240" y="2057400"/>
            <a:ext cx="2139696" cy="841248"/>
          </a:xfrm>
          <a:prstGeom prst="roundRect">
            <a:avLst/>
          </a:prstGeom>
          <a:solidFill>
            <a:srgbClr val="F8FAFC"/>
          </a:solidFill>
          <a:ln w="10160">
            <a:solidFill>
              <a:srgbClr val="CBD5E1"/>
            </a:solidFill>
          </a:ln>
        </p:spPr>
        <p:txBody>
          <a:bodyPr rtlCol="0" anchor="ctr"/>
          <a:lstStyle/>
          <a:p>
            <a:pPr algn="ctr"/>
            <a:endParaRPr/>
          </a:p>
        </p:txBody>
      </p:sp>
      <p:sp>
        <p:nvSpPr>
          <p:cNvPr id="37" name="TextBox 36"/>
          <p:cNvSpPr txBox="1"/>
          <p:nvPr/>
        </p:nvSpPr>
        <p:spPr>
          <a:xfrm>
            <a:off x="8906256" y="2167128"/>
            <a:ext cx="804672" cy="329184"/>
          </a:xfrm>
          <a:prstGeom prst="rect">
            <a:avLst/>
          </a:prstGeom>
          <a:noFill/>
        </p:spPr>
        <p:txBody>
          <a:bodyPr wrap="square" lIns="0" tIns="0" rIns="0" bIns="0" anchor="t">
            <a:spAutoFit/>
          </a:bodyPr>
          <a:lstStyle/>
          <a:p>
            <a:pPr algn="l">
              <a:spcBef>
                <a:spcPts val="0"/>
              </a:spcBef>
              <a:spcAft>
                <a:spcPts val="0"/>
              </a:spcAft>
            </a:pPr>
            <a:r>
              <a:rPr sz="2000" b="1" i="0">
                <a:solidFill>
                  <a:srgbClr val="38BDF8"/>
                </a:solidFill>
                <a:latin typeface="Arial"/>
              </a:rPr>
              <a:t>10%</a:t>
            </a:r>
          </a:p>
        </p:txBody>
      </p:sp>
      <p:sp>
        <p:nvSpPr>
          <p:cNvPr id="38" name="TextBox 37"/>
          <p:cNvSpPr txBox="1"/>
          <p:nvPr/>
        </p:nvSpPr>
        <p:spPr>
          <a:xfrm>
            <a:off x="9674352" y="2231136"/>
            <a:ext cx="1106424" cy="365760"/>
          </a:xfrm>
          <a:prstGeom prst="rect">
            <a:avLst/>
          </a:prstGeom>
          <a:noFill/>
        </p:spPr>
        <p:txBody>
          <a:bodyPr wrap="square" lIns="0" tIns="0" rIns="0" bIns="0" anchor="ctr">
            <a:spAutoFit/>
          </a:bodyPr>
          <a:lstStyle/>
          <a:p>
            <a:pPr algn="l">
              <a:spcBef>
                <a:spcPts val="0"/>
              </a:spcBef>
              <a:spcAft>
                <a:spcPts val="0"/>
              </a:spcAft>
            </a:pPr>
            <a:r>
              <a:rPr sz="940" b="1" i="0">
                <a:solidFill>
                  <a:srgbClr val="1E293B"/>
                </a:solidFill>
                <a:latin typeface="Arial"/>
              </a:rPr>
              <a:t>Linear warmup</a:t>
            </a:r>
          </a:p>
        </p:txBody>
      </p:sp>
      <p:sp>
        <p:nvSpPr>
          <p:cNvPr id="39" name="Rounded Rectangle 38"/>
          <p:cNvSpPr/>
          <p:nvPr/>
        </p:nvSpPr>
        <p:spPr>
          <a:xfrm>
            <a:off x="6446520" y="3136391"/>
            <a:ext cx="2139696" cy="841248"/>
          </a:xfrm>
          <a:prstGeom prst="roundRect">
            <a:avLst/>
          </a:prstGeom>
          <a:solidFill>
            <a:srgbClr val="F8FAFC"/>
          </a:solidFill>
          <a:ln w="10160">
            <a:solidFill>
              <a:srgbClr val="CBD5E1"/>
            </a:solidFill>
          </a:ln>
        </p:spPr>
        <p:txBody>
          <a:bodyPr rtlCol="0" anchor="ctr"/>
          <a:lstStyle/>
          <a:p>
            <a:pPr algn="ctr"/>
            <a:endParaRPr/>
          </a:p>
        </p:txBody>
      </p:sp>
      <p:sp>
        <p:nvSpPr>
          <p:cNvPr id="40" name="TextBox 39"/>
          <p:cNvSpPr txBox="1"/>
          <p:nvPr/>
        </p:nvSpPr>
        <p:spPr>
          <a:xfrm>
            <a:off x="6574536" y="3246120"/>
            <a:ext cx="804672" cy="329184"/>
          </a:xfrm>
          <a:prstGeom prst="rect">
            <a:avLst/>
          </a:prstGeom>
          <a:noFill/>
        </p:spPr>
        <p:txBody>
          <a:bodyPr wrap="square" lIns="0" tIns="0" rIns="0" bIns="0" anchor="t">
            <a:spAutoFit/>
          </a:bodyPr>
          <a:lstStyle/>
          <a:p>
            <a:pPr algn="l">
              <a:spcBef>
                <a:spcPts val="0"/>
              </a:spcBef>
              <a:spcAft>
                <a:spcPts val="0"/>
              </a:spcAft>
            </a:pPr>
            <a:r>
              <a:rPr sz="2000" b="1" i="0">
                <a:solidFill>
                  <a:srgbClr val="16A34A"/>
                </a:solidFill>
                <a:latin typeface="Arial"/>
              </a:rPr>
              <a:t>0.05</a:t>
            </a:r>
          </a:p>
        </p:txBody>
      </p:sp>
      <p:sp>
        <p:nvSpPr>
          <p:cNvPr id="41" name="TextBox 40"/>
          <p:cNvSpPr txBox="1"/>
          <p:nvPr/>
        </p:nvSpPr>
        <p:spPr>
          <a:xfrm>
            <a:off x="7342631" y="3310127"/>
            <a:ext cx="1106424" cy="365760"/>
          </a:xfrm>
          <a:prstGeom prst="rect">
            <a:avLst/>
          </a:prstGeom>
          <a:noFill/>
        </p:spPr>
        <p:txBody>
          <a:bodyPr wrap="square" lIns="0" tIns="0" rIns="0" bIns="0" anchor="ctr">
            <a:spAutoFit/>
          </a:bodyPr>
          <a:lstStyle/>
          <a:p>
            <a:pPr algn="l">
              <a:spcBef>
                <a:spcPts val="0"/>
              </a:spcBef>
              <a:spcAft>
                <a:spcPts val="0"/>
              </a:spcAft>
            </a:pPr>
            <a:r>
              <a:rPr sz="940" b="1" i="0">
                <a:solidFill>
                  <a:srgbClr val="1E293B"/>
                </a:solidFill>
                <a:latin typeface="Arial"/>
              </a:rPr>
              <a:t>Weight decay</a:t>
            </a:r>
          </a:p>
        </p:txBody>
      </p:sp>
      <p:sp>
        <p:nvSpPr>
          <p:cNvPr id="42" name="Rounded Rectangle 41"/>
          <p:cNvSpPr/>
          <p:nvPr/>
        </p:nvSpPr>
        <p:spPr>
          <a:xfrm>
            <a:off x="8778240" y="3136391"/>
            <a:ext cx="2139696" cy="841248"/>
          </a:xfrm>
          <a:prstGeom prst="roundRect">
            <a:avLst/>
          </a:prstGeom>
          <a:solidFill>
            <a:srgbClr val="F8FAFC"/>
          </a:solidFill>
          <a:ln w="10160">
            <a:solidFill>
              <a:srgbClr val="CBD5E1"/>
            </a:solidFill>
          </a:ln>
        </p:spPr>
        <p:txBody>
          <a:bodyPr rtlCol="0" anchor="ctr"/>
          <a:lstStyle/>
          <a:p>
            <a:pPr algn="ctr"/>
            <a:endParaRPr/>
          </a:p>
        </p:txBody>
      </p:sp>
      <p:sp>
        <p:nvSpPr>
          <p:cNvPr id="43" name="TextBox 42"/>
          <p:cNvSpPr txBox="1"/>
          <p:nvPr/>
        </p:nvSpPr>
        <p:spPr>
          <a:xfrm>
            <a:off x="8906256" y="3246120"/>
            <a:ext cx="804672" cy="329184"/>
          </a:xfrm>
          <a:prstGeom prst="rect">
            <a:avLst/>
          </a:prstGeom>
          <a:noFill/>
        </p:spPr>
        <p:txBody>
          <a:bodyPr wrap="square" lIns="0" tIns="0" rIns="0" bIns="0" anchor="t">
            <a:spAutoFit/>
          </a:bodyPr>
          <a:lstStyle/>
          <a:p>
            <a:pPr algn="l">
              <a:spcBef>
                <a:spcPts val="0"/>
              </a:spcBef>
              <a:spcAft>
                <a:spcPts val="0"/>
              </a:spcAft>
            </a:pPr>
            <a:r>
              <a:rPr sz="2000" b="1" i="0">
                <a:solidFill>
                  <a:srgbClr val="EC4899"/>
                </a:solidFill>
                <a:latin typeface="Arial"/>
              </a:rPr>
              <a:t>0.05</a:t>
            </a:r>
          </a:p>
        </p:txBody>
      </p:sp>
      <p:sp>
        <p:nvSpPr>
          <p:cNvPr id="44" name="TextBox 43"/>
          <p:cNvSpPr txBox="1"/>
          <p:nvPr/>
        </p:nvSpPr>
        <p:spPr>
          <a:xfrm>
            <a:off x="9674352" y="3310127"/>
            <a:ext cx="1106424" cy="365760"/>
          </a:xfrm>
          <a:prstGeom prst="rect">
            <a:avLst/>
          </a:prstGeom>
          <a:noFill/>
        </p:spPr>
        <p:txBody>
          <a:bodyPr wrap="square" lIns="0" tIns="0" rIns="0" bIns="0" anchor="ctr">
            <a:spAutoFit/>
          </a:bodyPr>
          <a:lstStyle/>
          <a:p>
            <a:pPr algn="l">
              <a:spcBef>
                <a:spcPts val="0"/>
              </a:spcBef>
              <a:spcAft>
                <a:spcPts val="0"/>
              </a:spcAft>
            </a:pPr>
            <a:r>
              <a:rPr sz="940" b="1" i="0">
                <a:solidFill>
                  <a:srgbClr val="1E293B"/>
                </a:solidFill>
                <a:latin typeface="Arial"/>
              </a:rPr>
              <a:t>Label smoothing</a:t>
            </a:r>
          </a:p>
        </p:txBody>
      </p:sp>
      <p:sp>
        <p:nvSpPr>
          <p:cNvPr id="45" name="Rounded Rectangle 44"/>
          <p:cNvSpPr/>
          <p:nvPr/>
        </p:nvSpPr>
        <p:spPr>
          <a:xfrm>
            <a:off x="6446520" y="4389120"/>
            <a:ext cx="4617720" cy="1152144"/>
          </a:xfrm>
          <a:prstGeom prst="roundRect">
            <a:avLst/>
          </a:prstGeom>
          <a:solidFill>
            <a:srgbClr val="DCFCE7"/>
          </a:solidFill>
          <a:ln>
            <a:noFill/>
          </a:ln>
        </p:spPr>
        <p:txBody>
          <a:bodyPr rtlCol="0" anchor="ctr"/>
          <a:lstStyle/>
          <a:p>
            <a:pPr algn="ctr"/>
            <a:endParaRPr/>
          </a:p>
        </p:txBody>
      </p:sp>
      <p:sp>
        <p:nvSpPr>
          <p:cNvPr id="46" name="TextBox 45"/>
          <p:cNvSpPr txBox="1"/>
          <p:nvPr/>
        </p:nvSpPr>
        <p:spPr>
          <a:xfrm>
            <a:off x="6656832" y="4544568"/>
            <a:ext cx="1920240" cy="182880"/>
          </a:xfrm>
          <a:prstGeom prst="rect">
            <a:avLst/>
          </a:prstGeom>
          <a:noFill/>
        </p:spPr>
        <p:txBody>
          <a:bodyPr wrap="square" lIns="0" tIns="0" rIns="0" bIns="0" anchor="t">
            <a:spAutoFit/>
          </a:bodyPr>
          <a:lstStyle/>
          <a:p>
            <a:pPr algn="l">
              <a:spcBef>
                <a:spcPts val="0"/>
              </a:spcBef>
              <a:spcAft>
                <a:spcPts val="0"/>
              </a:spcAft>
            </a:pPr>
            <a:r>
              <a:rPr sz="850" b="1" i="0">
                <a:solidFill>
                  <a:srgbClr val="16A34A"/>
                </a:solidFill>
                <a:latin typeface="Arial"/>
              </a:rPr>
              <a:t>TRAINING CONTROLS</a:t>
            </a:r>
          </a:p>
        </p:txBody>
      </p:sp>
      <p:sp>
        <p:nvSpPr>
          <p:cNvPr id="47" name="TextBox 46"/>
          <p:cNvSpPr txBox="1"/>
          <p:nvPr/>
        </p:nvSpPr>
        <p:spPr>
          <a:xfrm>
            <a:off x="6629400" y="4791456"/>
            <a:ext cx="4187952" cy="621792"/>
          </a:xfrm>
          <a:prstGeom prst="rect">
            <a:avLst/>
          </a:prstGeom>
          <a:noFill/>
        </p:spPr>
        <p:txBody>
          <a:bodyPr wrap="square" lIns="54864" tIns="27432" rIns="36576" bIns="18288">
            <a:spAutoFit/>
          </a:bodyPr>
          <a:lstStyle/>
          <a:p>
            <a:pPr>
              <a:lnSpc>
                <a:spcPct val="105000"/>
              </a:lnSpc>
              <a:spcBef>
                <a:spcPts val="0"/>
              </a:spcBef>
              <a:spcAft>
                <a:spcPts val="400"/>
              </a:spcAft>
              <a:defRPr sz="1019">
                <a:solidFill>
                  <a:srgbClr val="1E293B"/>
                </a:solidFill>
                <a:latin typeface="Arial"/>
              </a:defRPr>
            </a:pPr>
            <a:r>
              <a:t>•  EarlyStoppingCallback: patience = 2; monitor eval_f1_macro.</a:t>
            </a:r>
          </a:p>
          <a:p>
            <a:pPr>
              <a:lnSpc>
                <a:spcPct val="105000"/>
              </a:lnSpc>
              <a:spcBef>
                <a:spcPts val="0"/>
              </a:spcBef>
              <a:spcAft>
                <a:spcPts val="400"/>
              </a:spcAft>
              <a:defRPr sz="1019">
                <a:solidFill>
                  <a:srgbClr val="1E293B"/>
                </a:solidFill>
                <a:latin typeface="Arial"/>
              </a:defRPr>
            </a:pPr>
            <a:r>
              <a:t>•  load_best_model_at_end = True  •  FP16 mixed precision.</a:t>
            </a:r>
          </a:p>
        </p:txBody>
      </p:sp>
      <p:cxnSp>
        <p:nvCxnSpPr>
          <p:cNvPr id="48" name="Connector 47"/>
          <p:cNvCxnSpPr/>
          <p:nvPr/>
        </p:nvCxnSpPr>
        <p:spPr>
          <a:xfrm>
            <a:off x="594360" y="6473952"/>
            <a:ext cx="11000232" cy="0"/>
          </a:xfrm>
          <a:prstGeom prst="line">
            <a:avLst/>
          </a:prstGeom>
          <a:ln w="8890">
            <a:solidFill>
              <a:srgbClr val="CBD5E1"/>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03504" y="6547104"/>
            <a:ext cx="4572000" cy="164592"/>
          </a:xfrm>
          <a:prstGeom prst="rect">
            <a:avLst/>
          </a:prstGeom>
          <a:noFill/>
        </p:spPr>
        <p:txBody>
          <a:bodyPr wrap="square" lIns="0" tIns="0" rIns="0" bIns="0" anchor="t">
            <a:spAutoFit/>
          </a:bodyPr>
          <a:lstStyle/>
          <a:p>
            <a:pPr algn="l">
              <a:spcBef>
                <a:spcPts val="0"/>
              </a:spcBef>
              <a:spcAft>
                <a:spcPts val="0"/>
              </a:spcAft>
            </a:pPr>
            <a:r>
              <a:rPr sz="800" b="1" i="0">
                <a:solidFill>
                  <a:srgbClr val="64748B"/>
                </a:solidFill>
                <a:latin typeface="Arial"/>
              </a:rPr>
              <a:t>ARABIC DIALECT CLASSIFICATION</a:t>
            </a:r>
          </a:p>
        </p:txBody>
      </p:sp>
      <p:sp>
        <p:nvSpPr>
          <p:cNvPr id="50" name="TextBox 49"/>
          <p:cNvSpPr txBox="1"/>
          <p:nvPr/>
        </p:nvSpPr>
        <p:spPr>
          <a:xfrm>
            <a:off x="10652760" y="6528816"/>
            <a:ext cx="914400" cy="182880"/>
          </a:xfrm>
          <a:prstGeom prst="rect">
            <a:avLst/>
          </a:prstGeom>
          <a:noFill/>
        </p:spPr>
        <p:txBody>
          <a:bodyPr wrap="square" lIns="0" tIns="0" rIns="0" bIns="0" anchor="t">
            <a:spAutoFit/>
          </a:bodyPr>
          <a:lstStyle/>
          <a:p>
            <a:pPr algn="r">
              <a:spcBef>
                <a:spcPts val="0"/>
              </a:spcBef>
              <a:spcAft>
                <a:spcPts val="0"/>
              </a:spcAft>
            </a:pPr>
            <a:r>
              <a:rPr sz="850" b="1" i="0">
                <a:solidFill>
                  <a:srgbClr val="64748B"/>
                </a:solidFill>
                <a:latin typeface="Arial"/>
              </a:rPr>
              <a:t>06  /  12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F172A"/>
          </a:solidFill>
          <a:ln>
            <a:noFill/>
          </a:ln>
        </p:spPr>
        <p:txBody>
          <a:bodyPr rtlCol="0" anchor="ctr"/>
          <a:lstStyle/>
          <a:p>
            <a:pPr algn="ctr"/>
            <a:endParaRPr/>
          </a:p>
        </p:txBody>
      </p:sp>
      <p:sp>
        <p:nvSpPr>
          <p:cNvPr id="3" name="Rectangle 2"/>
          <p:cNvSpPr/>
          <p:nvPr/>
        </p:nvSpPr>
        <p:spPr>
          <a:xfrm>
            <a:off x="0" y="0"/>
            <a:ext cx="2011680" cy="128016"/>
          </a:xfrm>
          <a:prstGeom prst="rect">
            <a:avLst/>
          </a:prstGeom>
          <a:solidFill>
            <a:srgbClr val="38BDF8"/>
          </a:solidFill>
          <a:ln>
            <a:noFill/>
          </a:ln>
        </p:spPr>
        <p:txBody>
          <a:bodyPr rtlCol="0" anchor="ctr"/>
          <a:lstStyle/>
          <a:p>
            <a:pPr algn="ctr"/>
            <a:endParaRPr/>
          </a:p>
        </p:txBody>
      </p:sp>
      <p:sp>
        <p:nvSpPr>
          <p:cNvPr id="4" name="TextBox 3"/>
          <p:cNvSpPr txBox="1"/>
          <p:nvPr/>
        </p:nvSpPr>
        <p:spPr>
          <a:xfrm>
            <a:off x="603504" y="274320"/>
            <a:ext cx="2743200" cy="201168"/>
          </a:xfrm>
          <a:prstGeom prst="rect">
            <a:avLst/>
          </a:prstGeom>
          <a:noFill/>
        </p:spPr>
        <p:txBody>
          <a:bodyPr wrap="square" lIns="0" tIns="0" rIns="0" bIns="0" anchor="t">
            <a:spAutoFit/>
          </a:bodyPr>
          <a:lstStyle/>
          <a:p>
            <a:pPr algn="l">
              <a:spcBef>
                <a:spcPts val="0"/>
              </a:spcBef>
              <a:spcAft>
                <a:spcPts val="0"/>
              </a:spcAft>
            </a:pPr>
            <a:r>
              <a:rPr sz="850" b="1" i="0">
                <a:solidFill>
                  <a:srgbClr val="2563EB"/>
                </a:solidFill>
                <a:latin typeface="Arial"/>
              </a:rPr>
              <a:t>QUANTITATIVE RESULTS</a:t>
            </a:r>
          </a:p>
        </p:txBody>
      </p:sp>
      <p:sp>
        <p:nvSpPr>
          <p:cNvPr id="5" name="TextBox 4"/>
          <p:cNvSpPr txBox="1"/>
          <p:nvPr/>
        </p:nvSpPr>
        <p:spPr>
          <a:xfrm>
            <a:off x="594360" y="521207"/>
            <a:ext cx="10972800" cy="530352"/>
          </a:xfrm>
          <a:prstGeom prst="rect">
            <a:avLst/>
          </a:prstGeom>
          <a:noFill/>
        </p:spPr>
        <p:txBody>
          <a:bodyPr wrap="square" lIns="0" tIns="0" rIns="0" bIns="0" anchor="t">
            <a:spAutoFit/>
          </a:bodyPr>
          <a:lstStyle/>
          <a:p>
            <a:pPr algn="l">
              <a:spcBef>
                <a:spcPts val="0"/>
              </a:spcBef>
              <a:spcAft>
                <a:spcPts val="0"/>
              </a:spcAft>
            </a:pPr>
            <a:r>
              <a:rPr sz="2800" b="1" i="0">
                <a:solidFill>
                  <a:srgbClr val="0F172A"/>
                </a:solidFill>
                <a:latin typeface="Arial"/>
              </a:rPr>
              <a:t>Experimental Benchmark Results Across All Models</a:t>
            </a:r>
          </a:p>
        </p:txBody>
      </p:sp>
      <p:sp>
        <p:nvSpPr>
          <p:cNvPr id="6" name="Oval 5"/>
          <p:cNvSpPr/>
          <p:nvPr/>
        </p:nvSpPr>
        <p:spPr>
          <a:xfrm>
            <a:off x="11411712" y="347472"/>
            <a:ext cx="164592" cy="164592"/>
          </a:xfrm>
          <a:prstGeom prst="ellipse">
            <a:avLst/>
          </a:prstGeom>
          <a:solidFill>
            <a:srgbClr val="38BDF8"/>
          </a:solidFill>
          <a:ln>
            <a:noFill/>
          </a:ln>
        </p:spPr>
        <p:txBody>
          <a:bodyPr rtlCol="0" anchor="ctr"/>
          <a:lstStyle/>
          <a:p>
            <a:pPr algn="ctr"/>
            <a:endParaRPr/>
          </a:p>
        </p:txBody>
      </p:sp>
      <p:sp>
        <p:nvSpPr>
          <p:cNvPr id="7" name="Oval 6"/>
          <p:cNvSpPr/>
          <p:nvPr/>
        </p:nvSpPr>
        <p:spPr>
          <a:xfrm>
            <a:off x="11612880" y="347472"/>
            <a:ext cx="164592" cy="164592"/>
          </a:xfrm>
          <a:prstGeom prst="ellipse">
            <a:avLst/>
          </a:prstGeom>
          <a:solidFill>
            <a:srgbClr val="EC4899"/>
          </a:solidFill>
          <a:ln>
            <a:noFill/>
          </a:ln>
        </p:spPr>
        <p:txBody>
          <a:bodyPr rtlCol="0" anchor="ctr"/>
          <a:lstStyle/>
          <a:p>
            <a:pPr algn="ctr"/>
            <a:endParaRPr/>
          </a:p>
        </p:txBody>
      </p:sp>
      <p:sp>
        <p:nvSpPr>
          <p:cNvPr id="8" name="Oval 7"/>
          <p:cNvSpPr/>
          <p:nvPr/>
        </p:nvSpPr>
        <p:spPr>
          <a:xfrm>
            <a:off x="11814048" y="347472"/>
            <a:ext cx="164592" cy="164592"/>
          </a:xfrm>
          <a:prstGeom prst="ellipse">
            <a:avLst/>
          </a:prstGeom>
          <a:solidFill>
            <a:srgbClr val="2563EB"/>
          </a:solidFill>
          <a:ln>
            <a:noFill/>
          </a:ln>
        </p:spPr>
        <p:txBody>
          <a:bodyPr rtlCol="0" anchor="ctr"/>
          <a:lstStyle/>
          <a:p>
            <a:pPr algn="ctr"/>
            <a:endParaRPr/>
          </a:p>
        </p:txBody>
      </p:sp>
      <p:sp>
        <p:nvSpPr>
          <p:cNvPr id="9" name="Rounded Rectangle 8"/>
          <p:cNvSpPr/>
          <p:nvPr/>
        </p:nvSpPr>
        <p:spPr>
          <a:xfrm>
            <a:off x="617220" y="1257300"/>
            <a:ext cx="3547872" cy="1170432"/>
          </a:xfrm>
          <a:prstGeom prst="roundRect">
            <a:avLst/>
          </a:prstGeom>
          <a:solidFill>
            <a:srgbClr val="F1F5F9"/>
          </a:solidFill>
          <a:ln>
            <a:noFill/>
          </a:ln>
        </p:spPr>
        <p:txBody>
          <a:bodyPr rtlCol="0" anchor="ctr"/>
          <a:lstStyle/>
          <a:p>
            <a:pPr algn="ctr"/>
            <a:endParaRPr/>
          </a:p>
        </p:txBody>
      </p:sp>
      <p:sp>
        <p:nvSpPr>
          <p:cNvPr id="10" name="Rounded Rectangle 9"/>
          <p:cNvSpPr/>
          <p:nvPr/>
        </p:nvSpPr>
        <p:spPr>
          <a:xfrm>
            <a:off x="594360" y="1225296"/>
            <a:ext cx="3547872" cy="1170432"/>
          </a:xfrm>
          <a:prstGeom prst="roundRect">
            <a:avLst/>
          </a:prstGeom>
          <a:solidFill>
            <a:srgbClr val="FFFFFF"/>
          </a:solidFill>
          <a:ln w="10160">
            <a:solidFill>
              <a:srgbClr val="CBD5E1"/>
            </a:solidFill>
          </a:ln>
        </p:spPr>
        <p:txBody>
          <a:bodyPr rtlCol="0" anchor="ctr"/>
          <a:lstStyle/>
          <a:p>
            <a:pPr algn="ctr"/>
            <a:endParaRPr/>
          </a:p>
        </p:txBody>
      </p:sp>
      <p:sp>
        <p:nvSpPr>
          <p:cNvPr id="11" name="Rectangle 10"/>
          <p:cNvSpPr/>
          <p:nvPr/>
        </p:nvSpPr>
        <p:spPr>
          <a:xfrm>
            <a:off x="594360" y="1225296"/>
            <a:ext cx="54864" cy="1170432"/>
          </a:xfrm>
          <a:prstGeom prst="rect">
            <a:avLst/>
          </a:prstGeom>
          <a:solidFill>
            <a:srgbClr val="2563EB"/>
          </a:solidFill>
          <a:ln>
            <a:noFill/>
          </a:ln>
        </p:spPr>
        <p:txBody>
          <a:bodyPr rtlCol="0" anchor="ctr"/>
          <a:lstStyle/>
          <a:p>
            <a:pPr algn="ctr"/>
            <a:endParaRPr/>
          </a:p>
        </p:txBody>
      </p:sp>
      <p:sp>
        <p:nvSpPr>
          <p:cNvPr id="12" name="TextBox 11"/>
          <p:cNvSpPr txBox="1"/>
          <p:nvPr/>
        </p:nvSpPr>
        <p:spPr>
          <a:xfrm>
            <a:off x="795528" y="1353312"/>
            <a:ext cx="3182112" cy="192024"/>
          </a:xfrm>
          <a:prstGeom prst="rect">
            <a:avLst/>
          </a:prstGeom>
          <a:noFill/>
        </p:spPr>
        <p:txBody>
          <a:bodyPr wrap="square" lIns="0" tIns="0" rIns="0" bIns="0" anchor="t">
            <a:spAutoFit/>
          </a:bodyPr>
          <a:lstStyle/>
          <a:p>
            <a:pPr algn="l">
              <a:spcBef>
                <a:spcPts val="0"/>
              </a:spcBef>
              <a:spcAft>
                <a:spcPts val="0"/>
              </a:spcAft>
            </a:pPr>
            <a:r>
              <a:rPr sz="850" b="1" i="0">
                <a:solidFill>
                  <a:srgbClr val="64748B"/>
                </a:solidFill>
                <a:latin typeface="Arial"/>
              </a:rPr>
              <a:t>CLASSICAL STACKING  /  TEST ACCURACY</a:t>
            </a:r>
          </a:p>
        </p:txBody>
      </p:sp>
      <p:sp>
        <p:nvSpPr>
          <p:cNvPr id="13" name="TextBox 12"/>
          <p:cNvSpPr txBox="1"/>
          <p:nvPr/>
        </p:nvSpPr>
        <p:spPr>
          <a:xfrm>
            <a:off x="795528" y="1554480"/>
            <a:ext cx="3182112" cy="457200"/>
          </a:xfrm>
          <a:prstGeom prst="rect">
            <a:avLst/>
          </a:prstGeom>
          <a:noFill/>
        </p:spPr>
        <p:txBody>
          <a:bodyPr wrap="square" lIns="0" tIns="0" rIns="0" bIns="0" anchor="t">
            <a:spAutoFit/>
          </a:bodyPr>
          <a:lstStyle/>
          <a:p>
            <a:pPr algn="l">
              <a:spcBef>
                <a:spcPts val="0"/>
              </a:spcBef>
              <a:spcAft>
                <a:spcPts val="0"/>
              </a:spcAft>
            </a:pPr>
            <a:r>
              <a:rPr sz="2700" b="1" i="0">
                <a:solidFill>
                  <a:srgbClr val="2563EB"/>
                </a:solidFill>
                <a:latin typeface="Arial"/>
              </a:rPr>
              <a:t>90.93%</a:t>
            </a:r>
          </a:p>
        </p:txBody>
      </p:sp>
      <p:sp>
        <p:nvSpPr>
          <p:cNvPr id="14" name="TextBox 13"/>
          <p:cNvSpPr txBox="1"/>
          <p:nvPr/>
        </p:nvSpPr>
        <p:spPr>
          <a:xfrm>
            <a:off x="795528" y="2148840"/>
            <a:ext cx="3182112" cy="146304"/>
          </a:xfrm>
          <a:prstGeom prst="rect">
            <a:avLst/>
          </a:prstGeom>
          <a:noFill/>
        </p:spPr>
        <p:txBody>
          <a:bodyPr wrap="square" lIns="0" tIns="0" rIns="0" bIns="0" anchor="t">
            <a:spAutoFit/>
          </a:bodyPr>
          <a:lstStyle/>
          <a:p>
            <a:pPr algn="l">
              <a:spcBef>
                <a:spcPts val="0"/>
              </a:spcBef>
              <a:spcAft>
                <a:spcPts val="0"/>
              </a:spcAft>
            </a:pPr>
            <a:r>
              <a:rPr sz="830" b="0" i="0">
                <a:solidFill>
                  <a:srgbClr val="64748B"/>
                </a:solidFill>
                <a:latin typeface="Arial"/>
              </a:rPr>
              <a:t>4-model meta-learner</a:t>
            </a:r>
          </a:p>
        </p:txBody>
      </p:sp>
      <p:sp>
        <p:nvSpPr>
          <p:cNvPr id="15" name="Rounded Rectangle 14"/>
          <p:cNvSpPr/>
          <p:nvPr/>
        </p:nvSpPr>
        <p:spPr>
          <a:xfrm>
            <a:off x="4347972" y="1257300"/>
            <a:ext cx="3547872" cy="1170432"/>
          </a:xfrm>
          <a:prstGeom prst="roundRect">
            <a:avLst/>
          </a:prstGeom>
          <a:solidFill>
            <a:srgbClr val="F1F5F9"/>
          </a:solidFill>
          <a:ln>
            <a:noFill/>
          </a:ln>
        </p:spPr>
        <p:txBody>
          <a:bodyPr rtlCol="0" anchor="ctr"/>
          <a:lstStyle/>
          <a:p>
            <a:pPr algn="ctr"/>
            <a:endParaRPr/>
          </a:p>
        </p:txBody>
      </p:sp>
      <p:sp>
        <p:nvSpPr>
          <p:cNvPr id="16" name="Rounded Rectangle 15"/>
          <p:cNvSpPr/>
          <p:nvPr/>
        </p:nvSpPr>
        <p:spPr>
          <a:xfrm>
            <a:off x="4325112" y="1225296"/>
            <a:ext cx="3547872" cy="1170432"/>
          </a:xfrm>
          <a:prstGeom prst="roundRect">
            <a:avLst/>
          </a:prstGeom>
          <a:solidFill>
            <a:srgbClr val="FFFFFF"/>
          </a:solidFill>
          <a:ln w="10160">
            <a:solidFill>
              <a:srgbClr val="CBD5E1"/>
            </a:solidFill>
          </a:ln>
        </p:spPr>
        <p:txBody>
          <a:bodyPr rtlCol="0" anchor="ctr"/>
          <a:lstStyle/>
          <a:p>
            <a:pPr algn="ctr"/>
            <a:endParaRPr/>
          </a:p>
        </p:txBody>
      </p:sp>
      <p:sp>
        <p:nvSpPr>
          <p:cNvPr id="17" name="Rectangle 16"/>
          <p:cNvSpPr/>
          <p:nvPr/>
        </p:nvSpPr>
        <p:spPr>
          <a:xfrm>
            <a:off x="4325112" y="1225296"/>
            <a:ext cx="54864" cy="1170432"/>
          </a:xfrm>
          <a:prstGeom prst="rect">
            <a:avLst/>
          </a:prstGeom>
          <a:solidFill>
            <a:srgbClr val="38BDF8"/>
          </a:solidFill>
          <a:ln>
            <a:noFill/>
          </a:ln>
        </p:spPr>
        <p:txBody>
          <a:bodyPr rtlCol="0" anchor="ctr"/>
          <a:lstStyle/>
          <a:p>
            <a:pPr algn="ctr"/>
            <a:endParaRPr/>
          </a:p>
        </p:txBody>
      </p:sp>
      <p:sp>
        <p:nvSpPr>
          <p:cNvPr id="18" name="TextBox 17"/>
          <p:cNvSpPr txBox="1"/>
          <p:nvPr/>
        </p:nvSpPr>
        <p:spPr>
          <a:xfrm>
            <a:off x="4526280" y="1353312"/>
            <a:ext cx="3182112" cy="192024"/>
          </a:xfrm>
          <a:prstGeom prst="rect">
            <a:avLst/>
          </a:prstGeom>
          <a:noFill/>
        </p:spPr>
        <p:txBody>
          <a:bodyPr wrap="square" lIns="0" tIns="0" rIns="0" bIns="0" anchor="t">
            <a:spAutoFit/>
          </a:bodyPr>
          <a:lstStyle/>
          <a:p>
            <a:pPr algn="l">
              <a:spcBef>
                <a:spcPts val="0"/>
              </a:spcBef>
              <a:spcAft>
                <a:spcPts val="0"/>
              </a:spcAft>
            </a:pPr>
            <a:r>
              <a:rPr sz="850" b="1" i="0">
                <a:solidFill>
                  <a:srgbClr val="64748B"/>
                </a:solidFill>
                <a:latin typeface="Arial"/>
              </a:rPr>
              <a:t>ARABERTV02  /  VALIDATION ACCURACY</a:t>
            </a:r>
          </a:p>
        </p:txBody>
      </p:sp>
      <p:sp>
        <p:nvSpPr>
          <p:cNvPr id="19" name="TextBox 18"/>
          <p:cNvSpPr txBox="1"/>
          <p:nvPr/>
        </p:nvSpPr>
        <p:spPr>
          <a:xfrm>
            <a:off x="4526280" y="1554480"/>
            <a:ext cx="3182112" cy="457200"/>
          </a:xfrm>
          <a:prstGeom prst="rect">
            <a:avLst/>
          </a:prstGeom>
          <a:noFill/>
        </p:spPr>
        <p:txBody>
          <a:bodyPr wrap="square" lIns="0" tIns="0" rIns="0" bIns="0" anchor="t">
            <a:spAutoFit/>
          </a:bodyPr>
          <a:lstStyle/>
          <a:p>
            <a:pPr algn="l">
              <a:spcBef>
                <a:spcPts val="0"/>
              </a:spcBef>
              <a:spcAft>
                <a:spcPts val="0"/>
              </a:spcAft>
            </a:pPr>
            <a:r>
              <a:rPr sz="2700" b="1" i="0">
                <a:solidFill>
                  <a:srgbClr val="38BDF8"/>
                </a:solidFill>
                <a:latin typeface="Arial"/>
              </a:rPr>
              <a:t>91.03%</a:t>
            </a:r>
          </a:p>
        </p:txBody>
      </p:sp>
      <p:sp>
        <p:nvSpPr>
          <p:cNvPr id="20" name="TextBox 19"/>
          <p:cNvSpPr txBox="1"/>
          <p:nvPr/>
        </p:nvSpPr>
        <p:spPr>
          <a:xfrm>
            <a:off x="4526280" y="2148840"/>
            <a:ext cx="3182112" cy="146304"/>
          </a:xfrm>
          <a:prstGeom prst="rect">
            <a:avLst/>
          </a:prstGeom>
          <a:noFill/>
        </p:spPr>
        <p:txBody>
          <a:bodyPr wrap="square" lIns="0" tIns="0" rIns="0" bIns="0" anchor="t">
            <a:spAutoFit/>
          </a:bodyPr>
          <a:lstStyle/>
          <a:p>
            <a:pPr algn="l">
              <a:spcBef>
                <a:spcPts val="0"/>
              </a:spcBef>
              <a:spcAft>
                <a:spcPts val="0"/>
              </a:spcAft>
            </a:pPr>
            <a:r>
              <a:rPr sz="830" b="0" i="0">
                <a:solidFill>
                  <a:srgbClr val="64748B"/>
                </a:solidFill>
                <a:latin typeface="Arial"/>
              </a:rPr>
              <a:t>Fine-tuned transformer</a:t>
            </a:r>
          </a:p>
        </p:txBody>
      </p:sp>
      <p:sp>
        <p:nvSpPr>
          <p:cNvPr id="21" name="Rounded Rectangle 20"/>
          <p:cNvSpPr/>
          <p:nvPr/>
        </p:nvSpPr>
        <p:spPr>
          <a:xfrm>
            <a:off x="8078724" y="1257300"/>
            <a:ext cx="3547872" cy="1170432"/>
          </a:xfrm>
          <a:prstGeom prst="roundRect">
            <a:avLst/>
          </a:prstGeom>
          <a:solidFill>
            <a:srgbClr val="F1F5F9"/>
          </a:solidFill>
          <a:ln>
            <a:noFill/>
          </a:ln>
        </p:spPr>
        <p:txBody>
          <a:bodyPr rtlCol="0" anchor="ctr"/>
          <a:lstStyle/>
          <a:p>
            <a:pPr algn="ctr"/>
            <a:endParaRPr/>
          </a:p>
        </p:txBody>
      </p:sp>
      <p:sp>
        <p:nvSpPr>
          <p:cNvPr id="22" name="Rounded Rectangle 21"/>
          <p:cNvSpPr/>
          <p:nvPr/>
        </p:nvSpPr>
        <p:spPr>
          <a:xfrm>
            <a:off x="8055864" y="1225296"/>
            <a:ext cx="3547872" cy="1170432"/>
          </a:xfrm>
          <a:prstGeom prst="roundRect">
            <a:avLst/>
          </a:prstGeom>
          <a:solidFill>
            <a:srgbClr val="FFFFFF"/>
          </a:solidFill>
          <a:ln w="10160">
            <a:solidFill>
              <a:srgbClr val="CBD5E1"/>
            </a:solidFill>
          </a:ln>
        </p:spPr>
        <p:txBody>
          <a:bodyPr rtlCol="0" anchor="ctr"/>
          <a:lstStyle/>
          <a:p>
            <a:pPr algn="ctr"/>
            <a:endParaRPr/>
          </a:p>
        </p:txBody>
      </p:sp>
      <p:sp>
        <p:nvSpPr>
          <p:cNvPr id="23" name="Rectangle 22"/>
          <p:cNvSpPr/>
          <p:nvPr/>
        </p:nvSpPr>
        <p:spPr>
          <a:xfrm>
            <a:off x="8055864" y="1225296"/>
            <a:ext cx="54864" cy="1170432"/>
          </a:xfrm>
          <a:prstGeom prst="rect">
            <a:avLst/>
          </a:prstGeom>
          <a:solidFill>
            <a:srgbClr val="16A34A"/>
          </a:solidFill>
          <a:ln>
            <a:noFill/>
          </a:ln>
        </p:spPr>
        <p:txBody>
          <a:bodyPr rtlCol="0" anchor="ctr"/>
          <a:lstStyle/>
          <a:p>
            <a:pPr algn="ctr"/>
            <a:endParaRPr/>
          </a:p>
        </p:txBody>
      </p:sp>
      <p:sp>
        <p:nvSpPr>
          <p:cNvPr id="24" name="TextBox 23"/>
          <p:cNvSpPr txBox="1"/>
          <p:nvPr/>
        </p:nvSpPr>
        <p:spPr>
          <a:xfrm>
            <a:off x="8257032" y="1353312"/>
            <a:ext cx="3182112" cy="192024"/>
          </a:xfrm>
          <a:prstGeom prst="rect">
            <a:avLst/>
          </a:prstGeom>
          <a:noFill/>
        </p:spPr>
        <p:txBody>
          <a:bodyPr wrap="square" lIns="0" tIns="0" rIns="0" bIns="0" anchor="t">
            <a:spAutoFit/>
          </a:bodyPr>
          <a:lstStyle/>
          <a:p>
            <a:pPr algn="l">
              <a:spcBef>
                <a:spcPts val="0"/>
              </a:spcBef>
              <a:spcAft>
                <a:spcPts val="0"/>
              </a:spcAft>
            </a:pPr>
            <a:r>
              <a:rPr sz="850" b="1" i="0">
                <a:solidFill>
                  <a:srgbClr val="64748B"/>
                </a:solidFill>
                <a:latin typeface="Arial"/>
              </a:rPr>
              <a:t>MARBERTV2  /  UNSEEN TEST ACCURACY</a:t>
            </a:r>
          </a:p>
        </p:txBody>
      </p:sp>
      <p:sp>
        <p:nvSpPr>
          <p:cNvPr id="25" name="TextBox 24"/>
          <p:cNvSpPr txBox="1"/>
          <p:nvPr/>
        </p:nvSpPr>
        <p:spPr>
          <a:xfrm>
            <a:off x="8257032" y="1554480"/>
            <a:ext cx="3182112" cy="457200"/>
          </a:xfrm>
          <a:prstGeom prst="rect">
            <a:avLst/>
          </a:prstGeom>
          <a:noFill/>
        </p:spPr>
        <p:txBody>
          <a:bodyPr wrap="square" lIns="0" tIns="0" rIns="0" bIns="0" anchor="t">
            <a:spAutoFit/>
          </a:bodyPr>
          <a:lstStyle/>
          <a:p>
            <a:pPr algn="l">
              <a:spcBef>
                <a:spcPts val="0"/>
              </a:spcBef>
              <a:spcAft>
                <a:spcPts val="0"/>
              </a:spcAft>
            </a:pPr>
            <a:r>
              <a:rPr sz="2700" b="1" i="0">
                <a:solidFill>
                  <a:srgbClr val="16A34A"/>
                </a:solidFill>
                <a:latin typeface="Arial"/>
              </a:rPr>
              <a:t>92.25%</a:t>
            </a:r>
          </a:p>
        </p:txBody>
      </p:sp>
      <p:sp>
        <p:nvSpPr>
          <p:cNvPr id="26" name="TextBox 25"/>
          <p:cNvSpPr txBox="1"/>
          <p:nvPr/>
        </p:nvSpPr>
        <p:spPr>
          <a:xfrm>
            <a:off x="8257032" y="2148840"/>
            <a:ext cx="3182112" cy="146304"/>
          </a:xfrm>
          <a:prstGeom prst="rect">
            <a:avLst/>
          </a:prstGeom>
          <a:noFill/>
        </p:spPr>
        <p:txBody>
          <a:bodyPr wrap="square" lIns="0" tIns="0" rIns="0" bIns="0" anchor="t">
            <a:spAutoFit/>
          </a:bodyPr>
          <a:lstStyle/>
          <a:p>
            <a:pPr algn="l">
              <a:spcBef>
                <a:spcPts val="0"/>
              </a:spcBef>
              <a:spcAft>
                <a:spcPts val="0"/>
              </a:spcAft>
            </a:pPr>
            <a:r>
              <a:rPr sz="830" b="0" i="0">
                <a:solidFill>
                  <a:srgbClr val="64748B"/>
                </a:solidFill>
                <a:latin typeface="Arial"/>
              </a:rPr>
              <a:t>Macro F1: 92.24%</a:t>
            </a:r>
          </a:p>
        </p:txBody>
      </p:sp>
      <p:sp>
        <p:nvSpPr>
          <p:cNvPr id="27" name="Rectangle 26"/>
          <p:cNvSpPr/>
          <p:nvPr/>
        </p:nvSpPr>
        <p:spPr>
          <a:xfrm>
            <a:off x="594360" y="2615184"/>
            <a:ext cx="2331720" cy="420624"/>
          </a:xfrm>
          <a:prstGeom prst="rect">
            <a:avLst/>
          </a:prstGeom>
          <a:solidFill>
            <a:srgbClr val="0F172A"/>
          </a:solidFill>
          <a:ln w="10160">
            <a:solidFill>
              <a:srgbClr val="F8FAFC"/>
            </a:solidFill>
          </a:ln>
        </p:spPr>
        <p:txBody>
          <a:bodyPr rtlCol="0" anchor="ctr"/>
          <a:lstStyle/>
          <a:p>
            <a:pPr algn="ctr"/>
            <a:endParaRPr/>
          </a:p>
        </p:txBody>
      </p:sp>
      <p:sp>
        <p:nvSpPr>
          <p:cNvPr id="28" name="TextBox 27"/>
          <p:cNvSpPr txBox="1"/>
          <p:nvPr/>
        </p:nvSpPr>
        <p:spPr>
          <a:xfrm>
            <a:off x="630936" y="2633472"/>
            <a:ext cx="2258568" cy="384048"/>
          </a:xfrm>
          <a:prstGeom prst="rect">
            <a:avLst/>
          </a:prstGeom>
          <a:noFill/>
        </p:spPr>
        <p:txBody>
          <a:bodyPr wrap="square" lIns="9144" tIns="9144" rIns="9144" bIns="9144" anchor="ctr">
            <a:spAutoFit/>
          </a:bodyPr>
          <a:lstStyle/>
          <a:p>
            <a:pPr algn="l">
              <a:spcBef>
                <a:spcPts val="0"/>
              </a:spcBef>
              <a:spcAft>
                <a:spcPts val="0"/>
              </a:spcAft>
            </a:pPr>
            <a:r>
              <a:rPr sz="910" b="1" i="0">
                <a:solidFill>
                  <a:srgbClr val="F8FAFC"/>
                </a:solidFill>
                <a:latin typeface="Arial"/>
              </a:rPr>
              <a:t>Model Architecture</a:t>
            </a:r>
          </a:p>
        </p:txBody>
      </p:sp>
      <p:sp>
        <p:nvSpPr>
          <p:cNvPr id="29" name="Rectangle 28"/>
          <p:cNvSpPr/>
          <p:nvPr/>
        </p:nvSpPr>
        <p:spPr>
          <a:xfrm>
            <a:off x="2926079" y="2615184"/>
            <a:ext cx="2926080" cy="420624"/>
          </a:xfrm>
          <a:prstGeom prst="rect">
            <a:avLst/>
          </a:prstGeom>
          <a:solidFill>
            <a:srgbClr val="0F172A"/>
          </a:solidFill>
          <a:ln w="10160">
            <a:solidFill>
              <a:srgbClr val="F8FAFC"/>
            </a:solidFill>
          </a:ln>
        </p:spPr>
        <p:txBody>
          <a:bodyPr rtlCol="0" anchor="ctr"/>
          <a:lstStyle/>
          <a:p>
            <a:pPr algn="ctr"/>
            <a:endParaRPr/>
          </a:p>
        </p:txBody>
      </p:sp>
      <p:sp>
        <p:nvSpPr>
          <p:cNvPr id="30" name="TextBox 29"/>
          <p:cNvSpPr txBox="1"/>
          <p:nvPr/>
        </p:nvSpPr>
        <p:spPr>
          <a:xfrm>
            <a:off x="2962656" y="2633472"/>
            <a:ext cx="2852928" cy="384048"/>
          </a:xfrm>
          <a:prstGeom prst="rect">
            <a:avLst/>
          </a:prstGeom>
          <a:noFill/>
        </p:spPr>
        <p:txBody>
          <a:bodyPr wrap="square" lIns="9144" tIns="9144" rIns="9144" bIns="9144" anchor="ctr">
            <a:spAutoFit/>
          </a:bodyPr>
          <a:lstStyle/>
          <a:p>
            <a:pPr algn="ctr">
              <a:spcBef>
                <a:spcPts val="0"/>
              </a:spcBef>
              <a:spcAft>
                <a:spcPts val="0"/>
              </a:spcAft>
            </a:pPr>
            <a:r>
              <a:rPr sz="910" b="1" i="0">
                <a:solidFill>
                  <a:srgbClr val="F8FAFC"/>
                </a:solidFill>
                <a:latin typeface="Arial"/>
              </a:rPr>
              <a:t>Feature Type</a:t>
            </a:r>
          </a:p>
        </p:txBody>
      </p:sp>
      <p:sp>
        <p:nvSpPr>
          <p:cNvPr id="31" name="Rectangle 30"/>
          <p:cNvSpPr/>
          <p:nvPr/>
        </p:nvSpPr>
        <p:spPr>
          <a:xfrm>
            <a:off x="5852160" y="2615184"/>
            <a:ext cx="1828800" cy="420624"/>
          </a:xfrm>
          <a:prstGeom prst="rect">
            <a:avLst/>
          </a:prstGeom>
          <a:solidFill>
            <a:srgbClr val="0F172A"/>
          </a:solidFill>
          <a:ln w="10160">
            <a:solidFill>
              <a:srgbClr val="F8FAFC"/>
            </a:solidFill>
          </a:ln>
        </p:spPr>
        <p:txBody>
          <a:bodyPr rtlCol="0" anchor="ctr"/>
          <a:lstStyle/>
          <a:p>
            <a:pPr algn="ctr"/>
            <a:endParaRPr/>
          </a:p>
        </p:txBody>
      </p:sp>
      <p:sp>
        <p:nvSpPr>
          <p:cNvPr id="32" name="TextBox 31"/>
          <p:cNvSpPr txBox="1"/>
          <p:nvPr/>
        </p:nvSpPr>
        <p:spPr>
          <a:xfrm>
            <a:off x="5888736" y="2633472"/>
            <a:ext cx="1755648" cy="384048"/>
          </a:xfrm>
          <a:prstGeom prst="rect">
            <a:avLst/>
          </a:prstGeom>
          <a:noFill/>
        </p:spPr>
        <p:txBody>
          <a:bodyPr wrap="square" lIns="9144" tIns="9144" rIns="9144" bIns="9144" anchor="ctr">
            <a:spAutoFit/>
          </a:bodyPr>
          <a:lstStyle/>
          <a:p>
            <a:pPr algn="ctr">
              <a:spcBef>
                <a:spcPts val="0"/>
              </a:spcBef>
              <a:spcAft>
                <a:spcPts val="0"/>
              </a:spcAft>
            </a:pPr>
            <a:r>
              <a:rPr sz="910" b="1" i="0">
                <a:solidFill>
                  <a:srgbClr val="F8FAFC"/>
                </a:solidFill>
                <a:latin typeface="Arial"/>
              </a:rPr>
              <a:t>Val Accuracy</a:t>
            </a:r>
          </a:p>
        </p:txBody>
      </p:sp>
      <p:sp>
        <p:nvSpPr>
          <p:cNvPr id="33" name="Rectangle 32"/>
          <p:cNvSpPr/>
          <p:nvPr/>
        </p:nvSpPr>
        <p:spPr>
          <a:xfrm>
            <a:off x="7680960" y="2615184"/>
            <a:ext cx="1965960" cy="420624"/>
          </a:xfrm>
          <a:prstGeom prst="rect">
            <a:avLst/>
          </a:prstGeom>
          <a:solidFill>
            <a:srgbClr val="0F172A"/>
          </a:solidFill>
          <a:ln w="10160">
            <a:solidFill>
              <a:srgbClr val="F8FAFC"/>
            </a:solidFill>
          </a:ln>
        </p:spPr>
        <p:txBody>
          <a:bodyPr rtlCol="0" anchor="ctr"/>
          <a:lstStyle/>
          <a:p>
            <a:pPr algn="ctr"/>
            <a:endParaRPr/>
          </a:p>
        </p:txBody>
      </p:sp>
      <p:sp>
        <p:nvSpPr>
          <p:cNvPr id="34" name="TextBox 33"/>
          <p:cNvSpPr txBox="1"/>
          <p:nvPr/>
        </p:nvSpPr>
        <p:spPr>
          <a:xfrm>
            <a:off x="7717536" y="2633472"/>
            <a:ext cx="1892807" cy="384048"/>
          </a:xfrm>
          <a:prstGeom prst="rect">
            <a:avLst/>
          </a:prstGeom>
          <a:noFill/>
        </p:spPr>
        <p:txBody>
          <a:bodyPr wrap="square" lIns="9144" tIns="9144" rIns="9144" bIns="9144" anchor="ctr">
            <a:spAutoFit/>
          </a:bodyPr>
          <a:lstStyle/>
          <a:p>
            <a:pPr algn="ctr">
              <a:spcBef>
                <a:spcPts val="0"/>
              </a:spcBef>
              <a:spcAft>
                <a:spcPts val="0"/>
              </a:spcAft>
            </a:pPr>
            <a:r>
              <a:rPr sz="910" b="1" i="0">
                <a:solidFill>
                  <a:srgbClr val="F8FAFC"/>
                </a:solidFill>
                <a:latin typeface="Arial"/>
              </a:rPr>
              <a:t>Test Accuracy</a:t>
            </a:r>
          </a:p>
        </p:txBody>
      </p:sp>
      <p:sp>
        <p:nvSpPr>
          <p:cNvPr id="35" name="Rectangle 34"/>
          <p:cNvSpPr/>
          <p:nvPr/>
        </p:nvSpPr>
        <p:spPr>
          <a:xfrm>
            <a:off x="9646920" y="2615184"/>
            <a:ext cx="1947672" cy="420624"/>
          </a:xfrm>
          <a:prstGeom prst="rect">
            <a:avLst/>
          </a:prstGeom>
          <a:solidFill>
            <a:srgbClr val="0F172A"/>
          </a:solidFill>
          <a:ln w="10160">
            <a:solidFill>
              <a:srgbClr val="F8FAFC"/>
            </a:solidFill>
          </a:ln>
        </p:spPr>
        <p:txBody>
          <a:bodyPr rtlCol="0" anchor="ctr"/>
          <a:lstStyle/>
          <a:p>
            <a:pPr algn="ctr"/>
            <a:endParaRPr/>
          </a:p>
        </p:txBody>
      </p:sp>
      <p:sp>
        <p:nvSpPr>
          <p:cNvPr id="36" name="TextBox 35"/>
          <p:cNvSpPr txBox="1"/>
          <p:nvPr/>
        </p:nvSpPr>
        <p:spPr>
          <a:xfrm>
            <a:off x="9683496" y="2633472"/>
            <a:ext cx="1874519" cy="384048"/>
          </a:xfrm>
          <a:prstGeom prst="rect">
            <a:avLst/>
          </a:prstGeom>
          <a:noFill/>
        </p:spPr>
        <p:txBody>
          <a:bodyPr wrap="square" lIns="9144" tIns="9144" rIns="9144" bIns="9144" anchor="ctr">
            <a:spAutoFit/>
          </a:bodyPr>
          <a:lstStyle/>
          <a:p>
            <a:pPr algn="ctr">
              <a:spcBef>
                <a:spcPts val="0"/>
              </a:spcBef>
              <a:spcAft>
                <a:spcPts val="0"/>
              </a:spcAft>
            </a:pPr>
            <a:r>
              <a:rPr sz="910" b="1" i="0">
                <a:solidFill>
                  <a:srgbClr val="F8FAFC"/>
                </a:solidFill>
                <a:latin typeface="Arial"/>
              </a:rPr>
              <a:t>Test Macro F1</a:t>
            </a:r>
          </a:p>
        </p:txBody>
      </p:sp>
      <p:sp>
        <p:nvSpPr>
          <p:cNvPr id="37" name="Rectangle 36"/>
          <p:cNvSpPr/>
          <p:nvPr/>
        </p:nvSpPr>
        <p:spPr>
          <a:xfrm>
            <a:off x="594360" y="3035808"/>
            <a:ext cx="2331720" cy="429768"/>
          </a:xfrm>
          <a:prstGeom prst="rect">
            <a:avLst/>
          </a:prstGeom>
          <a:solidFill>
            <a:srgbClr val="FFFFFF"/>
          </a:solidFill>
          <a:ln w="10160">
            <a:solidFill>
              <a:srgbClr val="CBD5E1"/>
            </a:solidFill>
          </a:ln>
        </p:spPr>
        <p:txBody>
          <a:bodyPr rtlCol="0" anchor="ctr"/>
          <a:lstStyle/>
          <a:p>
            <a:pPr algn="ctr"/>
            <a:endParaRPr/>
          </a:p>
        </p:txBody>
      </p:sp>
      <p:sp>
        <p:nvSpPr>
          <p:cNvPr id="38" name="TextBox 37"/>
          <p:cNvSpPr txBox="1"/>
          <p:nvPr/>
        </p:nvSpPr>
        <p:spPr>
          <a:xfrm>
            <a:off x="630936" y="3044951"/>
            <a:ext cx="2258568" cy="411479"/>
          </a:xfrm>
          <a:prstGeom prst="rect">
            <a:avLst/>
          </a:prstGeom>
          <a:noFill/>
        </p:spPr>
        <p:txBody>
          <a:bodyPr wrap="square" lIns="9144" tIns="9144" rIns="9144" bIns="9144" anchor="ctr">
            <a:spAutoFit/>
          </a:bodyPr>
          <a:lstStyle/>
          <a:p>
            <a:pPr algn="l">
              <a:spcBef>
                <a:spcPts val="0"/>
              </a:spcBef>
              <a:spcAft>
                <a:spcPts val="0"/>
              </a:spcAft>
            </a:pPr>
            <a:r>
              <a:rPr sz="1000" b="1" i="0">
                <a:solidFill>
                  <a:srgbClr val="1E293B"/>
                </a:solidFill>
                <a:latin typeface="Arial"/>
              </a:rPr>
              <a:t>Logistic Regression</a:t>
            </a:r>
          </a:p>
        </p:txBody>
      </p:sp>
      <p:sp>
        <p:nvSpPr>
          <p:cNvPr id="39" name="Rectangle 38"/>
          <p:cNvSpPr/>
          <p:nvPr/>
        </p:nvSpPr>
        <p:spPr>
          <a:xfrm>
            <a:off x="2926079" y="3035808"/>
            <a:ext cx="2926080" cy="429768"/>
          </a:xfrm>
          <a:prstGeom prst="rect">
            <a:avLst/>
          </a:prstGeom>
          <a:solidFill>
            <a:srgbClr val="FFFFFF"/>
          </a:solidFill>
          <a:ln w="10160">
            <a:solidFill>
              <a:srgbClr val="CBD5E1"/>
            </a:solidFill>
          </a:ln>
        </p:spPr>
        <p:txBody>
          <a:bodyPr rtlCol="0" anchor="ctr"/>
          <a:lstStyle/>
          <a:p>
            <a:pPr algn="ctr"/>
            <a:endParaRPr/>
          </a:p>
        </p:txBody>
      </p:sp>
      <p:sp>
        <p:nvSpPr>
          <p:cNvPr id="40" name="TextBox 39"/>
          <p:cNvSpPr txBox="1"/>
          <p:nvPr/>
        </p:nvSpPr>
        <p:spPr>
          <a:xfrm>
            <a:off x="2962656" y="3044951"/>
            <a:ext cx="2852928" cy="411479"/>
          </a:xfrm>
          <a:prstGeom prst="rect">
            <a:avLst/>
          </a:prstGeom>
          <a:noFill/>
        </p:spPr>
        <p:txBody>
          <a:bodyPr wrap="square" lIns="9144" tIns="9144" rIns="9144" bIns="9144" anchor="ctr">
            <a:spAutoFit/>
          </a:bodyPr>
          <a:lstStyle/>
          <a:p>
            <a:pPr algn="l">
              <a:spcBef>
                <a:spcPts val="0"/>
              </a:spcBef>
              <a:spcAft>
                <a:spcPts val="0"/>
              </a:spcAft>
            </a:pPr>
            <a:r>
              <a:rPr sz="1000" b="0" i="0">
                <a:solidFill>
                  <a:srgbClr val="1E293B"/>
                </a:solidFill>
                <a:latin typeface="Arial"/>
              </a:rPr>
              <a:t>Hybrid TF-IDF (150k)</a:t>
            </a:r>
          </a:p>
        </p:txBody>
      </p:sp>
      <p:sp>
        <p:nvSpPr>
          <p:cNvPr id="41" name="Rectangle 40"/>
          <p:cNvSpPr/>
          <p:nvPr/>
        </p:nvSpPr>
        <p:spPr>
          <a:xfrm>
            <a:off x="5852160" y="3035808"/>
            <a:ext cx="1828800" cy="429768"/>
          </a:xfrm>
          <a:prstGeom prst="rect">
            <a:avLst/>
          </a:prstGeom>
          <a:solidFill>
            <a:srgbClr val="FFFFFF"/>
          </a:solidFill>
          <a:ln w="10160">
            <a:solidFill>
              <a:srgbClr val="CBD5E1"/>
            </a:solidFill>
          </a:ln>
        </p:spPr>
        <p:txBody>
          <a:bodyPr rtlCol="0" anchor="ctr"/>
          <a:lstStyle/>
          <a:p>
            <a:pPr algn="ctr"/>
            <a:endParaRPr/>
          </a:p>
        </p:txBody>
      </p:sp>
      <p:sp>
        <p:nvSpPr>
          <p:cNvPr id="42" name="TextBox 41"/>
          <p:cNvSpPr txBox="1"/>
          <p:nvPr/>
        </p:nvSpPr>
        <p:spPr>
          <a:xfrm>
            <a:off x="5888736" y="3044951"/>
            <a:ext cx="1755648" cy="411479"/>
          </a:xfrm>
          <a:prstGeom prst="rect">
            <a:avLst/>
          </a:prstGeom>
          <a:noFill/>
        </p:spPr>
        <p:txBody>
          <a:bodyPr wrap="square" lIns="9144" tIns="9144" rIns="9144" bIns="9144" anchor="ctr">
            <a:spAutoFit/>
          </a:bodyPr>
          <a:lstStyle/>
          <a:p>
            <a:pPr algn="ctr">
              <a:spcBef>
                <a:spcPts val="0"/>
              </a:spcBef>
              <a:spcAft>
                <a:spcPts val="0"/>
              </a:spcAft>
            </a:pPr>
            <a:r>
              <a:rPr sz="1000" b="0" i="0">
                <a:solidFill>
                  <a:srgbClr val="1E293B"/>
                </a:solidFill>
                <a:latin typeface="Arial"/>
              </a:rPr>
              <a:t>89.37%</a:t>
            </a:r>
          </a:p>
        </p:txBody>
      </p:sp>
      <p:sp>
        <p:nvSpPr>
          <p:cNvPr id="43" name="Rectangle 42"/>
          <p:cNvSpPr/>
          <p:nvPr/>
        </p:nvSpPr>
        <p:spPr>
          <a:xfrm>
            <a:off x="7680960" y="3035808"/>
            <a:ext cx="1965960" cy="429768"/>
          </a:xfrm>
          <a:prstGeom prst="rect">
            <a:avLst/>
          </a:prstGeom>
          <a:solidFill>
            <a:srgbClr val="FFFFFF"/>
          </a:solidFill>
          <a:ln w="10160">
            <a:solidFill>
              <a:srgbClr val="CBD5E1"/>
            </a:solidFill>
          </a:ln>
        </p:spPr>
        <p:txBody>
          <a:bodyPr rtlCol="0" anchor="ctr"/>
          <a:lstStyle/>
          <a:p>
            <a:pPr algn="ctr"/>
            <a:endParaRPr/>
          </a:p>
        </p:txBody>
      </p:sp>
      <p:sp>
        <p:nvSpPr>
          <p:cNvPr id="44" name="TextBox 43"/>
          <p:cNvSpPr txBox="1"/>
          <p:nvPr/>
        </p:nvSpPr>
        <p:spPr>
          <a:xfrm>
            <a:off x="7717536" y="3044951"/>
            <a:ext cx="1892807" cy="411479"/>
          </a:xfrm>
          <a:prstGeom prst="rect">
            <a:avLst/>
          </a:prstGeom>
          <a:noFill/>
        </p:spPr>
        <p:txBody>
          <a:bodyPr wrap="square" lIns="9144" tIns="9144" rIns="9144" bIns="9144" anchor="ctr">
            <a:spAutoFit/>
          </a:bodyPr>
          <a:lstStyle/>
          <a:p>
            <a:pPr algn="ctr">
              <a:spcBef>
                <a:spcPts val="0"/>
              </a:spcBef>
              <a:spcAft>
                <a:spcPts val="0"/>
              </a:spcAft>
            </a:pPr>
            <a:r>
              <a:rPr sz="1000" b="0" i="0">
                <a:solidFill>
                  <a:srgbClr val="1E293B"/>
                </a:solidFill>
                <a:latin typeface="Arial"/>
              </a:rPr>
              <a:t>89.70%</a:t>
            </a:r>
          </a:p>
        </p:txBody>
      </p:sp>
      <p:sp>
        <p:nvSpPr>
          <p:cNvPr id="45" name="Rectangle 44"/>
          <p:cNvSpPr/>
          <p:nvPr/>
        </p:nvSpPr>
        <p:spPr>
          <a:xfrm>
            <a:off x="9646920" y="3035808"/>
            <a:ext cx="1947672" cy="429768"/>
          </a:xfrm>
          <a:prstGeom prst="rect">
            <a:avLst/>
          </a:prstGeom>
          <a:solidFill>
            <a:srgbClr val="FFFFFF"/>
          </a:solidFill>
          <a:ln w="10160">
            <a:solidFill>
              <a:srgbClr val="CBD5E1"/>
            </a:solidFill>
          </a:ln>
        </p:spPr>
        <p:txBody>
          <a:bodyPr rtlCol="0" anchor="ctr"/>
          <a:lstStyle/>
          <a:p>
            <a:pPr algn="ctr"/>
            <a:endParaRPr/>
          </a:p>
        </p:txBody>
      </p:sp>
      <p:sp>
        <p:nvSpPr>
          <p:cNvPr id="46" name="TextBox 45"/>
          <p:cNvSpPr txBox="1"/>
          <p:nvPr/>
        </p:nvSpPr>
        <p:spPr>
          <a:xfrm>
            <a:off x="9683496" y="3044951"/>
            <a:ext cx="1874519" cy="411479"/>
          </a:xfrm>
          <a:prstGeom prst="rect">
            <a:avLst/>
          </a:prstGeom>
          <a:noFill/>
        </p:spPr>
        <p:txBody>
          <a:bodyPr wrap="square" lIns="9144" tIns="9144" rIns="9144" bIns="9144" anchor="ctr">
            <a:spAutoFit/>
          </a:bodyPr>
          <a:lstStyle/>
          <a:p>
            <a:pPr algn="ctr">
              <a:spcBef>
                <a:spcPts val="0"/>
              </a:spcBef>
              <a:spcAft>
                <a:spcPts val="0"/>
              </a:spcAft>
            </a:pPr>
            <a:r>
              <a:rPr sz="1000" b="0" i="0">
                <a:solidFill>
                  <a:srgbClr val="1E293B"/>
                </a:solidFill>
                <a:latin typeface="Arial"/>
              </a:rPr>
              <a:t>89.70%</a:t>
            </a:r>
          </a:p>
        </p:txBody>
      </p:sp>
      <p:sp>
        <p:nvSpPr>
          <p:cNvPr id="47" name="Rectangle 46"/>
          <p:cNvSpPr/>
          <p:nvPr/>
        </p:nvSpPr>
        <p:spPr>
          <a:xfrm>
            <a:off x="594360" y="3465576"/>
            <a:ext cx="2331720" cy="429768"/>
          </a:xfrm>
          <a:prstGeom prst="rect">
            <a:avLst/>
          </a:prstGeom>
          <a:solidFill>
            <a:srgbClr val="F8FAFC"/>
          </a:solidFill>
          <a:ln w="10160">
            <a:solidFill>
              <a:srgbClr val="CBD5E1"/>
            </a:solidFill>
          </a:ln>
        </p:spPr>
        <p:txBody>
          <a:bodyPr rtlCol="0" anchor="ctr"/>
          <a:lstStyle/>
          <a:p>
            <a:pPr algn="ctr"/>
            <a:endParaRPr/>
          </a:p>
        </p:txBody>
      </p:sp>
      <p:sp>
        <p:nvSpPr>
          <p:cNvPr id="48" name="TextBox 47"/>
          <p:cNvSpPr txBox="1"/>
          <p:nvPr/>
        </p:nvSpPr>
        <p:spPr>
          <a:xfrm>
            <a:off x="630936" y="3474720"/>
            <a:ext cx="2258568" cy="411479"/>
          </a:xfrm>
          <a:prstGeom prst="rect">
            <a:avLst/>
          </a:prstGeom>
          <a:noFill/>
        </p:spPr>
        <p:txBody>
          <a:bodyPr wrap="square" lIns="9144" tIns="9144" rIns="9144" bIns="9144" anchor="ctr">
            <a:spAutoFit/>
          </a:bodyPr>
          <a:lstStyle/>
          <a:p>
            <a:pPr algn="l">
              <a:spcBef>
                <a:spcPts val="0"/>
              </a:spcBef>
              <a:spcAft>
                <a:spcPts val="0"/>
              </a:spcAft>
            </a:pPr>
            <a:r>
              <a:rPr sz="1000" b="1" i="0">
                <a:solidFill>
                  <a:srgbClr val="1E293B"/>
                </a:solidFill>
                <a:latin typeface="Arial"/>
              </a:rPr>
              <a:t>SGD Classifier</a:t>
            </a:r>
          </a:p>
        </p:txBody>
      </p:sp>
      <p:sp>
        <p:nvSpPr>
          <p:cNvPr id="49" name="Rectangle 48"/>
          <p:cNvSpPr/>
          <p:nvPr/>
        </p:nvSpPr>
        <p:spPr>
          <a:xfrm>
            <a:off x="2926079" y="3465576"/>
            <a:ext cx="2926080" cy="429768"/>
          </a:xfrm>
          <a:prstGeom prst="rect">
            <a:avLst/>
          </a:prstGeom>
          <a:solidFill>
            <a:srgbClr val="F8FAFC"/>
          </a:solidFill>
          <a:ln w="10160">
            <a:solidFill>
              <a:srgbClr val="CBD5E1"/>
            </a:solidFill>
          </a:ln>
        </p:spPr>
        <p:txBody>
          <a:bodyPr rtlCol="0" anchor="ctr"/>
          <a:lstStyle/>
          <a:p>
            <a:pPr algn="ctr"/>
            <a:endParaRPr/>
          </a:p>
        </p:txBody>
      </p:sp>
      <p:sp>
        <p:nvSpPr>
          <p:cNvPr id="50" name="TextBox 49"/>
          <p:cNvSpPr txBox="1"/>
          <p:nvPr/>
        </p:nvSpPr>
        <p:spPr>
          <a:xfrm>
            <a:off x="2962656" y="3474720"/>
            <a:ext cx="2852928" cy="411479"/>
          </a:xfrm>
          <a:prstGeom prst="rect">
            <a:avLst/>
          </a:prstGeom>
          <a:noFill/>
        </p:spPr>
        <p:txBody>
          <a:bodyPr wrap="square" lIns="9144" tIns="9144" rIns="9144" bIns="9144" anchor="ctr">
            <a:spAutoFit/>
          </a:bodyPr>
          <a:lstStyle/>
          <a:p>
            <a:pPr algn="l">
              <a:spcBef>
                <a:spcPts val="0"/>
              </a:spcBef>
              <a:spcAft>
                <a:spcPts val="0"/>
              </a:spcAft>
            </a:pPr>
            <a:r>
              <a:rPr sz="1000" b="0" i="0">
                <a:solidFill>
                  <a:srgbClr val="1E293B"/>
                </a:solidFill>
                <a:latin typeface="Arial"/>
              </a:rPr>
              <a:t>Hybrid TF-IDF (150k)</a:t>
            </a:r>
          </a:p>
        </p:txBody>
      </p:sp>
      <p:sp>
        <p:nvSpPr>
          <p:cNvPr id="51" name="Rectangle 50"/>
          <p:cNvSpPr/>
          <p:nvPr/>
        </p:nvSpPr>
        <p:spPr>
          <a:xfrm>
            <a:off x="5852160" y="3465576"/>
            <a:ext cx="1828800" cy="429768"/>
          </a:xfrm>
          <a:prstGeom prst="rect">
            <a:avLst/>
          </a:prstGeom>
          <a:solidFill>
            <a:srgbClr val="F8FAFC"/>
          </a:solidFill>
          <a:ln w="10160">
            <a:solidFill>
              <a:srgbClr val="CBD5E1"/>
            </a:solidFill>
          </a:ln>
        </p:spPr>
        <p:txBody>
          <a:bodyPr rtlCol="0" anchor="ctr"/>
          <a:lstStyle/>
          <a:p>
            <a:pPr algn="ctr"/>
            <a:endParaRPr/>
          </a:p>
        </p:txBody>
      </p:sp>
      <p:sp>
        <p:nvSpPr>
          <p:cNvPr id="52" name="TextBox 51"/>
          <p:cNvSpPr txBox="1"/>
          <p:nvPr/>
        </p:nvSpPr>
        <p:spPr>
          <a:xfrm>
            <a:off x="5888736" y="3474720"/>
            <a:ext cx="1755648" cy="411479"/>
          </a:xfrm>
          <a:prstGeom prst="rect">
            <a:avLst/>
          </a:prstGeom>
          <a:noFill/>
        </p:spPr>
        <p:txBody>
          <a:bodyPr wrap="square" lIns="9144" tIns="9144" rIns="9144" bIns="9144" anchor="ctr">
            <a:spAutoFit/>
          </a:bodyPr>
          <a:lstStyle/>
          <a:p>
            <a:pPr algn="ctr">
              <a:spcBef>
                <a:spcPts val="0"/>
              </a:spcBef>
              <a:spcAft>
                <a:spcPts val="0"/>
              </a:spcAft>
            </a:pPr>
            <a:r>
              <a:rPr sz="1000" b="0" i="0">
                <a:solidFill>
                  <a:srgbClr val="1E293B"/>
                </a:solidFill>
                <a:latin typeface="Arial"/>
              </a:rPr>
              <a:t>89.90%</a:t>
            </a:r>
          </a:p>
        </p:txBody>
      </p:sp>
      <p:sp>
        <p:nvSpPr>
          <p:cNvPr id="53" name="Rectangle 52"/>
          <p:cNvSpPr/>
          <p:nvPr/>
        </p:nvSpPr>
        <p:spPr>
          <a:xfrm>
            <a:off x="7680960" y="3465576"/>
            <a:ext cx="1965960" cy="429768"/>
          </a:xfrm>
          <a:prstGeom prst="rect">
            <a:avLst/>
          </a:prstGeom>
          <a:solidFill>
            <a:srgbClr val="F8FAFC"/>
          </a:solidFill>
          <a:ln w="10160">
            <a:solidFill>
              <a:srgbClr val="CBD5E1"/>
            </a:solidFill>
          </a:ln>
        </p:spPr>
        <p:txBody>
          <a:bodyPr rtlCol="0" anchor="ctr"/>
          <a:lstStyle/>
          <a:p>
            <a:pPr algn="ctr"/>
            <a:endParaRPr/>
          </a:p>
        </p:txBody>
      </p:sp>
      <p:sp>
        <p:nvSpPr>
          <p:cNvPr id="54" name="TextBox 53"/>
          <p:cNvSpPr txBox="1"/>
          <p:nvPr/>
        </p:nvSpPr>
        <p:spPr>
          <a:xfrm>
            <a:off x="7717536" y="3474720"/>
            <a:ext cx="1892807" cy="411479"/>
          </a:xfrm>
          <a:prstGeom prst="rect">
            <a:avLst/>
          </a:prstGeom>
          <a:noFill/>
        </p:spPr>
        <p:txBody>
          <a:bodyPr wrap="square" lIns="9144" tIns="9144" rIns="9144" bIns="9144" anchor="ctr">
            <a:spAutoFit/>
          </a:bodyPr>
          <a:lstStyle/>
          <a:p>
            <a:pPr algn="ctr">
              <a:spcBef>
                <a:spcPts val="0"/>
              </a:spcBef>
              <a:spcAft>
                <a:spcPts val="0"/>
              </a:spcAft>
            </a:pPr>
            <a:r>
              <a:rPr sz="1000" b="0" i="0">
                <a:solidFill>
                  <a:srgbClr val="1E293B"/>
                </a:solidFill>
                <a:latin typeface="Arial"/>
              </a:rPr>
              <a:t>90.20%</a:t>
            </a:r>
          </a:p>
        </p:txBody>
      </p:sp>
      <p:sp>
        <p:nvSpPr>
          <p:cNvPr id="55" name="Rectangle 54"/>
          <p:cNvSpPr/>
          <p:nvPr/>
        </p:nvSpPr>
        <p:spPr>
          <a:xfrm>
            <a:off x="9646920" y="3465576"/>
            <a:ext cx="1947672" cy="429768"/>
          </a:xfrm>
          <a:prstGeom prst="rect">
            <a:avLst/>
          </a:prstGeom>
          <a:solidFill>
            <a:srgbClr val="F8FAFC"/>
          </a:solidFill>
          <a:ln w="10160">
            <a:solidFill>
              <a:srgbClr val="CBD5E1"/>
            </a:solidFill>
          </a:ln>
        </p:spPr>
        <p:txBody>
          <a:bodyPr rtlCol="0" anchor="ctr"/>
          <a:lstStyle/>
          <a:p>
            <a:pPr algn="ctr"/>
            <a:endParaRPr/>
          </a:p>
        </p:txBody>
      </p:sp>
      <p:sp>
        <p:nvSpPr>
          <p:cNvPr id="56" name="TextBox 55"/>
          <p:cNvSpPr txBox="1"/>
          <p:nvPr/>
        </p:nvSpPr>
        <p:spPr>
          <a:xfrm>
            <a:off x="9683496" y="3474720"/>
            <a:ext cx="1874519" cy="411479"/>
          </a:xfrm>
          <a:prstGeom prst="rect">
            <a:avLst/>
          </a:prstGeom>
          <a:noFill/>
        </p:spPr>
        <p:txBody>
          <a:bodyPr wrap="square" lIns="9144" tIns="9144" rIns="9144" bIns="9144" anchor="ctr">
            <a:spAutoFit/>
          </a:bodyPr>
          <a:lstStyle/>
          <a:p>
            <a:pPr algn="ctr">
              <a:spcBef>
                <a:spcPts val="0"/>
              </a:spcBef>
              <a:spcAft>
                <a:spcPts val="0"/>
              </a:spcAft>
            </a:pPr>
            <a:r>
              <a:rPr sz="1000" b="0" i="0">
                <a:solidFill>
                  <a:srgbClr val="1E293B"/>
                </a:solidFill>
                <a:latin typeface="Arial"/>
              </a:rPr>
              <a:t>90.20%</a:t>
            </a:r>
          </a:p>
        </p:txBody>
      </p:sp>
      <p:sp>
        <p:nvSpPr>
          <p:cNvPr id="57" name="Rectangle 56"/>
          <p:cNvSpPr/>
          <p:nvPr/>
        </p:nvSpPr>
        <p:spPr>
          <a:xfrm>
            <a:off x="594360" y="3895344"/>
            <a:ext cx="2331720" cy="429768"/>
          </a:xfrm>
          <a:prstGeom prst="rect">
            <a:avLst/>
          </a:prstGeom>
          <a:solidFill>
            <a:srgbClr val="FFFFFF"/>
          </a:solidFill>
          <a:ln w="10160">
            <a:solidFill>
              <a:srgbClr val="CBD5E1"/>
            </a:solidFill>
          </a:ln>
        </p:spPr>
        <p:txBody>
          <a:bodyPr rtlCol="0" anchor="ctr"/>
          <a:lstStyle/>
          <a:p>
            <a:pPr algn="ctr"/>
            <a:endParaRPr/>
          </a:p>
        </p:txBody>
      </p:sp>
      <p:sp>
        <p:nvSpPr>
          <p:cNvPr id="58" name="TextBox 57"/>
          <p:cNvSpPr txBox="1"/>
          <p:nvPr/>
        </p:nvSpPr>
        <p:spPr>
          <a:xfrm>
            <a:off x="630936" y="3904487"/>
            <a:ext cx="2258568" cy="411479"/>
          </a:xfrm>
          <a:prstGeom prst="rect">
            <a:avLst/>
          </a:prstGeom>
          <a:noFill/>
        </p:spPr>
        <p:txBody>
          <a:bodyPr wrap="square" lIns="9144" tIns="9144" rIns="9144" bIns="9144" anchor="ctr">
            <a:spAutoFit/>
          </a:bodyPr>
          <a:lstStyle/>
          <a:p>
            <a:pPr algn="l">
              <a:spcBef>
                <a:spcPts val="0"/>
              </a:spcBef>
              <a:spcAft>
                <a:spcPts val="0"/>
              </a:spcAft>
            </a:pPr>
            <a:r>
              <a:rPr sz="1000" b="1" i="0">
                <a:solidFill>
                  <a:srgbClr val="1E293B"/>
                </a:solidFill>
                <a:latin typeface="Arial"/>
              </a:rPr>
              <a:t>Multinomial Naive Bayes</a:t>
            </a:r>
          </a:p>
        </p:txBody>
      </p:sp>
      <p:sp>
        <p:nvSpPr>
          <p:cNvPr id="59" name="Rectangle 58"/>
          <p:cNvSpPr/>
          <p:nvPr/>
        </p:nvSpPr>
        <p:spPr>
          <a:xfrm>
            <a:off x="2926079" y="3895344"/>
            <a:ext cx="2926080" cy="429768"/>
          </a:xfrm>
          <a:prstGeom prst="rect">
            <a:avLst/>
          </a:prstGeom>
          <a:solidFill>
            <a:srgbClr val="FFFFFF"/>
          </a:solidFill>
          <a:ln w="10160">
            <a:solidFill>
              <a:srgbClr val="CBD5E1"/>
            </a:solidFill>
          </a:ln>
        </p:spPr>
        <p:txBody>
          <a:bodyPr rtlCol="0" anchor="ctr"/>
          <a:lstStyle/>
          <a:p>
            <a:pPr algn="ctr"/>
            <a:endParaRPr/>
          </a:p>
        </p:txBody>
      </p:sp>
      <p:sp>
        <p:nvSpPr>
          <p:cNvPr id="60" name="TextBox 59"/>
          <p:cNvSpPr txBox="1"/>
          <p:nvPr/>
        </p:nvSpPr>
        <p:spPr>
          <a:xfrm>
            <a:off x="2962656" y="3904487"/>
            <a:ext cx="2852928" cy="411479"/>
          </a:xfrm>
          <a:prstGeom prst="rect">
            <a:avLst/>
          </a:prstGeom>
          <a:noFill/>
        </p:spPr>
        <p:txBody>
          <a:bodyPr wrap="square" lIns="9144" tIns="9144" rIns="9144" bIns="9144" anchor="ctr">
            <a:spAutoFit/>
          </a:bodyPr>
          <a:lstStyle/>
          <a:p>
            <a:pPr algn="l">
              <a:spcBef>
                <a:spcPts val="0"/>
              </a:spcBef>
              <a:spcAft>
                <a:spcPts val="0"/>
              </a:spcAft>
            </a:pPr>
            <a:r>
              <a:rPr sz="1000" b="0" i="0">
                <a:solidFill>
                  <a:srgbClr val="1E293B"/>
                </a:solidFill>
                <a:latin typeface="Arial"/>
              </a:rPr>
              <a:t>Hybrid TF-IDF (150k)</a:t>
            </a:r>
          </a:p>
        </p:txBody>
      </p:sp>
      <p:sp>
        <p:nvSpPr>
          <p:cNvPr id="61" name="Rectangle 60"/>
          <p:cNvSpPr/>
          <p:nvPr/>
        </p:nvSpPr>
        <p:spPr>
          <a:xfrm>
            <a:off x="5852160" y="3895344"/>
            <a:ext cx="1828800" cy="429768"/>
          </a:xfrm>
          <a:prstGeom prst="rect">
            <a:avLst/>
          </a:prstGeom>
          <a:solidFill>
            <a:srgbClr val="FFFFFF"/>
          </a:solidFill>
          <a:ln w="10160">
            <a:solidFill>
              <a:srgbClr val="CBD5E1"/>
            </a:solidFill>
          </a:ln>
        </p:spPr>
        <p:txBody>
          <a:bodyPr rtlCol="0" anchor="ctr"/>
          <a:lstStyle/>
          <a:p>
            <a:pPr algn="ctr"/>
            <a:endParaRPr/>
          </a:p>
        </p:txBody>
      </p:sp>
      <p:sp>
        <p:nvSpPr>
          <p:cNvPr id="62" name="TextBox 61"/>
          <p:cNvSpPr txBox="1"/>
          <p:nvPr/>
        </p:nvSpPr>
        <p:spPr>
          <a:xfrm>
            <a:off x="5888736" y="3904487"/>
            <a:ext cx="1755648" cy="411479"/>
          </a:xfrm>
          <a:prstGeom prst="rect">
            <a:avLst/>
          </a:prstGeom>
          <a:noFill/>
        </p:spPr>
        <p:txBody>
          <a:bodyPr wrap="square" lIns="9144" tIns="9144" rIns="9144" bIns="9144" anchor="ctr">
            <a:spAutoFit/>
          </a:bodyPr>
          <a:lstStyle/>
          <a:p>
            <a:pPr algn="ctr">
              <a:spcBef>
                <a:spcPts val="0"/>
              </a:spcBef>
              <a:spcAft>
                <a:spcPts val="0"/>
              </a:spcAft>
            </a:pPr>
            <a:r>
              <a:rPr sz="1000" b="0" i="0">
                <a:solidFill>
                  <a:srgbClr val="1E293B"/>
                </a:solidFill>
                <a:latin typeface="Arial"/>
              </a:rPr>
              <a:t>90.35%</a:t>
            </a:r>
          </a:p>
        </p:txBody>
      </p:sp>
      <p:sp>
        <p:nvSpPr>
          <p:cNvPr id="63" name="Rectangle 62"/>
          <p:cNvSpPr/>
          <p:nvPr/>
        </p:nvSpPr>
        <p:spPr>
          <a:xfrm>
            <a:off x="7680960" y="3895344"/>
            <a:ext cx="1965960" cy="429768"/>
          </a:xfrm>
          <a:prstGeom prst="rect">
            <a:avLst/>
          </a:prstGeom>
          <a:solidFill>
            <a:srgbClr val="FFFFFF"/>
          </a:solidFill>
          <a:ln w="10160">
            <a:solidFill>
              <a:srgbClr val="CBD5E1"/>
            </a:solidFill>
          </a:ln>
        </p:spPr>
        <p:txBody>
          <a:bodyPr rtlCol="0" anchor="ctr"/>
          <a:lstStyle/>
          <a:p>
            <a:pPr algn="ctr"/>
            <a:endParaRPr/>
          </a:p>
        </p:txBody>
      </p:sp>
      <p:sp>
        <p:nvSpPr>
          <p:cNvPr id="64" name="TextBox 63"/>
          <p:cNvSpPr txBox="1"/>
          <p:nvPr/>
        </p:nvSpPr>
        <p:spPr>
          <a:xfrm>
            <a:off x="7717536" y="3904487"/>
            <a:ext cx="1892807" cy="411479"/>
          </a:xfrm>
          <a:prstGeom prst="rect">
            <a:avLst/>
          </a:prstGeom>
          <a:noFill/>
        </p:spPr>
        <p:txBody>
          <a:bodyPr wrap="square" lIns="9144" tIns="9144" rIns="9144" bIns="9144" anchor="ctr">
            <a:spAutoFit/>
          </a:bodyPr>
          <a:lstStyle/>
          <a:p>
            <a:pPr algn="ctr">
              <a:spcBef>
                <a:spcPts val="0"/>
              </a:spcBef>
              <a:spcAft>
                <a:spcPts val="0"/>
              </a:spcAft>
            </a:pPr>
            <a:r>
              <a:rPr sz="1000" b="0" i="0">
                <a:solidFill>
                  <a:srgbClr val="1E293B"/>
                </a:solidFill>
                <a:latin typeface="Arial"/>
              </a:rPr>
              <a:t>90.47%</a:t>
            </a:r>
          </a:p>
        </p:txBody>
      </p:sp>
      <p:sp>
        <p:nvSpPr>
          <p:cNvPr id="65" name="Rectangle 64"/>
          <p:cNvSpPr/>
          <p:nvPr/>
        </p:nvSpPr>
        <p:spPr>
          <a:xfrm>
            <a:off x="9646920" y="3895344"/>
            <a:ext cx="1947672" cy="429768"/>
          </a:xfrm>
          <a:prstGeom prst="rect">
            <a:avLst/>
          </a:prstGeom>
          <a:solidFill>
            <a:srgbClr val="FFFFFF"/>
          </a:solidFill>
          <a:ln w="10160">
            <a:solidFill>
              <a:srgbClr val="CBD5E1"/>
            </a:solidFill>
          </a:ln>
        </p:spPr>
        <p:txBody>
          <a:bodyPr rtlCol="0" anchor="ctr"/>
          <a:lstStyle/>
          <a:p>
            <a:pPr algn="ctr"/>
            <a:endParaRPr/>
          </a:p>
        </p:txBody>
      </p:sp>
      <p:sp>
        <p:nvSpPr>
          <p:cNvPr id="66" name="TextBox 65"/>
          <p:cNvSpPr txBox="1"/>
          <p:nvPr/>
        </p:nvSpPr>
        <p:spPr>
          <a:xfrm>
            <a:off x="9683496" y="3904487"/>
            <a:ext cx="1874519" cy="411479"/>
          </a:xfrm>
          <a:prstGeom prst="rect">
            <a:avLst/>
          </a:prstGeom>
          <a:noFill/>
        </p:spPr>
        <p:txBody>
          <a:bodyPr wrap="square" lIns="9144" tIns="9144" rIns="9144" bIns="9144" anchor="ctr">
            <a:spAutoFit/>
          </a:bodyPr>
          <a:lstStyle/>
          <a:p>
            <a:pPr algn="ctr">
              <a:spcBef>
                <a:spcPts val="0"/>
              </a:spcBef>
              <a:spcAft>
                <a:spcPts val="0"/>
              </a:spcAft>
            </a:pPr>
            <a:r>
              <a:rPr sz="1000" b="0" i="0">
                <a:solidFill>
                  <a:srgbClr val="1E293B"/>
                </a:solidFill>
                <a:latin typeface="Arial"/>
              </a:rPr>
              <a:t>90.45%</a:t>
            </a:r>
          </a:p>
        </p:txBody>
      </p:sp>
      <p:sp>
        <p:nvSpPr>
          <p:cNvPr id="67" name="Rectangle 66"/>
          <p:cNvSpPr/>
          <p:nvPr/>
        </p:nvSpPr>
        <p:spPr>
          <a:xfrm>
            <a:off x="594360" y="4325112"/>
            <a:ext cx="2331720" cy="429768"/>
          </a:xfrm>
          <a:prstGeom prst="rect">
            <a:avLst/>
          </a:prstGeom>
          <a:solidFill>
            <a:srgbClr val="F8FAFC"/>
          </a:solidFill>
          <a:ln w="10160">
            <a:solidFill>
              <a:srgbClr val="CBD5E1"/>
            </a:solidFill>
          </a:ln>
        </p:spPr>
        <p:txBody>
          <a:bodyPr rtlCol="0" anchor="ctr"/>
          <a:lstStyle/>
          <a:p>
            <a:pPr algn="ctr"/>
            <a:endParaRPr/>
          </a:p>
        </p:txBody>
      </p:sp>
      <p:sp>
        <p:nvSpPr>
          <p:cNvPr id="68" name="TextBox 67"/>
          <p:cNvSpPr txBox="1"/>
          <p:nvPr/>
        </p:nvSpPr>
        <p:spPr>
          <a:xfrm>
            <a:off x="630936" y="4334255"/>
            <a:ext cx="2258568" cy="411479"/>
          </a:xfrm>
          <a:prstGeom prst="rect">
            <a:avLst/>
          </a:prstGeom>
          <a:noFill/>
        </p:spPr>
        <p:txBody>
          <a:bodyPr wrap="square" lIns="9144" tIns="9144" rIns="9144" bIns="9144" anchor="ctr">
            <a:spAutoFit/>
          </a:bodyPr>
          <a:lstStyle/>
          <a:p>
            <a:pPr algn="l">
              <a:spcBef>
                <a:spcPts val="0"/>
              </a:spcBef>
              <a:spcAft>
                <a:spcPts val="0"/>
              </a:spcAft>
            </a:pPr>
            <a:r>
              <a:rPr sz="1000" b="1" i="0">
                <a:solidFill>
                  <a:srgbClr val="1E293B"/>
                </a:solidFill>
                <a:latin typeface="Arial"/>
              </a:rPr>
              <a:t>LinearSVC (C=0.5)</a:t>
            </a:r>
          </a:p>
        </p:txBody>
      </p:sp>
      <p:sp>
        <p:nvSpPr>
          <p:cNvPr id="69" name="Rectangle 68"/>
          <p:cNvSpPr/>
          <p:nvPr/>
        </p:nvSpPr>
        <p:spPr>
          <a:xfrm>
            <a:off x="2926079" y="4325112"/>
            <a:ext cx="2926080" cy="429768"/>
          </a:xfrm>
          <a:prstGeom prst="rect">
            <a:avLst/>
          </a:prstGeom>
          <a:solidFill>
            <a:srgbClr val="F8FAFC"/>
          </a:solidFill>
          <a:ln w="10160">
            <a:solidFill>
              <a:srgbClr val="CBD5E1"/>
            </a:solidFill>
          </a:ln>
        </p:spPr>
        <p:txBody>
          <a:bodyPr rtlCol="0" anchor="ctr"/>
          <a:lstStyle/>
          <a:p>
            <a:pPr algn="ctr"/>
            <a:endParaRPr/>
          </a:p>
        </p:txBody>
      </p:sp>
      <p:sp>
        <p:nvSpPr>
          <p:cNvPr id="70" name="TextBox 69"/>
          <p:cNvSpPr txBox="1"/>
          <p:nvPr/>
        </p:nvSpPr>
        <p:spPr>
          <a:xfrm>
            <a:off x="2962656" y="4334255"/>
            <a:ext cx="2852928" cy="411479"/>
          </a:xfrm>
          <a:prstGeom prst="rect">
            <a:avLst/>
          </a:prstGeom>
          <a:noFill/>
        </p:spPr>
        <p:txBody>
          <a:bodyPr wrap="square" lIns="9144" tIns="9144" rIns="9144" bIns="9144" anchor="ctr">
            <a:spAutoFit/>
          </a:bodyPr>
          <a:lstStyle/>
          <a:p>
            <a:pPr algn="l">
              <a:spcBef>
                <a:spcPts val="0"/>
              </a:spcBef>
              <a:spcAft>
                <a:spcPts val="0"/>
              </a:spcAft>
            </a:pPr>
            <a:r>
              <a:rPr sz="1000" b="0" i="0">
                <a:solidFill>
                  <a:srgbClr val="1E293B"/>
                </a:solidFill>
                <a:latin typeface="Arial"/>
              </a:rPr>
              <a:t>Hybrid TF-IDF (150k)</a:t>
            </a:r>
          </a:p>
        </p:txBody>
      </p:sp>
      <p:sp>
        <p:nvSpPr>
          <p:cNvPr id="71" name="Rectangle 70"/>
          <p:cNvSpPr/>
          <p:nvPr/>
        </p:nvSpPr>
        <p:spPr>
          <a:xfrm>
            <a:off x="5852160" y="4325112"/>
            <a:ext cx="1828800" cy="429768"/>
          </a:xfrm>
          <a:prstGeom prst="rect">
            <a:avLst/>
          </a:prstGeom>
          <a:solidFill>
            <a:srgbClr val="F8FAFC"/>
          </a:solidFill>
          <a:ln w="10160">
            <a:solidFill>
              <a:srgbClr val="CBD5E1"/>
            </a:solidFill>
          </a:ln>
        </p:spPr>
        <p:txBody>
          <a:bodyPr rtlCol="0" anchor="ctr"/>
          <a:lstStyle/>
          <a:p>
            <a:pPr algn="ctr"/>
            <a:endParaRPr/>
          </a:p>
        </p:txBody>
      </p:sp>
      <p:sp>
        <p:nvSpPr>
          <p:cNvPr id="72" name="TextBox 71"/>
          <p:cNvSpPr txBox="1"/>
          <p:nvPr/>
        </p:nvSpPr>
        <p:spPr>
          <a:xfrm>
            <a:off x="5888736" y="4334255"/>
            <a:ext cx="1755648" cy="411479"/>
          </a:xfrm>
          <a:prstGeom prst="rect">
            <a:avLst/>
          </a:prstGeom>
          <a:noFill/>
        </p:spPr>
        <p:txBody>
          <a:bodyPr wrap="square" lIns="9144" tIns="9144" rIns="9144" bIns="9144" anchor="ctr">
            <a:spAutoFit/>
          </a:bodyPr>
          <a:lstStyle/>
          <a:p>
            <a:pPr algn="ctr">
              <a:spcBef>
                <a:spcPts val="0"/>
              </a:spcBef>
              <a:spcAft>
                <a:spcPts val="0"/>
              </a:spcAft>
            </a:pPr>
            <a:r>
              <a:rPr sz="1000" b="0" i="0">
                <a:solidFill>
                  <a:srgbClr val="1E293B"/>
                </a:solidFill>
                <a:latin typeface="Arial"/>
              </a:rPr>
              <a:t>90.59%</a:t>
            </a:r>
          </a:p>
        </p:txBody>
      </p:sp>
      <p:sp>
        <p:nvSpPr>
          <p:cNvPr id="73" name="Rectangle 72"/>
          <p:cNvSpPr/>
          <p:nvPr/>
        </p:nvSpPr>
        <p:spPr>
          <a:xfrm>
            <a:off x="7680960" y="4325112"/>
            <a:ext cx="1965960" cy="429768"/>
          </a:xfrm>
          <a:prstGeom prst="rect">
            <a:avLst/>
          </a:prstGeom>
          <a:solidFill>
            <a:srgbClr val="F8FAFC"/>
          </a:solidFill>
          <a:ln w="10160">
            <a:solidFill>
              <a:srgbClr val="CBD5E1"/>
            </a:solidFill>
          </a:ln>
        </p:spPr>
        <p:txBody>
          <a:bodyPr rtlCol="0" anchor="ctr"/>
          <a:lstStyle/>
          <a:p>
            <a:pPr algn="ctr"/>
            <a:endParaRPr/>
          </a:p>
        </p:txBody>
      </p:sp>
      <p:sp>
        <p:nvSpPr>
          <p:cNvPr id="74" name="TextBox 73"/>
          <p:cNvSpPr txBox="1"/>
          <p:nvPr/>
        </p:nvSpPr>
        <p:spPr>
          <a:xfrm>
            <a:off x="7717536" y="4334255"/>
            <a:ext cx="1892807" cy="411479"/>
          </a:xfrm>
          <a:prstGeom prst="rect">
            <a:avLst/>
          </a:prstGeom>
          <a:noFill/>
        </p:spPr>
        <p:txBody>
          <a:bodyPr wrap="square" lIns="9144" tIns="9144" rIns="9144" bIns="9144" anchor="ctr">
            <a:spAutoFit/>
          </a:bodyPr>
          <a:lstStyle/>
          <a:p>
            <a:pPr algn="ctr">
              <a:spcBef>
                <a:spcPts val="0"/>
              </a:spcBef>
              <a:spcAft>
                <a:spcPts val="0"/>
              </a:spcAft>
            </a:pPr>
            <a:r>
              <a:rPr sz="1000" b="0" i="0">
                <a:solidFill>
                  <a:srgbClr val="1E293B"/>
                </a:solidFill>
                <a:latin typeface="Arial"/>
              </a:rPr>
              <a:t>90.52%</a:t>
            </a:r>
          </a:p>
        </p:txBody>
      </p:sp>
      <p:sp>
        <p:nvSpPr>
          <p:cNvPr id="75" name="Rectangle 74"/>
          <p:cNvSpPr/>
          <p:nvPr/>
        </p:nvSpPr>
        <p:spPr>
          <a:xfrm>
            <a:off x="9646920" y="4325112"/>
            <a:ext cx="1947672" cy="429768"/>
          </a:xfrm>
          <a:prstGeom prst="rect">
            <a:avLst/>
          </a:prstGeom>
          <a:solidFill>
            <a:srgbClr val="F8FAFC"/>
          </a:solidFill>
          <a:ln w="10160">
            <a:solidFill>
              <a:srgbClr val="CBD5E1"/>
            </a:solidFill>
          </a:ln>
        </p:spPr>
        <p:txBody>
          <a:bodyPr rtlCol="0" anchor="ctr"/>
          <a:lstStyle/>
          <a:p>
            <a:pPr algn="ctr"/>
            <a:endParaRPr/>
          </a:p>
        </p:txBody>
      </p:sp>
      <p:sp>
        <p:nvSpPr>
          <p:cNvPr id="76" name="TextBox 75"/>
          <p:cNvSpPr txBox="1"/>
          <p:nvPr/>
        </p:nvSpPr>
        <p:spPr>
          <a:xfrm>
            <a:off x="9683496" y="4334255"/>
            <a:ext cx="1874519" cy="411479"/>
          </a:xfrm>
          <a:prstGeom prst="rect">
            <a:avLst/>
          </a:prstGeom>
          <a:noFill/>
        </p:spPr>
        <p:txBody>
          <a:bodyPr wrap="square" lIns="9144" tIns="9144" rIns="9144" bIns="9144" anchor="ctr">
            <a:spAutoFit/>
          </a:bodyPr>
          <a:lstStyle/>
          <a:p>
            <a:pPr algn="ctr">
              <a:spcBef>
                <a:spcPts val="0"/>
              </a:spcBef>
              <a:spcAft>
                <a:spcPts val="0"/>
              </a:spcAft>
            </a:pPr>
            <a:r>
              <a:rPr sz="1000" b="0" i="0">
                <a:solidFill>
                  <a:srgbClr val="1E293B"/>
                </a:solidFill>
                <a:latin typeface="Arial"/>
              </a:rPr>
              <a:t>90.52%</a:t>
            </a:r>
          </a:p>
        </p:txBody>
      </p:sp>
      <p:sp>
        <p:nvSpPr>
          <p:cNvPr id="77" name="Rectangle 76"/>
          <p:cNvSpPr/>
          <p:nvPr/>
        </p:nvSpPr>
        <p:spPr>
          <a:xfrm>
            <a:off x="594360" y="4754879"/>
            <a:ext cx="2331720" cy="429768"/>
          </a:xfrm>
          <a:prstGeom prst="rect">
            <a:avLst/>
          </a:prstGeom>
          <a:solidFill>
            <a:srgbClr val="FFFFFF"/>
          </a:solidFill>
          <a:ln w="10160">
            <a:solidFill>
              <a:srgbClr val="CBD5E1"/>
            </a:solidFill>
          </a:ln>
        </p:spPr>
        <p:txBody>
          <a:bodyPr rtlCol="0" anchor="ctr"/>
          <a:lstStyle/>
          <a:p>
            <a:pPr algn="ctr"/>
            <a:endParaRPr/>
          </a:p>
        </p:txBody>
      </p:sp>
      <p:sp>
        <p:nvSpPr>
          <p:cNvPr id="78" name="TextBox 77"/>
          <p:cNvSpPr txBox="1"/>
          <p:nvPr/>
        </p:nvSpPr>
        <p:spPr>
          <a:xfrm>
            <a:off x="630936" y="4764023"/>
            <a:ext cx="2258568" cy="411479"/>
          </a:xfrm>
          <a:prstGeom prst="rect">
            <a:avLst/>
          </a:prstGeom>
          <a:noFill/>
        </p:spPr>
        <p:txBody>
          <a:bodyPr wrap="square" lIns="9144" tIns="9144" rIns="9144" bIns="9144" anchor="ctr">
            <a:spAutoFit/>
          </a:bodyPr>
          <a:lstStyle/>
          <a:p>
            <a:pPr algn="l">
              <a:spcBef>
                <a:spcPts val="0"/>
              </a:spcBef>
              <a:spcAft>
                <a:spcPts val="0"/>
              </a:spcAft>
            </a:pPr>
            <a:r>
              <a:rPr sz="1000" b="1" i="0">
                <a:solidFill>
                  <a:srgbClr val="1E293B"/>
                </a:solidFill>
                <a:latin typeface="Arial"/>
              </a:rPr>
              <a:t>Classical Stacking Ensemble</a:t>
            </a:r>
          </a:p>
        </p:txBody>
      </p:sp>
      <p:sp>
        <p:nvSpPr>
          <p:cNvPr id="79" name="Rectangle 78"/>
          <p:cNvSpPr/>
          <p:nvPr/>
        </p:nvSpPr>
        <p:spPr>
          <a:xfrm>
            <a:off x="2926079" y="4754879"/>
            <a:ext cx="2926080" cy="429768"/>
          </a:xfrm>
          <a:prstGeom prst="rect">
            <a:avLst/>
          </a:prstGeom>
          <a:solidFill>
            <a:srgbClr val="FFFFFF"/>
          </a:solidFill>
          <a:ln w="10160">
            <a:solidFill>
              <a:srgbClr val="CBD5E1"/>
            </a:solidFill>
          </a:ln>
        </p:spPr>
        <p:txBody>
          <a:bodyPr rtlCol="0" anchor="ctr"/>
          <a:lstStyle/>
          <a:p>
            <a:pPr algn="ctr"/>
            <a:endParaRPr/>
          </a:p>
        </p:txBody>
      </p:sp>
      <p:sp>
        <p:nvSpPr>
          <p:cNvPr id="80" name="TextBox 79"/>
          <p:cNvSpPr txBox="1"/>
          <p:nvPr/>
        </p:nvSpPr>
        <p:spPr>
          <a:xfrm>
            <a:off x="2962656" y="4764023"/>
            <a:ext cx="2852928" cy="411479"/>
          </a:xfrm>
          <a:prstGeom prst="rect">
            <a:avLst/>
          </a:prstGeom>
          <a:noFill/>
        </p:spPr>
        <p:txBody>
          <a:bodyPr wrap="square" lIns="9144" tIns="9144" rIns="9144" bIns="9144" anchor="ctr">
            <a:spAutoFit/>
          </a:bodyPr>
          <a:lstStyle/>
          <a:p>
            <a:pPr algn="l">
              <a:spcBef>
                <a:spcPts val="0"/>
              </a:spcBef>
              <a:spcAft>
                <a:spcPts val="0"/>
              </a:spcAft>
            </a:pPr>
            <a:r>
              <a:rPr sz="1000" b="0" i="0">
                <a:solidFill>
                  <a:srgbClr val="1E293B"/>
                </a:solidFill>
                <a:latin typeface="Arial"/>
              </a:rPr>
              <a:t>4-Model Meta-Learner</a:t>
            </a:r>
          </a:p>
        </p:txBody>
      </p:sp>
      <p:sp>
        <p:nvSpPr>
          <p:cNvPr id="81" name="Rectangle 80"/>
          <p:cNvSpPr/>
          <p:nvPr/>
        </p:nvSpPr>
        <p:spPr>
          <a:xfrm>
            <a:off x="5852160" y="4754879"/>
            <a:ext cx="1828800" cy="429768"/>
          </a:xfrm>
          <a:prstGeom prst="rect">
            <a:avLst/>
          </a:prstGeom>
          <a:solidFill>
            <a:srgbClr val="FFFFFF"/>
          </a:solidFill>
          <a:ln w="10160">
            <a:solidFill>
              <a:srgbClr val="CBD5E1"/>
            </a:solidFill>
          </a:ln>
        </p:spPr>
        <p:txBody>
          <a:bodyPr rtlCol="0" anchor="ctr"/>
          <a:lstStyle/>
          <a:p>
            <a:pPr algn="ctr"/>
            <a:endParaRPr/>
          </a:p>
        </p:txBody>
      </p:sp>
      <p:sp>
        <p:nvSpPr>
          <p:cNvPr id="82" name="TextBox 81"/>
          <p:cNvSpPr txBox="1"/>
          <p:nvPr/>
        </p:nvSpPr>
        <p:spPr>
          <a:xfrm>
            <a:off x="5888736" y="4764023"/>
            <a:ext cx="1755648" cy="411479"/>
          </a:xfrm>
          <a:prstGeom prst="rect">
            <a:avLst/>
          </a:prstGeom>
          <a:noFill/>
        </p:spPr>
        <p:txBody>
          <a:bodyPr wrap="square" lIns="9144" tIns="9144" rIns="9144" bIns="9144" anchor="ctr">
            <a:spAutoFit/>
          </a:bodyPr>
          <a:lstStyle/>
          <a:p>
            <a:pPr algn="ctr">
              <a:spcBef>
                <a:spcPts val="0"/>
              </a:spcBef>
              <a:spcAft>
                <a:spcPts val="0"/>
              </a:spcAft>
            </a:pPr>
            <a:r>
              <a:rPr sz="1000" b="0" i="0">
                <a:solidFill>
                  <a:srgbClr val="1E293B"/>
                </a:solidFill>
                <a:latin typeface="Arial"/>
              </a:rPr>
              <a:t>90.85%</a:t>
            </a:r>
          </a:p>
        </p:txBody>
      </p:sp>
      <p:sp>
        <p:nvSpPr>
          <p:cNvPr id="83" name="Rectangle 82"/>
          <p:cNvSpPr/>
          <p:nvPr/>
        </p:nvSpPr>
        <p:spPr>
          <a:xfrm>
            <a:off x="7680960" y="4754879"/>
            <a:ext cx="1965960" cy="429768"/>
          </a:xfrm>
          <a:prstGeom prst="rect">
            <a:avLst/>
          </a:prstGeom>
          <a:solidFill>
            <a:srgbClr val="FFFFFF"/>
          </a:solidFill>
          <a:ln w="10160">
            <a:solidFill>
              <a:srgbClr val="CBD5E1"/>
            </a:solidFill>
          </a:ln>
        </p:spPr>
        <p:txBody>
          <a:bodyPr rtlCol="0" anchor="ctr"/>
          <a:lstStyle/>
          <a:p>
            <a:pPr algn="ctr"/>
            <a:endParaRPr/>
          </a:p>
        </p:txBody>
      </p:sp>
      <p:sp>
        <p:nvSpPr>
          <p:cNvPr id="84" name="TextBox 83"/>
          <p:cNvSpPr txBox="1"/>
          <p:nvPr/>
        </p:nvSpPr>
        <p:spPr>
          <a:xfrm>
            <a:off x="7717536" y="4764023"/>
            <a:ext cx="1892807" cy="411479"/>
          </a:xfrm>
          <a:prstGeom prst="rect">
            <a:avLst/>
          </a:prstGeom>
          <a:noFill/>
        </p:spPr>
        <p:txBody>
          <a:bodyPr wrap="square" lIns="9144" tIns="9144" rIns="9144" bIns="9144" anchor="ctr">
            <a:spAutoFit/>
          </a:bodyPr>
          <a:lstStyle/>
          <a:p>
            <a:pPr algn="ctr">
              <a:spcBef>
                <a:spcPts val="0"/>
              </a:spcBef>
              <a:spcAft>
                <a:spcPts val="0"/>
              </a:spcAft>
            </a:pPr>
            <a:r>
              <a:rPr sz="1000" b="0" i="0">
                <a:solidFill>
                  <a:srgbClr val="1E293B"/>
                </a:solidFill>
                <a:latin typeface="Arial"/>
              </a:rPr>
              <a:t>90.93%</a:t>
            </a:r>
          </a:p>
        </p:txBody>
      </p:sp>
      <p:sp>
        <p:nvSpPr>
          <p:cNvPr id="85" name="Rectangle 84"/>
          <p:cNvSpPr/>
          <p:nvPr/>
        </p:nvSpPr>
        <p:spPr>
          <a:xfrm>
            <a:off x="9646920" y="4754879"/>
            <a:ext cx="1947672" cy="429768"/>
          </a:xfrm>
          <a:prstGeom prst="rect">
            <a:avLst/>
          </a:prstGeom>
          <a:solidFill>
            <a:srgbClr val="FFFFFF"/>
          </a:solidFill>
          <a:ln w="10160">
            <a:solidFill>
              <a:srgbClr val="CBD5E1"/>
            </a:solidFill>
          </a:ln>
        </p:spPr>
        <p:txBody>
          <a:bodyPr rtlCol="0" anchor="ctr"/>
          <a:lstStyle/>
          <a:p>
            <a:pPr algn="ctr"/>
            <a:endParaRPr/>
          </a:p>
        </p:txBody>
      </p:sp>
      <p:sp>
        <p:nvSpPr>
          <p:cNvPr id="86" name="TextBox 85"/>
          <p:cNvSpPr txBox="1"/>
          <p:nvPr/>
        </p:nvSpPr>
        <p:spPr>
          <a:xfrm>
            <a:off x="9683496" y="4764023"/>
            <a:ext cx="1874519" cy="411479"/>
          </a:xfrm>
          <a:prstGeom prst="rect">
            <a:avLst/>
          </a:prstGeom>
          <a:noFill/>
        </p:spPr>
        <p:txBody>
          <a:bodyPr wrap="square" lIns="9144" tIns="9144" rIns="9144" bIns="9144" anchor="ctr">
            <a:spAutoFit/>
          </a:bodyPr>
          <a:lstStyle/>
          <a:p>
            <a:pPr algn="ctr">
              <a:spcBef>
                <a:spcPts val="0"/>
              </a:spcBef>
              <a:spcAft>
                <a:spcPts val="0"/>
              </a:spcAft>
            </a:pPr>
            <a:r>
              <a:rPr sz="1000" b="0" i="0">
                <a:solidFill>
                  <a:srgbClr val="1E293B"/>
                </a:solidFill>
                <a:latin typeface="Arial"/>
              </a:rPr>
              <a:t>90.92%</a:t>
            </a:r>
          </a:p>
        </p:txBody>
      </p:sp>
      <p:sp>
        <p:nvSpPr>
          <p:cNvPr id="87" name="Rectangle 86"/>
          <p:cNvSpPr/>
          <p:nvPr/>
        </p:nvSpPr>
        <p:spPr>
          <a:xfrm>
            <a:off x="594360" y="5184647"/>
            <a:ext cx="2331720" cy="429768"/>
          </a:xfrm>
          <a:prstGeom prst="rect">
            <a:avLst/>
          </a:prstGeom>
          <a:solidFill>
            <a:srgbClr val="F8FAFC"/>
          </a:solidFill>
          <a:ln w="10160">
            <a:solidFill>
              <a:srgbClr val="CBD5E1"/>
            </a:solidFill>
          </a:ln>
        </p:spPr>
        <p:txBody>
          <a:bodyPr rtlCol="0" anchor="ctr"/>
          <a:lstStyle/>
          <a:p>
            <a:pPr algn="ctr"/>
            <a:endParaRPr/>
          </a:p>
        </p:txBody>
      </p:sp>
      <p:sp>
        <p:nvSpPr>
          <p:cNvPr id="88" name="TextBox 87"/>
          <p:cNvSpPr txBox="1"/>
          <p:nvPr/>
        </p:nvSpPr>
        <p:spPr>
          <a:xfrm>
            <a:off x="630936" y="5193791"/>
            <a:ext cx="2258568" cy="411479"/>
          </a:xfrm>
          <a:prstGeom prst="rect">
            <a:avLst/>
          </a:prstGeom>
          <a:noFill/>
        </p:spPr>
        <p:txBody>
          <a:bodyPr wrap="square" lIns="9144" tIns="9144" rIns="9144" bIns="9144" anchor="ctr">
            <a:spAutoFit/>
          </a:bodyPr>
          <a:lstStyle/>
          <a:p>
            <a:pPr algn="l">
              <a:spcBef>
                <a:spcPts val="0"/>
              </a:spcBef>
              <a:spcAft>
                <a:spcPts val="0"/>
              </a:spcAft>
            </a:pPr>
            <a:r>
              <a:rPr sz="1000" b="1" i="0">
                <a:solidFill>
                  <a:srgbClr val="1E293B"/>
                </a:solidFill>
                <a:latin typeface="Arial"/>
              </a:rPr>
              <a:t>AraBERTv02 (Fine-Tuned)</a:t>
            </a:r>
          </a:p>
        </p:txBody>
      </p:sp>
      <p:sp>
        <p:nvSpPr>
          <p:cNvPr id="89" name="Rectangle 88"/>
          <p:cNvSpPr/>
          <p:nvPr/>
        </p:nvSpPr>
        <p:spPr>
          <a:xfrm>
            <a:off x="2926079" y="5184647"/>
            <a:ext cx="2926080" cy="429768"/>
          </a:xfrm>
          <a:prstGeom prst="rect">
            <a:avLst/>
          </a:prstGeom>
          <a:solidFill>
            <a:srgbClr val="F8FAFC"/>
          </a:solidFill>
          <a:ln w="10160">
            <a:solidFill>
              <a:srgbClr val="CBD5E1"/>
            </a:solidFill>
          </a:ln>
        </p:spPr>
        <p:txBody>
          <a:bodyPr rtlCol="0" anchor="ctr"/>
          <a:lstStyle/>
          <a:p>
            <a:pPr algn="ctr"/>
            <a:endParaRPr/>
          </a:p>
        </p:txBody>
      </p:sp>
      <p:sp>
        <p:nvSpPr>
          <p:cNvPr id="90" name="TextBox 89"/>
          <p:cNvSpPr txBox="1"/>
          <p:nvPr/>
        </p:nvSpPr>
        <p:spPr>
          <a:xfrm>
            <a:off x="2962656" y="5193791"/>
            <a:ext cx="2852928" cy="411479"/>
          </a:xfrm>
          <a:prstGeom prst="rect">
            <a:avLst/>
          </a:prstGeom>
          <a:noFill/>
        </p:spPr>
        <p:txBody>
          <a:bodyPr wrap="square" lIns="9144" tIns="9144" rIns="9144" bIns="9144" anchor="ctr">
            <a:spAutoFit/>
          </a:bodyPr>
          <a:lstStyle/>
          <a:p>
            <a:pPr algn="l">
              <a:spcBef>
                <a:spcPts val="0"/>
              </a:spcBef>
              <a:spcAft>
                <a:spcPts val="0"/>
              </a:spcAft>
            </a:pPr>
            <a:r>
              <a:rPr sz="1000" b="0" i="0">
                <a:solidFill>
                  <a:srgbClr val="1E293B"/>
                </a:solidFill>
                <a:latin typeface="Arial"/>
              </a:rPr>
              <a:t>Subword Transformer</a:t>
            </a:r>
          </a:p>
        </p:txBody>
      </p:sp>
      <p:sp>
        <p:nvSpPr>
          <p:cNvPr id="91" name="Rectangle 90"/>
          <p:cNvSpPr/>
          <p:nvPr/>
        </p:nvSpPr>
        <p:spPr>
          <a:xfrm>
            <a:off x="5852160" y="5184647"/>
            <a:ext cx="1828800" cy="429768"/>
          </a:xfrm>
          <a:prstGeom prst="rect">
            <a:avLst/>
          </a:prstGeom>
          <a:solidFill>
            <a:srgbClr val="F8FAFC"/>
          </a:solidFill>
          <a:ln w="10160">
            <a:solidFill>
              <a:srgbClr val="CBD5E1"/>
            </a:solidFill>
          </a:ln>
        </p:spPr>
        <p:txBody>
          <a:bodyPr rtlCol="0" anchor="ctr"/>
          <a:lstStyle/>
          <a:p>
            <a:pPr algn="ctr"/>
            <a:endParaRPr/>
          </a:p>
        </p:txBody>
      </p:sp>
      <p:sp>
        <p:nvSpPr>
          <p:cNvPr id="92" name="TextBox 91"/>
          <p:cNvSpPr txBox="1"/>
          <p:nvPr/>
        </p:nvSpPr>
        <p:spPr>
          <a:xfrm>
            <a:off x="5888736" y="5193791"/>
            <a:ext cx="1755648" cy="411479"/>
          </a:xfrm>
          <a:prstGeom prst="rect">
            <a:avLst/>
          </a:prstGeom>
          <a:noFill/>
        </p:spPr>
        <p:txBody>
          <a:bodyPr wrap="square" lIns="9144" tIns="9144" rIns="9144" bIns="9144" anchor="ctr">
            <a:spAutoFit/>
          </a:bodyPr>
          <a:lstStyle/>
          <a:p>
            <a:pPr algn="ctr">
              <a:spcBef>
                <a:spcPts val="0"/>
              </a:spcBef>
              <a:spcAft>
                <a:spcPts val="0"/>
              </a:spcAft>
            </a:pPr>
            <a:r>
              <a:rPr sz="1000" b="0" i="0">
                <a:solidFill>
                  <a:srgbClr val="1E293B"/>
                </a:solidFill>
                <a:latin typeface="Arial"/>
              </a:rPr>
              <a:t>91.03%</a:t>
            </a:r>
          </a:p>
        </p:txBody>
      </p:sp>
      <p:sp>
        <p:nvSpPr>
          <p:cNvPr id="93" name="Rectangle 92"/>
          <p:cNvSpPr/>
          <p:nvPr/>
        </p:nvSpPr>
        <p:spPr>
          <a:xfrm>
            <a:off x="7680960" y="5184647"/>
            <a:ext cx="1965960" cy="429768"/>
          </a:xfrm>
          <a:prstGeom prst="rect">
            <a:avLst/>
          </a:prstGeom>
          <a:solidFill>
            <a:srgbClr val="F8FAFC"/>
          </a:solidFill>
          <a:ln w="10160">
            <a:solidFill>
              <a:srgbClr val="CBD5E1"/>
            </a:solidFill>
          </a:ln>
        </p:spPr>
        <p:txBody>
          <a:bodyPr rtlCol="0" anchor="ctr"/>
          <a:lstStyle/>
          <a:p>
            <a:pPr algn="ctr"/>
            <a:endParaRPr/>
          </a:p>
        </p:txBody>
      </p:sp>
      <p:sp>
        <p:nvSpPr>
          <p:cNvPr id="94" name="TextBox 93"/>
          <p:cNvSpPr txBox="1"/>
          <p:nvPr/>
        </p:nvSpPr>
        <p:spPr>
          <a:xfrm>
            <a:off x="7717536" y="5193791"/>
            <a:ext cx="1892807" cy="411479"/>
          </a:xfrm>
          <a:prstGeom prst="rect">
            <a:avLst/>
          </a:prstGeom>
          <a:noFill/>
        </p:spPr>
        <p:txBody>
          <a:bodyPr wrap="square" lIns="9144" tIns="9144" rIns="9144" bIns="9144" anchor="ctr">
            <a:spAutoFit/>
          </a:bodyPr>
          <a:lstStyle/>
          <a:p>
            <a:pPr algn="ctr">
              <a:spcBef>
                <a:spcPts val="0"/>
              </a:spcBef>
              <a:spcAft>
                <a:spcPts val="0"/>
              </a:spcAft>
            </a:pPr>
            <a:r>
              <a:rPr sz="1000" b="0" i="0">
                <a:solidFill>
                  <a:srgbClr val="1E293B"/>
                </a:solidFill>
                <a:latin typeface="Arial"/>
              </a:rPr>
              <a:t>—</a:t>
            </a:r>
          </a:p>
        </p:txBody>
      </p:sp>
      <p:sp>
        <p:nvSpPr>
          <p:cNvPr id="95" name="Rectangle 94"/>
          <p:cNvSpPr/>
          <p:nvPr/>
        </p:nvSpPr>
        <p:spPr>
          <a:xfrm>
            <a:off x="9646920" y="5184647"/>
            <a:ext cx="1947672" cy="429768"/>
          </a:xfrm>
          <a:prstGeom prst="rect">
            <a:avLst/>
          </a:prstGeom>
          <a:solidFill>
            <a:srgbClr val="F8FAFC"/>
          </a:solidFill>
          <a:ln w="10160">
            <a:solidFill>
              <a:srgbClr val="CBD5E1"/>
            </a:solidFill>
          </a:ln>
        </p:spPr>
        <p:txBody>
          <a:bodyPr rtlCol="0" anchor="ctr"/>
          <a:lstStyle/>
          <a:p>
            <a:pPr algn="ctr"/>
            <a:endParaRPr/>
          </a:p>
        </p:txBody>
      </p:sp>
      <p:sp>
        <p:nvSpPr>
          <p:cNvPr id="96" name="TextBox 95"/>
          <p:cNvSpPr txBox="1"/>
          <p:nvPr/>
        </p:nvSpPr>
        <p:spPr>
          <a:xfrm>
            <a:off x="9683496" y="5193791"/>
            <a:ext cx="1874519" cy="411479"/>
          </a:xfrm>
          <a:prstGeom prst="rect">
            <a:avLst/>
          </a:prstGeom>
          <a:noFill/>
        </p:spPr>
        <p:txBody>
          <a:bodyPr wrap="square" lIns="9144" tIns="9144" rIns="9144" bIns="9144" anchor="ctr">
            <a:spAutoFit/>
          </a:bodyPr>
          <a:lstStyle/>
          <a:p>
            <a:pPr algn="ctr">
              <a:spcBef>
                <a:spcPts val="0"/>
              </a:spcBef>
              <a:spcAft>
                <a:spcPts val="0"/>
              </a:spcAft>
            </a:pPr>
            <a:r>
              <a:rPr sz="1000" b="0" i="0">
                <a:solidFill>
                  <a:srgbClr val="1E293B"/>
                </a:solidFill>
                <a:latin typeface="Arial"/>
              </a:rPr>
              <a:t>91.00%</a:t>
            </a:r>
          </a:p>
        </p:txBody>
      </p:sp>
      <p:sp>
        <p:nvSpPr>
          <p:cNvPr id="97" name="Rectangle 96"/>
          <p:cNvSpPr/>
          <p:nvPr/>
        </p:nvSpPr>
        <p:spPr>
          <a:xfrm>
            <a:off x="594360" y="5614415"/>
            <a:ext cx="2331720" cy="429768"/>
          </a:xfrm>
          <a:prstGeom prst="rect">
            <a:avLst/>
          </a:prstGeom>
          <a:solidFill>
            <a:srgbClr val="E0F2FE"/>
          </a:solidFill>
          <a:ln w="10160">
            <a:solidFill>
              <a:srgbClr val="CBD5E1"/>
            </a:solidFill>
          </a:ln>
        </p:spPr>
        <p:txBody>
          <a:bodyPr rtlCol="0" anchor="ctr"/>
          <a:lstStyle/>
          <a:p>
            <a:pPr algn="ctr"/>
            <a:endParaRPr/>
          </a:p>
        </p:txBody>
      </p:sp>
      <p:sp>
        <p:nvSpPr>
          <p:cNvPr id="98" name="TextBox 97"/>
          <p:cNvSpPr txBox="1"/>
          <p:nvPr/>
        </p:nvSpPr>
        <p:spPr>
          <a:xfrm>
            <a:off x="630936" y="5623559"/>
            <a:ext cx="2258568" cy="411479"/>
          </a:xfrm>
          <a:prstGeom prst="rect">
            <a:avLst/>
          </a:prstGeom>
          <a:noFill/>
        </p:spPr>
        <p:txBody>
          <a:bodyPr wrap="square" lIns="9144" tIns="9144" rIns="9144" bIns="9144" anchor="ctr">
            <a:spAutoFit/>
          </a:bodyPr>
          <a:lstStyle/>
          <a:p>
            <a:pPr algn="l">
              <a:spcBef>
                <a:spcPts val="0"/>
              </a:spcBef>
              <a:spcAft>
                <a:spcPts val="0"/>
              </a:spcAft>
            </a:pPr>
            <a:r>
              <a:rPr sz="1000" b="1" i="0">
                <a:solidFill>
                  <a:srgbClr val="1E293B"/>
                </a:solidFill>
                <a:latin typeface="Arial"/>
              </a:rPr>
              <a:t>MARBERTv2 (Champion)</a:t>
            </a:r>
          </a:p>
        </p:txBody>
      </p:sp>
      <p:sp>
        <p:nvSpPr>
          <p:cNvPr id="99" name="Rectangle 98"/>
          <p:cNvSpPr/>
          <p:nvPr/>
        </p:nvSpPr>
        <p:spPr>
          <a:xfrm>
            <a:off x="2926079" y="5614415"/>
            <a:ext cx="2926080" cy="429768"/>
          </a:xfrm>
          <a:prstGeom prst="rect">
            <a:avLst/>
          </a:prstGeom>
          <a:solidFill>
            <a:srgbClr val="E0F2FE"/>
          </a:solidFill>
          <a:ln w="10160">
            <a:solidFill>
              <a:srgbClr val="CBD5E1"/>
            </a:solidFill>
          </a:ln>
        </p:spPr>
        <p:txBody>
          <a:bodyPr rtlCol="0" anchor="ctr"/>
          <a:lstStyle/>
          <a:p>
            <a:pPr algn="ctr"/>
            <a:endParaRPr/>
          </a:p>
        </p:txBody>
      </p:sp>
      <p:sp>
        <p:nvSpPr>
          <p:cNvPr id="100" name="TextBox 99"/>
          <p:cNvSpPr txBox="1"/>
          <p:nvPr/>
        </p:nvSpPr>
        <p:spPr>
          <a:xfrm>
            <a:off x="2962656" y="5623559"/>
            <a:ext cx="2852928" cy="411479"/>
          </a:xfrm>
          <a:prstGeom prst="rect">
            <a:avLst/>
          </a:prstGeom>
          <a:noFill/>
        </p:spPr>
        <p:txBody>
          <a:bodyPr wrap="square" lIns="9144" tIns="9144" rIns="9144" bIns="9144" anchor="ctr">
            <a:spAutoFit/>
          </a:bodyPr>
          <a:lstStyle/>
          <a:p>
            <a:pPr algn="l">
              <a:spcBef>
                <a:spcPts val="0"/>
              </a:spcBef>
              <a:spcAft>
                <a:spcPts val="0"/>
              </a:spcAft>
            </a:pPr>
            <a:r>
              <a:rPr sz="1000" b="0" i="0">
                <a:solidFill>
                  <a:srgbClr val="1E293B"/>
                </a:solidFill>
                <a:latin typeface="Arial"/>
              </a:rPr>
              <a:t>Dialect-Aware Transformer</a:t>
            </a:r>
          </a:p>
        </p:txBody>
      </p:sp>
      <p:sp>
        <p:nvSpPr>
          <p:cNvPr id="101" name="Rectangle 100"/>
          <p:cNvSpPr/>
          <p:nvPr/>
        </p:nvSpPr>
        <p:spPr>
          <a:xfrm>
            <a:off x="5852160" y="5614415"/>
            <a:ext cx="1828800" cy="429768"/>
          </a:xfrm>
          <a:prstGeom prst="rect">
            <a:avLst/>
          </a:prstGeom>
          <a:solidFill>
            <a:srgbClr val="E0F2FE"/>
          </a:solidFill>
          <a:ln w="10160">
            <a:solidFill>
              <a:srgbClr val="CBD5E1"/>
            </a:solidFill>
          </a:ln>
        </p:spPr>
        <p:txBody>
          <a:bodyPr rtlCol="0" anchor="ctr"/>
          <a:lstStyle/>
          <a:p>
            <a:pPr algn="ctr"/>
            <a:endParaRPr/>
          </a:p>
        </p:txBody>
      </p:sp>
      <p:sp>
        <p:nvSpPr>
          <p:cNvPr id="102" name="TextBox 101"/>
          <p:cNvSpPr txBox="1"/>
          <p:nvPr/>
        </p:nvSpPr>
        <p:spPr>
          <a:xfrm>
            <a:off x="5888736" y="5623559"/>
            <a:ext cx="1755648" cy="411479"/>
          </a:xfrm>
          <a:prstGeom prst="rect">
            <a:avLst/>
          </a:prstGeom>
          <a:noFill/>
        </p:spPr>
        <p:txBody>
          <a:bodyPr wrap="square" lIns="9144" tIns="9144" rIns="9144" bIns="9144" anchor="ctr">
            <a:spAutoFit/>
          </a:bodyPr>
          <a:lstStyle/>
          <a:p>
            <a:pPr algn="ctr">
              <a:spcBef>
                <a:spcPts val="0"/>
              </a:spcBef>
              <a:spcAft>
                <a:spcPts val="0"/>
              </a:spcAft>
            </a:pPr>
            <a:r>
              <a:rPr sz="1000" b="0" i="0">
                <a:solidFill>
                  <a:srgbClr val="2563EB"/>
                </a:solidFill>
                <a:latin typeface="Arial"/>
              </a:rPr>
              <a:t>92.02%</a:t>
            </a:r>
          </a:p>
        </p:txBody>
      </p:sp>
      <p:sp>
        <p:nvSpPr>
          <p:cNvPr id="103" name="Rectangle 102"/>
          <p:cNvSpPr/>
          <p:nvPr/>
        </p:nvSpPr>
        <p:spPr>
          <a:xfrm>
            <a:off x="7680960" y="5614415"/>
            <a:ext cx="1965960" cy="429768"/>
          </a:xfrm>
          <a:prstGeom prst="rect">
            <a:avLst/>
          </a:prstGeom>
          <a:solidFill>
            <a:srgbClr val="E0F2FE"/>
          </a:solidFill>
          <a:ln w="10160">
            <a:solidFill>
              <a:srgbClr val="CBD5E1"/>
            </a:solidFill>
          </a:ln>
        </p:spPr>
        <p:txBody>
          <a:bodyPr rtlCol="0" anchor="ctr"/>
          <a:lstStyle/>
          <a:p>
            <a:pPr algn="ctr"/>
            <a:endParaRPr/>
          </a:p>
        </p:txBody>
      </p:sp>
      <p:sp>
        <p:nvSpPr>
          <p:cNvPr id="104" name="TextBox 103"/>
          <p:cNvSpPr txBox="1"/>
          <p:nvPr/>
        </p:nvSpPr>
        <p:spPr>
          <a:xfrm>
            <a:off x="7717536" y="5623559"/>
            <a:ext cx="1892807" cy="411479"/>
          </a:xfrm>
          <a:prstGeom prst="rect">
            <a:avLst/>
          </a:prstGeom>
          <a:noFill/>
        </p:spPr>
        <p:txBody>
          <a:bodyPr wrap="square" lIns="9144" tIns="9144" rIns="9144" bIns="9144" anchor="ctr">
            <a:spAutoFit/>
          </a:bodyPr>
          <a:lstStyle/>
          <a:p>
            <a:pPr algn="ctr">
              <a:spcBef>
                <a:spcPts val="0"/>
              </a:spcBef>
              <a:spcAft>
                <a:spcPts val="0"/>
              </a:spcAft>
            </a:pPr>
            <a:r>
              <a:rPr sz="1000" b="0" i="0">
                <a:solidFill>
                  <a:srgbClr val="2563EB"/>
                </a:solidFill>
                <a:latin typeface="Arial"/>
              </a:rPr>
              <a:t>92.25%</a:t>
            </a:r>
          </a:p>
        </p:txBody>
      </p:sp>
      <p:sp>
        <p:nvSpPr>
          <p:cNvPr id="105" name="Rectangle 104"/>
          <p:cNvSpPr/>
          <p:nvPr/>
        </p:nvSpPr>
        <p:spPr>
          <a:xfrm>
            <a:off x="9646920" y="5614415"/>
            <a:ext cx="1947672" cy="429768"/>
          </a:xfrm>
          <a:prstGeom prst="rect">
            <a:avLst/>
          </a:prstGeom>
          <a:solidFill>
            <a:srgbClr val="E0F2FE"/>
          </a:solidFill>
          <a:ln w="10160">
            <a:solidFill>
              <a:srgbClr val="CBD5E1"/>
            </a:solidFill>
          </a:ln>
        </p:spPr>
        <p:txBody>
          <a:bodyPr rtlCol="0" anchor="ctr"/>
          <a:lstStyle/>
          <a:p>
            <a:pPr algn="ctr"/>
            <a:endParaRPr/>
          </a:p>
        </p:txBody>
      </p:sp>
      <p:sp>
        <p:nvSpPr>
          <p:cNvPr id="106" name="TextBox 105"/>
          <p:cNvSpPr txBox="1"/>
          <p:nvPr/>
        </p:nvSpPr>
        <p:spPr>
          <a:xfrm>
            <a:off x="9683496" y="5623559"/>
            <a:ext cx="1874519" cy="411479"/>
          </a:xfrm>
          <a:prstGeom prst="rect">
            <a:avLst/>
          </a:prstGeom>
          <a:noFill/>
        </p:spPr>
        <p:txBody>
          <a:bodyPr wrap="square" lIns="9144" tIns="9144" rIns="9144" bIns="9144" anchor="ctr">
            <a:spAutoFit/>
          </a:bodyPr>
          <a:lstStyle/>
          <a:p>
            <a:pPr algn="ctr">
              <a:spcBef>
                <a:spcPts val="0"/>
              </a:spcBef>
              <a:spcAft>
                <a:spcPts val="0"/>
              </a:spcAft>
            </a:pPr>
            <a:r>
              <a:rPr sz="1000" b="0" i="0">
                <a:solidFill>
                  <a:srgbClr val="2563EB"/>
                </a:solidFill>
                <a:latin typeface="Arial"/>
              </a:rPr>
              <a:t>92.24%</a:t>
            </a:r>
          </a:p>
        </p:txBody>
      </p:sp>
      <p:sp>
        <p:nvSpPr>
          <p:cNvPr id="107" name="TextBox 106"/>
          <p:cNvSpPr txBox="1"/>
          <p:nvPr/>
        </p:nvSpPr>
        <p:spPr>
          <a:xfrm>
            <a:off x="621792" y="6126480"/>
            <a:ext cx="10789920" cy="182880"/>
          </a:xfrm>
          <a:prstGeom prst="rect">
            <a:avLst/>
          </a:prstGeom>
          <a:noFill/>
        </p:spPr>
        <p:txBody>
          <a:bodyPr wrap="square" lIns="0" tIns="0" rIns="0" bIns="0" anchor="t">
            <a:spAutoFit/>
          </a:bodyPr>
          <a:lstStyle/>
          <a:p>
            <a:pPr algn="l">
              <a:spcBef>
                <a:spcPts val="0"/>
              </a:spcBef>
              <a:spcAft>
                <a:spcPts val="0"/>
              </a:spcAft>
            </a:pPr>
            <a:r>
              <a:rPr sz="869" b="0" i="1">
                <a:solidFill>
                  <a:srgbClr val="64748B"/>
                </a:solidFill>
                <a:latin typeface="Arial"/>
              </a:rPr>
              <a:t>All figures shown as reported in the project benchmark; “—” indicates no test accuracy listed for AraBERTv02.</a:t>
            </a:r>
          </a:p>
        </p:txBody>
      </p:sp>
      <p:cxnSp>
        <p:nvCxnSpPr>
          <p:cNvPr id="108" name="Connector 107"/>
          <p:cNvCxnSpPr/>
          <p:nvPr/>
        </p:nvCxnSpPr>
        <p:spPr>
          <a:xfrm>
            <a:off x="594360" y="6473952"/>
            <a:ext cx="11000232" cy="0"/>
          </a:xfrm>
          <a:prstGeom prst="line">
            <a:avLst/>
          </a:prstGeom>
          <a:ln w="8890">
            <a:solidFill>
              <a:srgbClr val="CBD5E1"/>
            </a:solidFill>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603504" y="6547104"/>
            <a:ext cx="4572000" cy="164592"/>
          </a:xfrm>
          <a:prstGeom prst="rect">
            <a:avLst/>
          </a:prstGeom>
          <a:noFill/>
        </p:spPr>
        <p:txBody>
          <a:bodyPr wrap="square" lIns="0" tIns="0" rIns="0" bIns="0" anchor="t">
            <a:spAutoFit/>
          </a:bodyPr>
          <a:lstStyle/>
          <a:p>
            <a:pPr algn="l">
              <a:spcBef>
                <a:spcPts val="0"/>
              </a:spcBef>
              <a:spcAft>
                <a:spcPts val="0"/>
              </a:spcAft>
            </a:pPr>
            <a:r>
              <a:rPr sz="800" b="1" i="0">
                <a:solidFill>
                  <a:srgbClr val="64748B"/>
                </a:solidFill>
                <a:latin typeface="Arial"/>
              </a:rPr>
              <a:t>ARABIC DIALECT CLASSIFICATION</a:t>
            </a:r>
          </a:p>
        </p:txBody>
      </p:sp>
      <p:sp>
        <p:nvSpPr>
          <p:cNvPr id="110" name="TextBox 109"/>
          <p:cNvSpPr txBox="1"/>
          <p:nvPr/>
        </p:nvSpPr>
        <p:spPr>
          <a:xfrm>
            <a:off x="10652760" y="6528816"/>
            <a:ext cx="914400" cy="182880"/>
          </a:xfrm>
          <a:prstGeom prst="rect">
            <a:avLst/>
          </a:prstGeom>
          <a:noFill/>
        </p:spPr>
        <p:txBody>
          <a:bodyPr wrap="square" lIns="0" tIns="0" rIns="0" bIns="0" anchor="t">
            <a:spAutoFit/>
          </a:bodyPr>
          <a:lstStyle/>
          <a:p>
            <a:pPr algn="r">
              <a:spcBef>
                <a:spcPts val="0"/>
              </a:spcBef>
              <a:spcAft>
                <a:spcPts val="0"/>
              </a:spcAft>
            </a:pPr>
            <a:r>
              <a:rPr sz="850" b="1" i="0">
                <a:solidFill>
                  <a:srgbClr val="64748B"/>
                </a:solidFill>
                <a:latin typeface="Arial"/>
              </a:rPr>
              <a:t>07  /  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F172A"/>
          </a:solidFill>
          <a:ln>
            <a:noFill/>
          </a:ln>
        </p:spPr>
        <p:txBody>
          <a:bodyPr rtlCol="0" anchor="ctr"/>
          <a:lstStyle/>
          <a:p>
            <a:pPr algn="ctr"/>
            <a:endParaRPr/>
          </a:p>
        </p:txBody>
      </p:sp>
      <p:sp>
        <p:nvSpPr>
          <p:cNvPr id="3" name="Rectangle 2"/>
          <p:cNvSpPr/>
          <p:nvPr/>
        </p:nvSpPr>
        <p:spPr>
          <a:xfrm>
            <a:off x="0" y="0"/>
            <a:ext cx="2011680" cy="128016"/>
          </a:xfrm>
          <a:prstGeom prst="rect">
            <a:avLst/>
          </a:prstGeom>
          <a:solidFill>
            <a:srgbClr val="38BDF8"/>
          </a:solidFill>
          <a:ln>
            <a:noFill/>
          </a:ln>
        </p:spPr>
        <p:txBody>
          <a:bodyPr rtlCol="0" anchor="ctr"/>
          <a:lstStyle/>
          <a:p>
            <a:pPr algn="ctr"/>
            <a:endParaRPr/>
          </a:p>
        </p:txBody>
      </p:sp>
      <p:sp>
        <p:nvSpPr>
          <p:cNvPr id="4" name="TextBox 3"/>
          <p:cNvSpPr txBox="1"/>
          <p:nvPr/>
        </p:nvSpPr>
        <p:spPr>
          <a:xfrm>
            <a:off x="603504" y="274320"/>
            <a:ext cx="2743200" cy="201168"/>
          </a:xfrm>
          <a:prstGeom prst="rect">
            <a:avLst/>
          </a:prstGeom>
          <a:noFill/>
        </p:spPr>
        <p:txBody>
          <a:bodyPr wrap="square" lIns="0" tIns="0" rIns="0" bIns="0" anchor="t">
            <a:spAutoFit/>
          </a:bodyPr>
          <a:lstStyle/>
          <a:p>
            <a:pPr algn="l">
              <a:spcBef>
                <a:spcPts val="0"/>
              </a:spcBef>
              <a:spcAft>
                <a:spcPts val="0"/>
              </a:spcAft>
            </a:pPr>
            <a:r>
              <a:rPr sz="850" b="1" i="0">
                <a:solidFill>
                  <a:srgbClr val="2563EB"/>
                </a:solidFill>
                <a:latin typeface="Arial"/>
              </a:rPr>
              <a:t>ERROR PROFILE</a:t>
            </a:r>
          </a:p>
        </p:txBody>
      </p:sp>
      <p:sp>
        <p:nvSpPr>
          <p:cNvPr id="5" name="TextBox 4"/>
          <p:cNvSpPr txBox="1"/>
          <p:nvPr/>
        </p:nvSpPr>
        <p:spPr>
          <a:xfrm>
            <a:off x="594360" y="521207"/>
            <a:ext cx="10972800" cy="530352"/>
          </a:xfrm>
          <a:prstGeom prst="rect">
            <a:avLst/>
          </a:prstGeom>
          <a:noFill/>
        </p:spPr>
        <p:txBody>
          <a:bodyPr wrap="square" lIns="0" tIns="0" rIns="0" bIns="0" anchor="t">
            <a:spAutoFit/>
          </a:bodyPr>
          <a:lstStyle/>
          <a:p>
            <a:pPr algn="l">
              <a:spcBef>
                <a:spcPts val="0"/>
              </a:spcBef>
              <a:spcAft>
                <a:spcPts val="0"/>
              </a:spcAft>
            </a:pPr>
            <a:r>
              <a:rPr sz="2800" b="1" i="0">
                <a:solidFill>
                  <a:srgbClr val="0F172A"/>
                </a:solidFill>
                <a:latin typeface="Arial"/>
              </a:rPr>
              <a:t>Champion Model (MARBERTv2) Per-Dialect Breakdown</a:t>
            </a:r>
          </a:p>
        </p:txBody>
      </p:sp>
      <p:sp>
        <p:nvSpPr>
          <p:cNvPr id="6" name="Oval 5"/>
          <p:cNvSpPr/>
          <p:nvPr/>
        </p:nvSpPr>
        <p:spPr>
          <a:xfrm>
            <a:off x="11411712" y="347472"/>
            <a:ext cx="164592" cy="164592"/>
          </a:xfrm>
          <a:prstGeom prst="ellipse">
            <a:avLst/>
          </a:prstGeom>
          <a:solidFill>
            <a:srgbClr val="38BDF8"/>
          </a:solidFill>
          <a:ln>
            <a:noFill/>
          </a:ln>
        </p:spPr>
        <p:txBody>
          <a:bodyPr rtlCol="0" anchor="ctr"/>
          <a:lstStyle/>
          <a:p>
            <a:pPr algn="ctr"/>
            <a:endParaRPr/>
          </a:p>
        </p:txBody>
      </p:sp>
      <p:sp>
        <p:nvSpPr>
          <p:cNvPr id="7" name="Oval 6"/>
          <p:cNvSpPr/>
          <p:nvPr/>
        </p:nvSpPr>
        <p:spPr>
          <a:xfrm>
            <a:off x="11612880" y="347472"/>
            <a:ext cx="164592" cy="164592"/>
          </a:xfrm>
          <a:prstGeom prst="ellipse">
            <a:avLst/>
          </a:prstGeom>
          <a:solidFill>
            <a:srgbClr val="EC4899"/>
          </a:solidFill>
          <a:ln>
            <a:noFill/>
          </a:ln>
        </p:spPr>
        <p:txBody>
          <a:bodyPr rtlCol="0" anchor="ctr"/>
          <a:lstStyle/>
          <a:p>
            <a:pPr algn="ctr"/>
            <a:endParaRPr/>
          </a:p>
        </p:txBody>
      </p:sp>
      <p:sp>
        <p:nvSpPr>
          <p:cNvPr id="8" name="Oval 7"/>
          <p:cNvSpPr/>
          <p:nvPr/>
        </p:nvSpPr>
        <p:spPr>
          <a:xfrm>
            <a:off x="11814048" y="347472"/>
            <a:ext cx="164592" cy="164592"/>
          </a:xfrm>
          <a:prstGeom prst="ellipse">
            <a:avLst/>
          </a:prstGeom>
          <a:solidFill>
            <a:srgbClr val="2563EB"/>
          </a:solidFill>
          <a:ln>
            <a:noFill/>
          </a:ln>
        </p:spPr>
        <p:txBody>
          <a:bodyPr rtlCol="0" anchor="ctr"/>
          <a:lstStyle/>
          <a:p>
            <a:pPr algn="ctr"/>
            <a:endParaRPr/>
          </a:p>
        </p:txBody>
      </p:sp>
      <p:sp>
        <p:nvSpPr>
          <p:cNvPr id="9" name="Rectangle 8"/>
          <p:cNvSpPr/>
          <p:nvPr/>
        </p:nvSpPr>
        <p:spPr>
          <a:xfrm>
            <a:off x="594360" y="1389888"/>
            <a:ext cx="2148840" cy="429768"/>
          </a:xfrm>
          <a:prstGeom prst="rect">
            <a:avLst/>
          </a:prstGeom>
          <a:solidFill>
            <a:srgbClr val="0F172A"/>
          </a:solidFill>
          <a:ln w="10160">
            <a:solidFill>
              <a:srgbClr val="F8FAFC"/>
            </a:solidFill>
          </a:ln>
        </p:spPr>
        <p:txBody>
          <a:bodyPr rtlCol="0" anchor="ctr"/>
          <a:lstStyle/>
          <a:p>
            <a:pPr algn="ctr"/>
            <a:endParaRPr/>
          </a:p>
        </p:txBody>
      </p:sp>
      <p:sp>
        <p:nvSpPr>
          <p:cNvPr id="10" name="TextBox 9"/>
          <p:cNvSpPr txBox="1"/>
          <p:nvPr/>
        </p:nvSpPr>
        <p:spPr>
          <a:xfrm>
            <a:off x="630936" y="1408176"/>
            <a:ext cx="2075688" cy="393192"/>
          </a:xfrm>
          <a:prstGeom prst="rect">
            <a:avLst/>
          </a:prstGeom>
          <a:noFill/>
        </p:spPr>
        <p:txBody>
          <a:bodyPr wrap="square" lIns="9144" tIns="9144" rIns="9144" bIns="9144" anchor="ctr">
            <a:spAutoFit/>
          </a:bodyPr>
          <a:lstStyle/>
          <a:p>
            <a:pPr algn="l">
              <a:spcBef>
                <a:spcPts val="0"/>
              </a:spcBef>
              <a:spcAft>
                <a:spcPts val="0"/>
              </a:spcAft>
            </a:pPr>
            <a:r>
              <a:rPr sz="910" b="1" i="0">
                <a:solidFill>
                  <a:srgbClr val="F8FAFC"/>
                </a:solidFill>
                <a:latin typeface="Arial"/>
              </a:rPr>
              <a:t>Dialect</a:t>
            </a:r>
          </a:p>
        </p:txBody>
      </p:sp>
      <p:sp>
        <p:nvSpPr>
          <p:cNvPr id="11" name="Rectangle 10"/>
          <p:cNvSpPr/>
          <p:nvPr/>
        </p:nvSpPr>
        <p:spPr>
          <a:xfrm>
            <a:off x="2743200" y="1389888"/>
            <a:ext cx="1024128" cy="429768"/>
          </a:xfrm>
          <a:prstGeom prst="rect">
            <a:avLst/>
          </a:prstGeom>
          <a:solidFill>
            <a:srgbClr val="0F172A"/>
          </a:solidFill>
          <a:ln w="10160">
            <a:solidFill>
              <a:srgbClr val="F8FAFC"/>
            </a:solidFill>
          </a:ln>
        </p:spPr>
        <p:txBody>
          <a:bodyPr rtlCol="0" anchor="ctr"/>
          <a:lstStyle/>
          <a:p>
            <a:pPr algn="ctr"/>
            <a:endParaRPr/>
          </a:p>
        </p:txBody>
      </p:sp>
      <p:sp>
        <p:nvSpPr>
          <p:cNvPr id="12" name="TextBox 11"/>
          <p:cNvSpPr txBox="1"/>
          <p:nvPr/>
        </p:nvSpPr>
        <p:spPr>
          <a:xfrm>
            <a:off x="2779776" y="1408176"/>
            <a:ext cx="950976" cy="393192"/>
          </a:xfrm>
          <a:prstGeom prst="rect">
            <a:avLst/>
          </a:prstGeom>
          <a:noFill/>
        </p:spPr>
        <p:txBody>
          <a:bodyPr wrap="square" lIns="9144" tIns="9144" rIns="9144" bIns="9144" anchor="ctr">
            <a:spAutoFit/>
          </a:bodyPr>
          <a:lstStyle/>
          <a:p>
            <a:pPr algn="ctr">
              <a:spcBef>
                <a:spcPts val="0"/>
              </a:spcBef>
              <a:spcAft>
                <a:spcPts val="0"/>
              </a:spcAft>
            </a:pPr>
            <a:r>
              <a:rPr sz="910" b="1" i="0">
                <a:solidFill>
                  <a:srgbClr val="F8FAFC"/>
                </a:solidFill>
                <a:latin typeface="Arial"/>
              </a:rPr>
              <a:t>Precision</a:t>
            </a:r>
          </a:p>
        </p:txBody>
      </p:sp>
      <p:sp>
        <p:nvSpPr>
          <p:cNvPr id="13" name="Rectangle 12"/>
          <p:cNvSpPr/>
          <p:nvPr/>
        </p:nvSpPr>
        <p:spPr>
          <a:xfrm>
            <a:off x="3767328" y="1389888"/>
            <a:ext cx="987552" cy="429768"/>
          </a:xfrm>
          <a:prstGeom prst="rect">
            <a:avLst/>
          </a:prstGeom>
          <a:solidFill>
            <a:srgbClr val="0F172A"/>
          </a:solidFill>
          <a:ln w="10160">
            <a:solidFill>
              <a:srgbClr val="F8FAFC"/>
            </a:solidFill>
          </a:ln>
        </p:spPr>
        <p:txBody>
          <a:bodyPr rtlCol="0" anchor="ctr"/>
          <a:lstStyle/>
          <a:p>
            <a:pPr algn="ctr"/>
            <a:endParaRPr/>
          </a:p>
        </p:txBody>
      </p:sp>
      <p:sp>
        <p:nvSpPr>
          <p:cNvPr id="14" name="TextBox 13"/>
          <p:cNvSpPr txBox="1"/>
          <p:nvPr/>
        </p:nvSpPr>
        <p:spPr>
          <a:xfrm>
            <a:off x="3803904" y="1408176"/>
            <a:ext cx="914400" cy="393192"/>
          </a:xfrm>
          <a:prstGeom prst="rect">
            <a:avLst/>
          </a:prstGeom>
          <a:noFill/>
        </p:spPr>
        <p:txBody>
          <a:bodyPr wrap="square" lIns="9144" tIns="9144" rIns="9144" bIns="9144" anchor="ctr">
            <a:spAutoFit/>
          </a:bodyPr>
          <a:lstStyle/>
          <a:p>
            <a:pPr algn="ctr">
              <a:spcBef>
                <a:spcPts val="0"/>
              </a:spcBef>
              <a:spcAft>
                <a:spcPts val="0"/>
              </a:spcAft>
            </a:pPr>
            <a:r>
              <a:rPr sz="910" b="1" i="0">
                <a:solidFill>
                  <a:srgbClr val="F8FAFC"/>
                </a:solidFill>
                <a:latin typeface="Arial"/>
              </a:rPr>
              <a:t>Recall</a:t>
            </a:r>
          </a:p>
        </p:txBody>
      </p:sp>
      <p:sp>
        <p:nvSpPr>
          <p:cNvPr id="15" name="Rectangle 14"/>
          <p:cNvSpPr/>
          <p:nvPr/>
        </p:nvSpPr>
        <p:spPr>
          <a:xfrm>
            <a:off x="4754880" y="1389888"/>
            <a:ext cx="1024128" cy="429768"/>
          </a:xfrm>
          <a:prstGeom prst="rect">
            <a:avLst/>
          </a:prstGeom>
          <a:solidFill>
            <a:srgbClr val="0F172A"/>
          </a:solidFill>
          <a:ln w="10160">
            <a:solidFill>
              <a:srgbClr val="F8FAFC"/>
            </a:solidFill>
          </a:ln>
        </p:spPr>
        <p:txBody>
          <a:bodyPr rtlCol="0" anchor="ctr"/>
          <a:lstStyle/>
          <a:p>
            <a:pPr algn="ctr"/>
            <a:endParaRPr/>
          </a:p>
        </p:txBody>
      </p:sp>
      <p:sp>
        <p:nvSpPr>
          <p:cNvPr id="16" name="TextBox 15"/>
          <p:cNvSpPr txBox="1"/>
          <p:nvPr/>
        </p:nvSpPr>
        <p:spPr>
          <a:xfrm>
            <a:off x="4791456" y="1408176"/>
            <a:ext cx="950976" cy="393192"/>
          </a:xfrm>
          <a:prstGeom prst="rect">
            <a:avLst/>
          </a:prstGeom>
          <a:noFill/>
        </p:spPr>
        <p:txBody>
          <a:bodyPr wrap="square" lIns="9144" tIns="9144" rIns="9144" bIns="9144" anchor="ctr">
            <a:spAutoFit/>
          </a:bodyPr>
          <a:lstStyle/>
          <a:p>
            <a:pPr algn="ctr">
              <a:spcBef>
                <a:spcPts val="0"/>
              </a:spcBef>
              <a:spcAft>
                <a:spcPts val="0"/>
              </a:spcAft>
            </a:pPr>
            <a:r>
              <a:rPr sz="910" b="1" i="0">
                <a:solidFill>
                  <a:srgbClr val="F8FAFC"/>
                </a:solidFill>
                <a:latin typeface="Arial"/>
              </a:rPr>
              <a:t>F1-Score</a:t>
            </a:r>
          </a:p>
        </p:txBody>
      </p:sp>
      <p:sp>
        <p:nvSpPr>
          <p:cNvPr id="17" name="Rectangle 16"/>
          <p:cNvSpPr/>
          <p:nvPr/>
        </p:nvSpPr>
        <p:spPr>
          <a:xfrm>
            <a:off x="5779008" y="1389888"/>
            <a:ext cx="868680" cy="429768"/>
          </a:xfrm>
          <a:prstGeom prst="rect">
            <a:avLst/>
          </a:prstGeom>
          <a:solidFill>
            <a:srgbClr val="0F172A"/>
          </a:solidFill>
          <a:ln w="10160">
            <a:solidFill>
              <a:srgbClr val="F8FAFC"/>
            </a:solidFill>
          </a:ln>
        </p:spPr>
        <p:txBody>
          <a:bodyPr rtlCol="0" anchor="ctr"/>
          <a:lstStyle/>
          <a:p>
            <a:pPr algn="ctr"/>
            <a:endParaRPr/>
          </a:p>
        </p:txBody>
      </p:sp>
      <p:sp>
        <p:nvSpPr>
          <p:cNvPr id="18" name="TextBox 17"/>
          <p:cNvSpPr txBox="1"/>
          <p:nvPr/>
        </p:nvSpPr>
        <p:spPr>
          <a:xfrm>
            <a:off x="5815584" y="1408176"/>
            <a:ext cx="795528" cy="393192"/>
          </a:xfrm>
          <a:prstGeom prst="rect">
            <a:avLst/>
          </a:prstGeom>
          <a:noFill/>
        </p:spPr>
        <p:txBody>
          <a:bodyPr wrap="square" lIns="9144" tIns="9144" rIns="9144" bIns="9144" anchor="ctr">
            <a:spAutoFit/>
          </a:bodyPr>
          <a:lstStyle/>
          <a:p>
            <a:pPr algn="ctr">
              <a:spcBef>
                <a:spcPts val="0"/>
              </a:spcBef>
              <a:spcAft>
                <a:spcPts val="0"/>
              </a:spcAft>
            </a:pPr>
            <a:r>
              <a:rPr sz="910" b="1" i="0">
                <a:solidFill>
                  <a:srgbClr val="F8FAFC"/>
                </a:solidFill>
                <a:latin typeface="Arial"/>
              </a:rPr>
              <a:t>Support</a:t>
            </a:r>
          </a:p>
        </p:txBody>
      </p:sp>
      <p:sp>
        <p:nvSpPr>
          <p:cNvPr id="19" name="Rectangle 18"/>
          <p:cNvSpPr/>
          <p:nvPr/>
        </p:nvSpPr>
        <p:spPr>
          <a:xfrm>
            <a:off x="594360" y="1819656"/>
            <a:ext cx="2148840" cy="502920"/>
          </a:xfrm>
          <a:prstGeom prst="rect">
            <a:avLst/>
          </a:prstGeom>
          <a:solidFill>
            <a:srgbClr val="FFFFFF"/>
          </a:solidFill>
          <a:ln w="10160">
            <a:solidFill>
              <a:srgbClr val="CBD5E1"/>
            </a:solidFill>
          </a:ln>
        </p:spPr>
        <p:txBody>
          <a:bodyPr rtlCol="0" anchor="ctr"/>
          <a:lstStyle/>
          <a:p>
            <a:pPr algn="ctr"/>
            <a:endParaRPr/>
          </a:p>
        </p:txBody>
      </p:sp>
      <p:sp>
        <p:nvSpPr>
          <p:cNvPr id="20" name="TextBox 19"/>
          <p:cNvSpPr txBox="1"/>
          <p:nvPr/>
        </p:nvSpPr>
        <p:spPr>
          <a:xfrm>
            <a:off x="630936" y="1828800"/>
            <a:ext cx="2075688" cy="484632"/>
          </a:xfrm>
          <a:prstGeom prst="rect">
            <a:avLst/>
          </a:prstGeom>
          <a:noFill/>
        </p:spPr>
        <p:txBody>
          <a:bodyPr wrap="square" lIns="9144" tIns="9144" rIns="9144" bIns="9144" anchor="ctr">
            <a:spAutoFit/>
          </a:bodyPr>
          <a:lstStyle/>
          <a:p>
            <a:pPr algn="l">
              <a:spcBef>
                <a:spcPts val="0"/>
              </a:spcBef>
              <a:spcAft>
                <a:spcPts val="0"/>
              </a:spcAft>
            </a:pPr>
            <a:r>
              <a:rPr sz="1040" b="1" i="0">
                <a:solidFill>
                  <a:srgbClr val="1E293B"/>
                </a:solidFill>
                <a:latin typeface="Arial"/>
              </a:rPr>
              <a:t>Tunis (Maghrebi)</a:t>
            </a:r>
          </a:p>
        </p:txBody>
      </p:sp>
      <p:sp>
        <p:nvSpPr>
          <p:cNvPr id="21" name="Rectangle 20"/>
          <p:cNvSpPr/>
          <p:nvPr/>
        </p:nvSpPr>
        <p:spPr>
          <a:xfrm>
            <a:off x="2743200" y="1819656"/>
            <a:ext cx="1024128" cy="502920"/>
          </a:xfrm>
          <a:prstGeom prst="rect">
            <a:avLst/>
          </a:prstGeom>
          <a:solidFill>
            <a:srgbClr val="FFFFFF"/>
          </a:solidFill>
          <a:ln w="10160">
            <a:solidFill>
              <a:srgbClr val="CBD5E1"/>
            </a:solidFill>
          </a:ln>
        </p:spPr>
        <p:txBody>
          <a:bodyPr rtlCol="0" anchor="ctr"/>
          <a:lstStyle/>
          <a:p>
            <a:pPr algn="ctr"/>
            <a:endParaRPr/>
          </a:p>
        </p:txBody>
      </p:sp>
      <p:sp>
        <p:nvSpPr>
          <p:cNvPr id="22" name="TextBox 21"/>
          <p:cNvSpPr txBox="1"/>
          <p:nvPr/>
        </p:nvSpPr>
        <p:spPr>
          <a:xfrm>
            <a:off x="2779776" y="1828800"/>
            <a:ext cx="950976" cy="484632"/>
          </a:xfrm>
          <a:prstGeom prst="rect">
            <a:avLst/>
          </a:prstGeom>
          <a:noFill/>
        </p:spPr>
        <p:txBody>
          <a:bodyPr wrap="square" lIns="9144" tIns="9144" rIns="9144" bIns="9144" anchor="ctr">
            <a:spAutoFit/>
          </a:bodyPr>
          <a:lstStyle/>
          <a:p>
            <a:pPr algn="l">
              <a:spcBef>
                <a:spcPts val="0"/>
              </a:spcBef>
              <a:spcAft>
                <a:spcPts val="0"/>
              </a:spcAft>
            </a:pPr>
            <a:r>
              <a:rPr sz="1040" b="0" i="0">
                <a:solidFill>
                  <a:srgbClr val="1E293B"/>
                </a:solidFill>
                <a:latin typeface="Arial"/>
              </a:rPr>
              <a:t>95.21%</a:t>
            </a:r>
          </a:p>
        </p:txBody>
      </p:sp>
      <p:sp>
        <p:nvSpPr>
          <p:cNvPr id="23" name="Rectangle 22"/>
          <p:cNvSpPr/>
          <p:nvPr/>
        </p:nvSpPr>
        <p:spPr>
          <a:xfrm>
            <a:off x="3767328" y="1819656"/>
            <a:ext cx="987552" cy="502920"/>
          </a:xfrm>
          <a:prstGeom prst="rect">
            <a:avLst/>
          </a:prstGeom>
          <a:solidFill>
            <a:srgbClr val="FFFFFF"/>
          </a:solidFill>
          <a:ln w="10160">
            <a:solidFill>
              <a:srgbClr val="CBD5E1"/>
            </a:solidFill>
          </a:ln>
        </p:spPr>
        <p:txBody>
          <a:bodyPr rtlCol="0" anchor="ctr"/>
          <a:lstStyle/>
          <a:p>
            <a:pPr algn="ctr"/>
            <a:endParaRPr/>
          </a:p>
        </p:txBody>
      </p:sp>
      <p:sp>
        <p:nvSpPr>
          <p:cNvPr id="24" name="TextBox 23"/>
          <p:cNvSpPr txBox="1"/>
          <p:nvPr/>
        </p:nvSpPr>
        <p:spPr>
          <a:xfrm>
            <a:off x="3803904" y="1828800"/>
            <a:ext cx="914400" cy="484632"/>
          </a:xfrm>
          <a:prstGeom prst="rect">
            <a:avLst/>
          </a:prstGeom>
          <a:noFill/>
        </p:spPr>
        <p:txBody>
          <a:bodyPr wrap="square" lIns="9144" tIns="9144" rIns="9144" bIns="9144" anchor="ctr">
            <a:spAutoFit/>
          </a:bodyPr>
          <a:lstStyle/>
          <a:p>
            <a:pPr algn="ctr">
              <a:spcBef>
                <a:spcPts val="0"/>
              </a:spcBef>
              <a:spcAft>
                <a:spcPts val="0"/>
              </a:spcAft>
            </a:pPr>
            <a:r>
              <a:rPr sz="1040" b="0" i="0">
                <a:solidFill>
                  <a:srgbClr val="1E293B"/>
                </a:solidFill>
                <a:latin typeface="Arial"/>
              </a:rPr>
              <a:t>93.69%</a:t>
            </a:r>
          </a:p>
        </p:txBody>
      </p:sp>
      <p:sp>
        <p:nvSpPr>
          <p:cNvPr id="25" name="Rectangle 24"/>
          <p:cNvSpPr/>
          <p:nvPr/>
        </p:nvSpPr>
        <p:spPr>
          <a:xfrm>
            <a:off x="4754880" y="1819656"/>
            <a:ext cx="1024128" cy="502920"/>
          </a:xfrm>
          <a:prstGeom prst="rect">
            <a:avLst/>
          </a:prstGeom>
          <a:solidFill>
            <a:srgbClr val="FFFFFF"/>
          </a:solidFill>
          <a:ln w="10160">
            <a:solidFill>
              <a:srgbClr val="CBD5E1"/>
            </a:solidFill>
          </a:ln>
        </p:spPr>
        <p:txBody>
          <a:bodyPr rtlCol="0" anchor="ctr"/>
          <a:lstStyle/>
          <a:p>
            <a:pPr algn="ctr"/>
            <a:endParaRPr/>
          </a:p>
        </p:txBody>
      </p:sp>
      <p:sp>
        <p:nvSpPr>
          <p:cNvPr id="26" name="TextBox 25"/>
          <p:cNvSpPr txBox="1"/>
          <p:nvPr/>
        </p:nvSpPr>
        <p:spPr>
          <a:xfrm>
            <a:off x="4791456" y="1828800"/>
            <a:ext cx="950976" cy="484632"/>
          </a:xfrm>
          <a:prstGeom prst="rect">
            <a:avLst/>
          </a:prstGeom>
          <a:noFill/>
        </p:spPr>
        <p:txBody>
          <a:bodyPr wrap="square" lIns="9144" tIns="9144" rIns="9144" bIns="9144" anchor="ctr">
            <a:spAutoFit/>
          </a:bodyPr>
          <a:lstStyle/>
          <a:p>
            <a:pPr algn="ctr">
              <a:spcBef>
                <a:spcPts val="0"/>
              </a:spcBef>
              <a:spcAft>
                <a:spcPts val="0"/>
              </a:spcAft>
            </a:pPr>
            <a:r>
              <a:rPr sz="1040" b="0" i="0">
                <a:solidFill>
                  <a:srgbClr val="1E293B"/>
                </a:solidFill>
                <a:latin typeface="Arial"/>
              </a:rPr>
              <a:t>94.44%</a:t>
            </a:r>
          </a:p>
        </p:txBody>
      </p:sp>
      <p:sp>
        <p:nvSpPr>
          <p:cNvPr id="27" name="Rectangle 26"/>
          <p:cNvSpPr/>
          <p:nvPr/>
        </p:nvSpPr>
        <p:spPr>
          <a:xfrm>
            <a:off x="5779008" y="1819656"/>
            <a:ext cx="868680" cy="502920"/>
          </a:xfrm>
          <a:prstGeom prst="rect">
            <a:avLst/>
          </a:prstGeom>
          <a:solidFill>
            <a:srgbClr val="FFFFFF"/>
          </a:solidFill>
          <a:ln w="10160">
            <a:solidFill>
              <a:srgbClr val="CBD5E1"/>
            </a:solidFill>
          </a:ln>
        </p:spPr>
        <p:txBody>
          <a:bodyPr rtlCol="0" anchor="ctr"/>
          <a:lstStyle/>
          <a:p>
            <a:pPr algn="ctr"/>
            <a:endParaRPr/>
          </a:p>
        </p:txBody>
      </p:sp>
      <p:sp>
        <p:nvSpPr>
          <p:cNvPr id="28" name="TextBox 27"/>
          <p:cNvSpPr txBox="1"/>
          <p:nvPr/>
        </p:nvSpPr>
        <p:spPr>
          <a:xfrm>
            <a:off x="5815584" y="1828800"/>
            <a:ext cx="795528" cy="484632"/>
          </a:xfrm>
          <a:prstGeom prst="rect">
            <a:avLst/>
          </a:prstGeom>
          <a:noFill/>
        </p:spPr>
        <p:txBody>
          <a:bodyPr wrap="square" lIns="9144" tIns="9144" rIns="9144" bIns="9144" anchor="ctr">
            <a:spAutoFit/>
          </a:bodyPr>
          <a:lstStyle/>
          <a:p>
            <a:pPr algn="ctr">
              <a:spcBef>
                <a:spcPts val="0"/>
              </a:spcBef>
              <a:spcAft>
                <a:spcPts val="0"/>
              </a:spcAft>
            </a:pPr>
            <a:r>
              <a:rPr sz="1040" b="0" i="0">
                <a:solidFill>
                  <a:srgbClr val="1E293B"/>
                </a:solidFill>
                <a:latin typeface="Arial"/>
              </a:rPr>
              <a:t>1,173</a:t>
            </a:r>
          </a:p>
        </p:txBody>
      </p:sp>
      <p:sp>
        <p:nvSpPr>
          <p:cNvPr id="29" name="Rectangle 28"/>
          <p:cNvSpPr/>
          <p:nvPr/>
        </p:nvSpPr>
        <p:spPr>
          <a:xfrm>
            <a:off x="594360" y="2322576"/>
            <a:ext cx="2148840" cy="502920"/>
          </a:xfrm>
          <a:prstGeom prst="rect">
            <a:avLst/>
          </a:prstGeom>
          <a:solidFill>
            <a:srgbClr val="F8FAFC"/>
          </a:solidFill>
          <a:ln w="10160">
            <a:solidFill>
              <a:srgbClr val="CBD5E1"/>
            </a:solidFill>
          </a:ln>
        </p:spPr>
        <p:txBody>
          <a:bodyPr rtlCol="0" anchor="ctr"/>
          <a:lstStyle/>
          <a:p>
            <a:pPr algn="ctr"/>
            <a:endParaRPr/>
          </a:p>
        </p:txBody>
      </p:sp>
      <p:sp>
        <p:nvSpPr>
          <p:cNvPr id="30" name="TextBox 29"/>
          <p:cNvSpPr txBox="1"/>
          <p:nvPr/>
        </p:nvSpPr>
        <p:spPr>
          <a:xfrm>
            <a:off x="630936" y="2331720"/>
            <a:ext cx="2075688" cy="484632"/>
          </a:xfrm>
          <a:prstGeom prst="rect">
            <a:avLst/>
          </a:prstGeom>
          <a:noFill/>
        </p:spPr>
        <p:txBody>
          <a:bodyPr wrap="square" lIns="9144" tIns="9144" rIns="9144" bIns="9144" anchor="ctr">
            <a:spAutoFit/>
          </a:bodyPr>
          <a:lstStyle/>
          <a:p>
            <a:pPr algn="l">
              <a:spcBef>
                <a:spcPts val="0"/>
              </a:spcBef>
              <a:spcAft>
                <a:spcPts val="0"/>
              </a:spcAft>
            </a:pPr>
            <a:r>
              <a:rPr sz="1040" b="1" i="0">
                <a:solidFill>
                  <a:srgbClr val="1E293B"/>
                </a:solidFill>
                <a:latin typeface="Arial"/>
              </a:rPr>
              <a:t>MSA (Formal)</a:t>
            </a:r>
          </a:p>
        </p:txBody>
      </p:sp>
      <p:sp>
        <p:nvSpPr>
          <p:cNvPr id="31" name="Rectangle 30"/>
          <p:cNvSpPr/>
          <p:nvPr/>
        </p:nvSpPr>
        <p:spPr>
          <a:xfrm>
            <a:off x="2743200" y="2322576"/>
            <a:ext cx="1024128" cy="502920"/>
          </a:xfrm>
          <a:prstGeom prst="rect">
            <a:avLst/>
          </a:prstGeom>
          <a:solidFill>
            <a:srgbClr val="F8FAFC"/>
          </a:solidFill>
          <a:ln w="10160">
            <a:solidFill>
              <a:srgbClr val="CBD5E1"/>
            </a:solidFill>
          </a:ln>
        </p:spPr>
        <p:txBody>
          <a:bodyPr rtlCol="0" anchor="ctr"/>
          <a:lstStyle/>
          <a:p>
            <a:pPr algn="ctr"/>
            <a:endParaRPr/>
          </a:p>
        </p:txBody>
      </p:sp>
      <p:sp>
        <p:nvSpPr>
          <p:cNvPr id="32" name="TextBox 31"/>
          <p:cNvSpPr txBox="1"/>
          <p:nvPr/>
        </p:nvSpPr>
        <p:spPr>
          <a:xfrm>
            <a:off x="2779776" y="2331720"/>
            <a:ext cx="950976" cy="484632"/>
          </a:xfrm>
          <a:prstGeom prst="rect">
            <a:avLst/>
          </a:prstGeom>
          <a:noFill/>
        </p:spPr>
        <p:txBody>
          <a:bodyPr wrap="square" lIns="9144" tIns="9144" rIns="9144" bIns="9144" anchor="ctr">
            <a:spAutoFit/>
          </a:bodyPr>
          <a:lstStyle/>
          <a:p>
            <a:pPr algn="l">
              <a:spcBef>
                <a:spcPts val="0"/>
              </a:spcBef>
              <a:spcAft>
                <a:spcPts val="0"/>
              </a:spcAft>
            </a:pPr>
            <a:r>
              <a:rPr sz="1040" b="0" i="0">
                <a:solidFill>
                  <a:srgbClr val="1E293B"/>
                </a:solidFill>
                <a:latin typeface="Arial"/>
              </a:rPr>
              <a:t>93.60%</a:t>
            </a:r>
          </a:p>
        </p:txBody>
      </p:sp>
      <p:sp>
        <p:nvSpPr>
          <p:cNvPr id="33" name="Rectangle 32"/>
          <p:cNvSpPr/>
          <p:nvPr/>
        </p:nvSpPr>
        <p:spPr>
          <a:xfrm>
            <a:off x="3767328" y="2322576"/>
            <a:ext cx="987552" cy="502920"/>
          </a:xfrm>
          <a:prstGeom prst="rect">
            <a:avLst/>
          </a:prstGeom>
          <a:solidFill>
            <a:srgbClr val="F8FAFC"/>
          </a:solidFill>
          <a:ln w="10160">
            <a:solidFill>
              <a:srgbClr val="CBD5E1"/>
            </a:solidFill>
          </a:ln>
        </p:spPr>
        <p:txBody>
          <a:bodyPr rtlCol="0" anchor="ctr"/>
          <a:lstStyle/>
          <a:p>
            <a:pPr algn="ctr"/>
            <a:endParaRPr/>
          </a:p>
        </p:txBody>
      </p:sp>
      <p:sp>
        <p:nvSpPr>
          <p:cNvPr id="34" name="TextBox 33"/>
          <p:cNvSpPr txBox="1"/>
          <p:nvPr/>
        </p:nvSpPr>
        <p:spPr>
          <a:xfrm>
            <a:off x="3803904" y="2331720"/>
            <a:ext cx="914400" cy="484632"/>
          </a:xfrm>
          <a:prstGeom prst="rect">
            <a:avLst/>
          </a:prstGeom>
          <a:noFill/>
        </p:spPr>
        <p:txBody>
          <a:bodyPr wrap="square" lIns="9144" tIns="9144" rIns="9144" bIns="9144" anchor="ctr">
            <a:spAutoFit/>
          </a:bodyPr>
          <a:lstStyle/>
          <a:p>
            <a:pPr algn="ctr">
              <a:spcBef>
                <a:spcPts val="0"/>
              </a:spcBef>
              <a:spcAft>
                <a:spcPts val="0"/>
              </a:spcAft>
            </a:pPr>
            <a:r>
              <a:rPr sz="1040" b="0" i="0">
                <a:solidFill>
                  <a:srgbClr val="1E293B"/>
                </a:solidFill>
                <a:latin typeface="Arial"/>
              </a:rPr>
              <a:t>94.61%</a:t>
            </a:r>
          </a:p>
        </p:txBody>
      </p:sp>
      <p:sp>
        <p:nvSpPr>
          <p:cNvPr id="35" name="Rectangle 34"/>
          <p:cNvSpPr/>
          <p:nvPr/>
        </p:nvSpPr>
        <p:spPr>
          <a:xfrm>
            <a:off x="4754880" y="2322576"/>
            <a:ext cx="1024128" cy="502920"/>
          </a:xfrm>
          <a:prstGeom prst="rect">
            <a:avLst/>
          </a:prstGeom>
          <a:solidFill>
            <a:srgbClr val="F8FAFC"/>
          </a:solidFill>
          <a:ln w="10160">
            <a:solidFill>
              <a:srgbClr val="CBD5E1"/>
            </a:solidFill>
          </a:ln>
        </p:spPr>
        <p:txBody>
          <a:bodyPr rtlCol="0" anchor="ctr"/>
          <a:lstStyle/>
          <a:p>
            <a:pPr algn="ctr"/>
            <a:endParaRPr/>
          </a:p>
        </p:txBody>
      </p:sp>
      <p:sp>
        <p:nvSpPr>
          <p:cNvPr id="36" name="TextBox 35"/>
          <p:cNvSpPr txBox="1"/>
          <p:nvPr/>
        </p:nvSpPr>
        <p:spPr>
          <a:xfrm>
            <a:off x="4791456" y="2331720"/>
            <a:ext cx="950976" cy="484632"/>
          </a:xfrm>
          <a:prstGeom prst="rect">
            <a:avLst/>
          </a:prstGeom>
          <a:noFill/>
        </p:spPr>
        <p:txBody>
          <a:bodyPr wrap="square" lIns="9144" tIns="9144" rIns="9144" bIns="9144" anchor="ctr">
            <a:spAutoFit/>
          </a:bodyPr>
          <a:lstStyle/>
          <a:p>
            <a:pPr algn="ctr">
              <a:spcBef>
                <a:spcPts val="0"/>
              </a:spcBef>
              <a:spcAft>
                <a:spcPts val="0"/>
              </a:spcAft>
            </a:pPr>
            <a:r>
              <a:rPr sz="1040" b="0" i="0">
                <a:solidFill>
                  <a:srgbClr val="1E293B"/>
                </a:solidFill>
                <a:latin typeface="Arial"/>
              </a:rPr>
              <a:t>94.10%</a:t>
            </a:r>
          </a:p>
        </p:txBody>
      </p:sp>
      <p:sp>
        <p:nvSpPr>
          <p:cNvPr id="37" name="Rectangle 36"/>
          <p:cNvSpPr/>
          <p:nvPr/>
        </p:nvSpPr>
        <p:spPr>
          <a:xfrm>
            <a:off x="5779008" y="2322576"/>
            <a:ext cx="868680" cy="502920"/>
          </a:xfrm>
          <a:prstGeom prst="rect">
            <a:avLst/>
          </a:prstGeom>
          <a:solidFill>
            <a:srgbClr val="F8FAFC"/>
          </a:solidFill>
          <a:ln w="10160">
            <a:solidFill>
              <a:srgbClr val="CBD5E1"/>
            </a:solidFill>
          </a:ln>
        </p:spPr>
        <p:txBody>
          <a:bodyPr rtlCol="0" anchor="ctr"/>
          <a:lstStyle/>
          <a:p>
            <a:pPr algn="ctr"/>
            <a:endParaRPr/>
          </a:p>
        </p:txBody>
      </p:sp>
      <p:sp>
        <p:nvSpPr>
          <p:cNvPr id="38" name="TextBox 37"/>
          <p:cNvSpPr txBox="1"/>
          <p:nvPr/>
        </p:nvSpPr>
        <p:spPr>
          <a:xfrm>
            <a:off x="5815584" y="2331720"/>
            <a:ext cx="795528" cy="484632"/>
          </a:xfrm>
          <a:prstGeom prst="rect">
            <a:avLst/>
          </a:prstGeom>
          <a:noFill/>
        </p:spPr>
        <p:txBody>
          <a:bodyPr wrap="square" lIns="9144" tIns="9144" rIns="9144" bIns="9144" anchor="ctr">
            <a:spAutoFit/>
          </a:bodyPr>
          <a:lstStyle/>
          <a:p>
            <a:pPr algn="ctr">
              <a:spcBef>
                <a:spcPts val="0"/>
              </a:spcBef>
              <a:spcAft>
                <a:spcPts val="0"/>
              </a:spcAft>
            </a:pPr>
            <a:r>
              <a:rPr sz="1040" b="0" i="0">
                <a:solidFill>
                  <a:srgbClr val="1E293B"/>
                </a:solidFill>
                <a:latin typeface="Arial"/>
              </a:rPr>
              <a:t>1,168</a:t>
            </a:r>
          </a:p>
        </p:txBody>
      </p:sp>
      <p:sp>
        <p:nvSpPr>
          <p:cNvPr id="39" name="Rectangle 38"/>
          <p:cNvSpPr/>
          <p:nvPr/>
        </p:nvSpPr>
        <p:spPr>
          <a:xfrm>
            <a:off x="594360" y="2825496"/>
            <a:ext cx="2148840" cy="502920"/>
          </a:xfrm>
          <a:prstGeom prst="rect">
            <a:avLst/>
          </a:prstGeom>
          <a:solidFill>
            <a:srgbClr val="FFFFFF"/>
          </a:solidFill>
          <a:ln w="10160">
            <a:solidFill>
              <a:srgbClr val="CBD5E1"/>
            </a:solidFill>
          </a:ln>
        </p:spPr>
        <p:txBody>
          <a:bodyPr rtlCol="0" anchor="ctr"/>
          <a:lstStyle/>
          <a:p>
            <a:pPr algn="ctr"/>
            <a:endParaRPr/>
          </a:p>
        </p:txBody>
      </p:sp>
      <p:sp>
        <p:nvSpPr>
          <p:cNvPr id="40" name="TextBox 39"/>
          <p:cNvSpPr txBox="1"/>
          <p:nvPr/>
        </p:nvSpPr>
        <p:spPr>
          <a:xfrm>
            <a:off x="630936" y="2834639"/>
            <a:ext cx="2075688" cy="484632"/>
          </a:xfrm>
          <a:prstGeom prst="rect">
            <a:avLst/>
          </a:prstGeom>
          <a:noFill/>
        </p:spPr>
        <p:txBody>
          <a:bodyPr wrap="square" lIns="9144" tIns="9144" rIns="9144" bIns="9144" anchor="ctr">
            <a:spAutoFit/>
          </a:bodyPr>
          <a:lstStyle/>
          <a:p>
            <a:pPr algn="l">
              <a:spcBef>
                <a:spcPts val="0"/>
              </a:spcBef>
              <a:spcAft>
                <a:spcPts val="0"/>
              </a:spcAft>
            </a:pPr>
            <a:r>
              <a:rPr sz="1040" b="1" i="0">
                <a:solidFill>
                  <a:srgbClr val="1E293B"/>
                </a:solidFill>
                <a:latin typeface="Arial"/>
              </a:rPr>
              <a:t>Cairo (Egyptian)</a:t>
            </a:r>
          </a:p>
        </p:txBody>
      </p:sp>
      <p:sp>
        <p:nvSpPr>
          <p:cNvPr id="41" name="Rectangle 40"/>
          <p:cNvSpPr/>
          <p:nvPr/>
        </p:nvSpPr>
        <p:spPr>
          <a:xfrm>
            <a:off x="2743200" y="2825496"/>
            <a:ext cx="1024128" cy="502920"/>
          </a:xfrm>
          <a:prstGeom prst="rect">
            <a:avLst/>
          </a:prstGeom>
          <a:solidFill>
            <a:srgbClr val="FFFFFF"/>
          </a:solidFill>
          <a:ln w="10160">
            <a:solidFill>
              <a:srgbClr val="CBD5E1"/>
            </a:solidFill>
          </a:ln>
        </p:spPr>
        <p:txBody>
          <a:bodyPr rtlCol="0" anchor="ctr"/>
          <a:lstStyle/>
          <a:p>
            <a:pPr algn="ctr"/>
            <a:endParaRPr/>
          </a:p>
        </p:txBody>
      </p:sp>
      <p:sp>
        <p:nvSpPr>
          <p:cNvPr id="42" name="TextBox 41"/>
          <p:cNvSpPr txBox="1"/>
          <p:nvPr/>
        </p:nvSpPr>
        <p:spPr>
          <a:xfrm>
            <a:off x="2779776" y="2834639"/>
            <a:ext cx="950976" cy="484632"/>
          </a:xfrm>
          <a:prstGeom prst="rect">
            <a:avLst/>
          </a:prstGeom>
          <a:noFill/>
        </p:spPr>
        <p:txBody>
          <a:bodyPr wrap="square" lIns="9144" tIns="9144" rIns="9144" bIns="9144" anchor="ctr">
            <a:spAutoFit/>
          </a:bodyPr>
          <a:lstStyle/>
          <a:p>
            <a:pPr algn="l">
              <a:spcBef>
                <a:spcPts val="0"/>
              </a:spcBef>
              <a:spcAft>
                <a:spcPts val="0"/>
              </a:spcAft>
            </a:pPr>
            <a:r>
              <a:rPr sz="1040" b="0" i="0">
                <a:solidFill>
                  <a:srgbClr val="1E293B"/>
                </a:solidFill>
                <a:latin typeface="Arial"/>
              </a:rPr>
              <a:t>92.42%</a:t>
            </a:r>
          </a:p>
        </p:txBody>
      </p:sp>
      <p:sp>
        <p:nvSpPr>
          <p:cNvPr id="43" name="Rectangle 42"/>
          <p:cNvSpPr/>
          <p:nvPr/>
        </p:nvSpPr>
        <p:spPr>
          <a:xfrm>
            <a:off x="3767328" y="2825496"/>
            <a:ext cx="987552" cy="502920"/>
          </a:xfrm>
          <a:prstGeom prst="rect">
            <a:avLst/>
          </a:prstGeom>
          <a:solidFill>
            <a:srgbClr val="FFFFFF"/>
          </a:solidFill>
          <a:ln w="10160">
            <a:solidFill>
              <a:srgbClr val="CBD5E1"/>
            </a:solidFill>
          </a:ln>
        </p:spPr>
        <p:txBody>
          <a:bodyPr rtlCol="0" anchor="ctr"/>
          <a:lstStyle/>
          <a:p>
            <a:pPr algn="ctr"/>
            <a:endParaRPr/>
          </a:p>
        </p:txBody>
      </p:sp>
      <p:sp>
        <p:nvSpPr>
          <p:cNvPr id="44" name="TextBox 43"/>
          <p:cNvSpPr txBox="1"/>
          <p:nvPr/>
        </p:nvSpPr>
        <p:spPr>
          <a:xfrm>
            <a:off x="3803904" y="2834639"/>
            <a:ext cx="914400" cy="484632"/>
          </a:xfrm>
          <a:prstGeom prst="rect">
            <a:avLst/>
          </a:prstGeom>
          <a:noFill/>
        </p:spPr>
        <p:txBody>
          <a:bodyPr wrap="square" lIns="9144" tIns="9144" rIns="9144" bIns="9144" anchor="ctr">
            <a:spAutoFit/>
          </a:bodyPr>
          <a:lstStyle/>
          <a:p>
            <a:pPr algn="ctr">
              <a:spcBef>
                <a:spcPts val="0"/>
              </a:spcBef>
              <a:spcAft>
                <a:spcPts val="0"/>
              </a:spcAft>
            </a:pPr>
            <a:r>
              <a:rPr sz="1040" b="0" i="0">
                <a:solidFill>
                  <a:srgbClr val="1E293B"/>
                </a:solidFill>
                <a:latin typeface="Arial"/>
              </a:rPr>
              <a:t>91.47%</a:t>
            </a:r>
          </a:p>
        </p:txBody>
      </p:sp>
      <p:sp>
        <p:nvSpPr>
          <p:cNvPr id="45" name="Rectangle 44"/>
          <p:cNvSpPr/>
          <p:nvPr/>
        </p:nvSpPr>
        <p:spPr>
          <a:xfrm>
            <a:off x="4754880" y="2825496"/>
            <a:ext cx="1024128" cy="502920"/>
          </a:xfrm>
          <a:prstGeom prst="rect">
            <a:avLst/>
          </a:prstGeom>
          <a:solidFill>
            <a:srgbClr val="FFFFFF"/>
          </a:solidFill>
          <a:ln w="10160">
            <a:solidFill>
              <a:srgbClr val="CBD5E1"/>
            </a:solidFill>
          </a:ln>
        </p:spPr>
        <p:txBody>
          <a:bodyPr rtlCol="0" anchor="ctr"/>
          <a:lstStyle/>
          <a:p>
            <a:pPr algn="ctr"/>
            <a:endParaRPr/>
          </a:p>
        </p:txBody>
      </p:sp>
      <p:sp>
        <p:nvSpPr>
          <p:cNvPr id="46" name="TextBox 45"/>
          <p:cNvSpPr txBox="1"/>
          <p:nvPr/>
        </p:nvSpPr>
        <p:spPr>
          <a:xfrm>
            <a:off x="4791456" y="2834639"/>
            <a:ext cx="950976" cy="484632"/>
          </a:xfrm>
          <a:prstGeom prst="rect">
            <a:avLst/>
          </a:prstGeom>
          <a:noFill/>
        </p:spPr>
        <p:txBody>
          <a:bodyPr wrap="square" lIns="9144" tIns="9144" rIns="9144" bIns="9144" anchor="ctr">
            <a:spAutoFit/>
          </a:bodyPr>
          <a:lstStyle/>
          <a:p>
            <a:pPr algn="ctr">
              <a:spcBef>
                <a:spcPts val="0"/>
              </a:spcBef>
              <a:spcAft>
                <a:spcPts val="0"/>
              </a:spcAft>
            </a:pPr>
            <a:r>
              <a:rPr sz="1040" b="0" i="0">
                <a:solidFill>
                  <a:srgbClr val="1E293B"/>
                </a:solidFill>
                <a:latin typeface="Arial"/>
              </a:rPr>
              <a:t>91.94%</a:t>
            </a:r>
          </a:p>
        </p:txBody>
      </p:sp>
      <p:sp>
        <p:nvSpPr>
          <p:cNvPr id="47" name="Rectangle 46"/>
          <p:cNvSpPr/>
          <p:nvPr/>
        </p:nvSpPr>
        <p:spPr>
          <a:xfrm>
            <a:off x="5779008" y="2825496"/>
            <a:ext cx="868680" cy="502920"/>
          </a:xfrm>
          <a:prstGeom prst="rect">
            <a:avLst/>
          </a:prstGeom>
          <a:solidFill>
            <a:srgbClr val="FFFFFF"/>
          </a:solidFill>
          <a:ln w="10160">
            <a:solidFill>
              <a:srgbClr val="CBD5E1"/>
            </a:solidFill>
          </a:ln>
        </p:spPr>
        <p:txBody>
          <a:bodyPr rtlCol="0" anchor="ctr"/>
          <a:lstStyle/>
          <a:p>
            <a:pPr algn="ctr"/>
            <a:endParaRPr/>
          </a:p>
        </p:txBody>
      </p:sp>
      <p:sp>
        <p:nvSpPr>
          <p:cNvPr id="48" name="TextBox 47"/>
          <p:cNvSpPr txBox="1"/>
          <p:nvPr/>
        </p:nvSpPr>
        <p:spPr>
          <a:xfrm>
            <a:off x="5815584" y="2834639"/>
            <a:ext cx="795528" cy="484632"/>
          </a:xfrm>
          <a:prstGeom prst="rect">
            <a:avLst/>
          </a:prstGeom>
          <a:noFill/>
        </p:spPr>
        <p:txBody>
          <a:bodyPr wrap="square" lIns="9144" tIns="9144" rIns="9144" bIns="9144" anchor="ctr">
            <a:spAutoFit/>
          </a:bodyPr>
          <a:lstStyle/>
          <a:p>
            <a:pPr algn="ctr">
              <a:spcBef>
                <a:spcPts val="0"/>
              </a:spcBef>
              <a:spcAft>
                <a:spcPts val="0"/>
              </a:spcAft>
            </a:pPr>
            <a:r>
              <a:rPr sz="1040" b="0" i="0">
                <a:solidFill>
                  <a:srgbClr val="1E293B"/>
                </a:solidFill>
                <a:latin typeface="Arial"/>
              </a:rPr>
              <a:t>1,172</a:t>
            </a:r>
          </a:p>
        </p:txBody>
      </p:sp>
      <p:sp>
        <p:nvSpPr>
          <p:cNvPr id="49" name="Rectangle 48"/>
          <p:cNvSpPr/>
          <p:nvPr/>
        </p:nvSpPr>
        <p:spPr>
          <a:xfrm>
            <a:off x="594360" y="3328415"/>
            <a:ext cx="2148840" cy="502920"/>
          </a:xfrm>
          <a:prstGeom prst="rect">
            <a:avLst/>
          </a:prstGeom>
          <a:solidFill>
            <a:srgbClr val="F8FAFC"/>
          </a:solidFill>
          <a:ln w="10160">
            <a:solidFill>
              <a:srgbClr val="CBD5E1"/>
            </a:solidFill>
          </a:ln>
        </p:spPr>
        <p:txBody>
          <a:bodyPr rtlCol="0" anchor="ctr"/>
          <a:lstStyle/>
          <a:p>
            <a:pPr algn="ctr"/>
            <a:endParaRPr/>
          </a:p>
        </p:txBody>
      </p:sp>
      <p:sp>
        <p:nvSpPr>
          <p:cNvPr id="50" name="TextBox 49"/>
          <p:cNvSpPr txBox="1"/>
          <p:nvPr/>
        </p:nvSpPr>
        <p:spPr>
          <a:xfrm>
            <a:off x="630936" y="3337559"/>
            <a:ext cx="2075688" cy="484632"/>
          </a:xfrm>
          <a:prstGeom prst="rect">
            <a:avLst/>
          </a:prstGeom>
          <a:noFill/>
        </p:spPr>
        <p:txBody>
          <a:bodyPr wrap="square" lIns="9144" tIns="9144" rIns="9144" bIns="9144" anchor="ctr">
            <a:spAutoFit/>
          </a:bodyPr>
          <a:lstStyle/>
          <a:p>
            <a:pPr algn="l">
              <a:spcBef>
                <a:spcPts val="0"/>
              </a:spcBef>
              <a:spcAft>
                <a:spcPts val="0"/>
              </a:spcAft>
            </a:pPr>
            <a:r>
              <a:rPr sz="1040" b="1" i="0">
                <a:solidFill>
                  <a:srgbClr val="1E293B"/>
                </a:solidFill>
                <a:latin typeface="Arial"/>
              </a:rPr>
              <a:t>Doha (Gulf)</a:t>
            </a:r>
          </a:p>
        </p:txBody>
      </p:sp>
      <p:sp>
        <p:nvSpPr>
          <p:cNvPr id="51" name="Rectangle 50"/>
          <p:cNvSpPr/>
          <p:nvPr/>
        </p:nvSpPr>
        <p:spPr>
          <a:xfrm>
            <a:off x="2743200" y="3328415"/>
            <a:ext cx="1024128" cy="502920"/>
          </a:xfrm>
          <a:prstGeom prst="rect">
            <a:avLst/>
          </a:prstGeom>
          <a:solidFill>
            <a:srgbClr val="F8FAFC"/>
          </a:solidFill>
          <a:ln w="10160">
            <a:solidFill>
              <a:srgbClr val="CBD5E1"/>
            </a:solidFill>
          </a:ln>
        </p:spPr>
        <p:txBody>
          <a:bodyPr rtlCol="0" anchor="ctr"/>
          <a:lstStyle/>
          <a:p>
            <a:pPr algn="ctr"/>
            <a:endParaRPr/>
          </a:p>
        </p:txBody>
      </p:sp>
      <p:sp>
        <p:nvSpPr>
          <p:cNvPr id="52" name="TextBox 51"/>
          <p:cNvSpPr txBox="1"/>
          <p:nvPr/>
        </p:nvSpPr>
        <p:spPr>
          <a:xfrm>
            <a:off x="2779776" y="3337559"/>
            <a:ext cx="950976" cy="484632"/>
          </a:xfrm>
          <a:prstGeom prst="rect">
            <a:avLst/>
          </a:prstGeom>
          <a:noFill/>
        </p:spPr>
        <p:txBody>
          <a:bodyPr wrap="square" lIns="9144" tIns="9144" rIns="9144" bIns="9144" anchor="ctr">
            <a:spAutoFit/>
          </a:bodyPr>
          <a:lstStyle/>
          <a:p>
            <a:pPr algn="l">
              <a:spcBef>
                <a:spcPts val="0"/>
              </a:spcBef>
              <a:spcAft>
                <a:spcPts val="0"/>
              </a:spcAft>
            </a:pPr>
            <a:r>
              <a:rPr sz="1040" b="0" i="0">
                <a:solidFill>
                  <a:srgbClr val="1E293B"/>
                </a:solidFill>
                <a:latin typeface="Arial"/>
              </a:rPr>
              <a:t>90.02%</a:t>
            </a:r>
          </a:p>
        </p:txBody>
      </p:sp>
      <p:sp>
        <p:nvSpPr>
          <p:cNvPr id="53" name="Rectangle 52"/>
          <p:cNvSpPr/>
          <p:nvPr/>
        </p:nvSpPr>
        <p:spPr>
          <a:xfrm>
            <a:off x="3767328" y="3328415"/>
            <a:ext cx="987552" cy="502920"/>
          </a:xfrm>
          <a:prstGeom prst="rect">
            <a:avLst/>
          </a:prstGeom>
          <a:solidFill>
            <a:srgbClr val="F8FAFC"/>
          </a:solidFill>
          <a:ln w="10160">
            <a:solidFill>
              <a:srgbClr val="CBD5E1"/>
            </a:solidFill>
          </a:ln>
        </p:spPr>
        <p:txBody>
          <a:bodyPr rtlCol="0" anchor="ctr"/>
          <a:lstStyle/>
          <a:p>
            <a:pPr algn="ctr"/>
            <a:endParaRPr/>
          </a:p>
        </p:txBody>
      </p:sp>
      <p:sp>
        <p:nvSpPr>
          <p:cNvPr id="54" name="TextBox 53"/>
          <p:cNvSpPr txBox="1"/>
          <p:nvPr/>
        </p:nvSpPr>
        <p:spPr>
          <a:xfrm>
            <a:off x="3803904" y="3337559"/>
            <a:ext cx="914400" cy="484632"/>
          </a:xfrm>
          <a:prstGeom prst="rect">
            <a:avLst/>
          </a:prstGeom>
          <a:noFill/>
        </p:spPr>
        <p:txBody>
          <a:bodyPr wrap="square" lIns="9144" tIns="9144" rIns="9144" bIns="9144" anchor="ctr">
            <a:spAutoFit/>
          </a:bodyPr>
          <a:lstStyle/>
          <a:p>
            <a:pPr algn="ctr">
              <a:spcBef>
                <a:spcPts val="0"/>
              </a:spcBef>
              <a:spcAft>
                <a:spcPts val="0"/>
              </a:spcAft>
            </a:pPr>
            <a:r>
              <a:rPr sz="1040" b="0" i="0">
                <a:solidFill>
                  <a:srgbClr val="1E293B"/>
                </a:solidFill>
                <a:latin typeface="Arial"/>
              </a:rPr>
              <a:t>91.47%</a:t>
            </a:r>
          </a:p>
        </p:txBody>
      </p:sp>
      <p:sp>
        <p:nvSpPr>
          <p:cNvPr id="55" name="Rectangle 54"/>
          <p:cNvSpPr/>
          <p:nvPr/>
        </p:nvSpPr>
        <p:spPr>
          <a:xfrm>
            <a:off x="4754880" y="3328415"/>
            <a:ext cx="1024128" cy="502920"/>
          </a:xfrm>
          <a:prstGeom prst="rect">
            <a:avLst/>
          </a:prstGeom>
          <a:solidFill>
            <a:srgbClr val="F8FAFC"/>
          </a:solidFill>
          <a:ln w="10160">
            <a:solidFill>
              <a:srgbClr val="CBD5E1"/>
            </a:solidFill>
          </a:ln>
        </p:spPr>
        <p:txBody>
          <a:bodyPr rtlCol="0" anchor="ctr"/>
          <a:lstStyle/>
          <a:p>
            <a:pPr algn="ctr"/>
            <a:endParaRPr/>
          </a:p>
        </p:txBody>
      </p:sp>
      <p:sp>
        <p:nvSpPr>
          <p:cNvPr id="56" name="TextBox 55"/>
          <p:cNvSpPr txBox="1"/>
          <p:nvPr/>
        </p:nvSpPr>
        <p:spPr>
          <a:xfrm>
            <a:off x="4791456" y="3337559"/>
            <a:ext cx="950976" cy="484632"/>
          </a:xfrm>
          <a:prstGeom prst="rect">
            <a:avLst/>
          </a:prstGeom>
          <a:noFill/>
        </p:spPr>
        <p:txBody>
          <a:bodyPr wrap="square" lIns="9144" tIns="9144" rIns="9144" bIns="9144" anchor="ctr">
            <a:spAutoFit/>
          </a:bodyPr>
          <a:lstStyle/>
          <a:p>
            <a:pPr algn="ctr">
              <a:spcBef>
                <a:spcPts val="0"/>
              </a:spcBef>
              <a:spcAft>
                <a:spcPts val="0"/>
              </a:spcAft>
            </a:pPr>
            <a:r>
              <a:rPr sz="1040" b="0" i="0">
                <a:solidFill>
                  <a:srgbClr val="1E293B"/>
                </a:solidFill>
                <a:latin typeface="Arial"/>
              </a:rPr>
              <a:t>90.74%</a:t>
            </a:r>
          </a:p>
        </p:txBody>
      </p:sp>
      <p:sp>
        <p:nvSpPr>
          <p:cNvPr id="57" name="Rectangle 56"/>
          <p:cNvSpPr/>
          <p:nvPr/>
        </p:nvSpPr>
        <p:spPr>
          <a:xfrm>
            <a:off x="5779008" y="3328415"/>
            <a:ext cx="868680" cy="502920"/>
          </a:xfrm>
          <a:prstGeom prst="rect">
            <a:avLst/>
          </a:prstGeom>
          <a:solidFill>
            <a:srgbClr val="F8FAFC"/>
          </a:solidFill>
          <a:ln w="10160">
            <a:solidFill>
              <a:srgbClr val="CBD5E1"/>
            </a:solidFill>
          </a:ln>
        </p:spPr>
        <p:txBody>
          <a:bodyPr rtlCol="0" anchor="ctr"/>
          <a:lstStyle/>
          <a:p>
            <a:pPr algn="ctr"/>
            <a:endParaRPr/>
          </a:p>
        </p:txBody>
      </p:sp>
      <p:sp>
        <p:nvSpPr>
          <p:cNvPr id="58" name="TextBox 57"/>
          <p:cNvSpPr txBox="1"/>
          <p:nvPr/>
        </p:nvSpPr>
        <p:spPr>
          <a:xfrm>
            <a:off x="5815584" y="3337559"/>
            <a:ext cx="795528" cy="484632"/>
          </a:xfrm>
          <a:prstGeom prst="rect">
            <a:avLst/>
          </a:prstGeom>
          <a:noFill/>
        </p:spPr>
        <p:txBody>
          <a:bodyPr wrap="square" lIns="9144" tIns="9144" rIns="9144" bIns="9144" anchor="ctr">
            <a:spAutoFit/>
          </a:bodyPr>
          <a:lstStyle/>
          <a:p>
            <a:pPr algn="ctr">
              <a:spcBef>
                <a:spcPts val="0"/>
              </a:spcBef>
              <a:spcAft>
                <a:spcPts val="0"/>
              </a:spcAft>
            </a:pPr>
            <a:r>
              <a:rPr sz="1040" b="0" i="0">
                <a:solidFill>
                  <a:srgbClr val="1E293B"/>
                </a:solidFill>
                <a:latin typeface="Arial"/>
              </a:rPr>
              <a:t>1,172</a:t>
            </a:r>
          </a:p>
        </p:txBody>
      </p:sp>
      <p:sp>
        <p:nvSpPr>
          <p:cNvPr id="59" name="Rectangle 58"/>
          <p:cNvSpPr/>
          <p:nvPr/>
        </p:nvSpPr>
        <p:spPr>
          <a:xfrm>
            <a:off x="594360" y="3831335"/>
            <a:ext cx="2148840" cy="502920"/>
          </a:xfrm>
          <a:prstGeom prst="rect">
            <a:avLst/>
          </a:prstGeom>
          <a:solidFill>
            <a:srgbClr val="FFFFFF"/>
          </a:solidFill>
          <a:ln w="10160">
            <a:solidFill>
              <a:srgbClr val="CBD5E1"/>
            </a:solidFill>
          </a:ln>
        </p:spPr>
        <p:txBody>
          <a:bodyPr rtlCol="0" anchor="ctr"/>
          <a:lstStyle/>
          <a:p>
            <a:pPr algn="ctr"/>
            <a:endParaRPr/>
          </a:p>
        </p:txBody>
      </p:sp>
      <p:sp>
        <p:nvSpPr>
          <p:cNvPr id="60" name="TextBox 59"/>
          <p:cNvSpPr txBox="1"/>
          <p:nvPr/>
        </p:nvSpPr>
        <p:spPr>
          <a:xfrm>
            <a:off x="630936" y="3840479"/>
            <a:ext cx="2075688" cy="484632"/>
          </a:xfrm>
          <a:prstGeom prst="rect">
            <a:avLst/>
          </a:prstGeom>
          <a:noFill/>
        </p:spPr>
        <p:txBody>
          <a:bodyPr wrap="square" lIns="9144" tIns="9144" rIns="9144" bIns="9144" anchor="ctr">
            <a:spAutoFit/>
          </a:bodyPr>
          <a:lstStyle/>
          <a:p>
            <a:pPr algn="l">
              <a:spcBef>
                <a:spcPts val="0"/>
              </a:spcBef>
              <a:spcAft>
                <a:spcPts val="0"/>
              </a:spcAft>
            </a:pPr>
            <a:r>
              <a:rPr sz="1040" b="1" i="0">
                <a:solidFill>
                  <a:srgbClr val="1E293B"/>
                </a:solidFill>
                <a:latin typeface="Arial"/>
              </a:rPr>
              <a:t>Beirut (Levantine)</a:t>
            </a:r>
          </a:p>
        </p:txBody>
      </p:sp>
      <p:sp>
        <p:nvSpPr>
          <p:cNvPr id="61" name="Rectangle 60"/>
          <p:cNvSpPr/>
          <p:nvPr/>
        </p:nvSpPr>
        <p:spPr>
          <a:xfrm>
            <a:off x="2743200" y="3831335"/>
            <a:ext cx="1024128" cy="502920"/>
          </a:xfrm>
          <a:prstGeom prst="rect">
            <a:avLst/>
          </a:prstGeom>
          <a:solidFill>
            <a:srgbClr val="FFFFFF"/>
          </a:solidFill>
          <a:ln w="10160">
            <a:solidFill>
              <a:srgbClr val="CBD5E1"/>
            </a:solidFill>
          </a:ln>
        </p:spPr>
        <p:txBody>
          <a:bodyPr rtlCol="0" anchor="ctr"/>
          <a:lstStyle/>
          <a:p>
            <a:pPr algn="ctr"/>
            <a:endParaRPr/>
          </a:p>
        </p:txBody>
      </p:sp>
      <p:sp>
        <p:nvSpPr>
          <p:cNvPr id="62" name="TextBox 61"/>
          <p:cNvSpPr txBox="1"/>
          <p:nvPr/>
        </p:nvSpPr>
        <p:spPr>
          <a:xfrm>
            <a:off x="2779776" y="3840479"/>
            <a:ext cx="950976" cy="484632"/>
          </a:xfrm>
          <a:prstGeom prst="rect">
            <a:avLst/>
          </a:prstGeom>
          <a:noFill/>
        </p:spPr>
        <p:txBody>
          <a:bodyPr wrap="square" lIns="9144" tIns="9144" rIns="9144" bIns="9144" anchor="ctr">
            <a:spAutoFit/>
          </a:bodyPr>
          <a:lstStyle/>
          <a:p>
            <a:pPr algn="l">
              <a:spcBef>
                <a:spcPts val="0"/>
              </a:spcBef>
              <a:spcAft>
                <a:spcPts val="0"/>
              </a:spcAft>
            </a:pPr>
            <a:r>
              <a:rPr sz="1040" b="0" i="0">
                <a:solidFill>
                  <a:srgbClr val="1E293B"/>
                </a:solidFill>
                <a:latin typeface="Arial"/>
              </a:rPr>
              <a:t>90.09%</a:t>
            </a:r>
          </a:p>
        </p:txBody>
      </p:sp>
      <p:sp>
        <p:nvSpPr>
          <p:cNvPr id="63" name="Rectangle 62"/>
          <p:cNvSpPr/>
          <p:nvPr/>
        </p:nvSpPr>
        <p:spPr>
          <a:xfrm>
            <a:off x="3767328" y="3831335"/>
            <a:ext cx="987552" cy="502920"/>
          </a:xfrm>
          <a:prstGeom prst="rect">
            <a:avLst/>
          </a:prstGeom>
          <a:solidFill>
            <a:srgbClr val="FFFFFF"/>
          </a:solidFill>
          <a:ln w="10160">
            <a:solidFill>
              <a:srgbClr val="CBD5E1"/>
            </a:solidFill>
          </a:ln>
        </p:spPr>
        <p:txBody>
          <a:bodyPr rtlCol="0" anchor="ctr"/>
          <a:lstStyle/>
          <a:p>
            <a:pPr algn="ctr"/>
            <a:endParaRPr/>
          </a:p>
        </p:txBody>
      </p:sp>
      <p:sp>
        <p:nvSpPr>
          <p:cNvPr id="64" name="TextBox 63"/>
          <p:cNvSpPr txBox="1"/>
          <p:nvPr/>
        </p:nvSpPr>
        <p:spPr>
          <a:xfrm>
            <a:off x="3803904" y="3840479"/>
            <a:ext cx="914400" cy="484632"/>
          </a:xfrm>
          <a:prstGeom prst="rect">
            <a:avLst/>
          </a:prstGeom>
          <a:noFill/>
        </p:spPr>
        <p:txBody>
          <a:bodyPr wrap="square" lIns="9144" tIns="9144" rIns="9144" bIns="9144" anchor="ctr">
            <a:spAutoFit/>
          </a:bodyPr>
          <a:lstStyle/>
          <a:p>
            <a:pPr algn="ctr">
              <a:spcBef>
                <a:spcPts val="0"/>
              </a:spcBef>
              <a:spcAft>
                <a:spcPts val="0"/>
              </a:spcAft>
            </a:pPr>
            <a:r>
              <a:rPr sz="1040" b="0" i="0">
                <a:solidFill>
                  <a:srgbClr val="1E293B"/>
                </a:solidFill>
                <a:latin typeface="Arial"/>
              </a:rPr>
              <a:t>89.99%</a:t>
            </a:r>
          </a:p>
        </p:txBody>
      </p:sp>
      <p:sp>
        <p:nvSpPr>
          <p:cNvPr id="65" name="Rectangle 64"/>
          <p:cNvSpPr/>
          <p:nvPr/>
        </p:nvSpPr>
        <p:spPr>
          <a:xfrm>
            <a:off x="4754880" y="3831335"/>
            <a:ext cx="1024128" cy="502920"/>
          </a:xfrm>
          <a:prstGeom prst="rect">
            <a:avLst/>
          </a:prstGeom>
          <a:solidFill>
            <a:srgbClr val="FFFFFF"/>
          </a:solidFill>
          <a:ln w="10160">
            <a:solidFill>
              <a:srgbClr val="CBD5E1"/>
            </a:solidFill>
          </a:ln>
        </p:spPr>
        <p:txBody>
          <a:bodyPr rtlCol="0" anchor="ctr"/>
          <a:lstStyle/>
          <a:p>
            <a:pPr algn="ctr"/>
            <a:endParaRPr/>
          </a:p>
        </p:txBody>
      </p:sp>
      <p:sp>
        <p:nvSpPr>
          <p:cNvPr id="66" name="TextBox 65"/>
          <p:cNvSpPr txBox="1"/>
          <p:nvPr/>
        </p:nvSpPr>
        <p:spPr>
          <a:xfrm>
            <a:off x="4791456" y="3840479"/>
            <a:ext cx="950976" cy="484632"/>
          </a:xfrm>
          <a:prstGeom prst="rect">
            <a:avLst/>
          </a:prstGeom>
          <a:noFill/>
        </p:spPr>
        <p:txBody>
          <a:bodyPr wrap="square" lIns="9144" tIns="9144" rIns="9144" bIns="9144" anchor="ctr">
            <a:spAutoFit/>
          </a:bodyPr>
          <a:lstStyle/>
          <a:p>
            <a:pPr algn="ctr">
              <a:spcBef>
                <a:spcPts val="0"/>
              </a:spcBef>
              <a:spcAft>
                <a:spcPts val="0"/>
              </a:spcAft>
            </a:pPr>
            <a:r>
              <a:rPr sz="1040" b="0" i="0">
                <a:solidFill>
                  <a:srgbClr val="1E293B"/>
                </a:solidFill>
                <a:latin typeface="Arial"/>
              </a:rPr>
              <a:t>90.04%</a:t>
            </a:r>
          </a:p>
        </p:txBody>
      </p:sp>
      <p:sp>
        <p:nvSpPr>
          <p:cNvPr id="67" name="Rectangle 66"/>
          <p:cNvSpPr/>
          <p:nvPr/>
        </p:nvSpPr>
        <p:spPr>
          <a:xfrm>
            <a:off x="5779008" y="3831335"/>
            <a:ext cx="868680" cy="502920"/>
          </a:xfrm>
          <a:prstGeom prst="rect">
            <a:avLst/>
          </a:prstGeom>
          <a:solidFill>
            <a:srgbClr val="FFFFFF"/>
          </a:solidFill>
          <a:ln w="10160">
            <a:solidFill>
              <a:srgbClr val="CBD5E1"/>
            </a:solidFill>
          </a:ln>
        </p:spPr>
        <p:txBody>
          <a:bodyPr rtlCol="0" anchor="ctr"/>
          <a:lstStyle/>
          <a:p>
            <a:pPr algn="ctr"/>
            <a:endParaRPr/>
          </a:p>
        </p:txBody>
      </p:sp>
      <p:sp>
        <p:nvSpPr>
          <p:cNvPr id="68" name="TextBox 67"/>
          <p:cNvSpPr txBox="1"/>
          <p:nvPr/>
        </p:nvSpPr>
        <p:spPr>
          <a:xfrm>
            <a:off x="5815584" y="3840479"/>
            <a:ext cx="795528" cy="484632"/>
          </a:xfrm>
          <a:prstGeom prst="rect">
            <a:avLst/>
          </a:prstGeom>
          <a:noFill/>
        </p:spPr>
        <p:txBody>
          <a:bodyPr wrap="square" lIns="9144" tIns="9144" rIns="9144" bIns="9144" anchor="ctr">
            <a:spAutoFit/>
          </a:bodyPr>
          <a:lstStyle/>
          <a:p>
            <a:pPr algn="ctr">
              <a:spcBef>
                <a:spcPts val="0"/>
              </a:spcBef>
              <a:spcAft>
                <a:spcPts val="0"/>
              </a:spcAft>
            </a:pPr>
            <a:r>
              <a:rPr sz="1040" b="0" i="0">
                <a:solidFill>
                  <a:srgbClr val="1E293B"/>
                </a:solidFill>
                <a:latin typeface="Arial"/>
              </a:rPr>
              <a:t>1,160</a:t>
            </a:r>
          </a:p>
        </p:txBody>
      </p:sp>
      <p:sp>
        <p:nvSpPr>
          <p:cNvPr id="69" name="Rounded Rectangle 68"/>
          <p:cNvSpPr/>
          <p:nvPr/>
        </p:nvSpPr>
        <p:spPr>
          <a:xfrm>
            <a:off x="594360" y="4553712"/>
            <a:ext cx="6053328" cy="1234440"/>
          </a:xfrm>
          <a:prstGeom prst="roundRect">
            <a:avLst/>
          </a:prstGeom>
          <a:solidFill>
            <a:srgbClr val="DCFCE7"/>
          </a:solidFill>
          <a:ln w="10160">
            <a:solidFill>
              <a:srgbClr val="BBF7D0"/>
            </a:solidFill>
          </a:ln>
        </p:spPr>
        <p:txBody>
          <a:bodyPr rtlCol="0" anchor="ctr"/>
          <a:lstStyle/>
          <a:p>
            <a:pPr algn="ctr"/>
            <a:endParaRPr/>
          </a:p>
        </p:txBody>
      </p:sp>
      <p:sp>
        <p:nvSpPr>
          <p:cNvPr id="70" name="TextBox 69"/>
          <p:cNvSpPr txBox="1"/>
          <p:nvPr/>
        </p:nvSpPr>
        <p:spPr>
          <a:xfrm>
            <a:off x="859536" y="4736592"/>
            <a:ext cx="2103120" cy="210312"/>
          </a:xfrm>
          <a:prstGeom prst="rect">
            <a:avLst/>
          </a:prstGeom>
          <a:noFill/>
        </p:spPr>
        <p:txBody>
          <a:bodyPr wrap="square" lIns="0" tIns="0" rIns="0" bIns="0" anchor="t">
            <a:spAutoFit/>
          </a:bodyPr>
          <a:lstStyle/>
          <a:p>
            <a:pPr algn="l">
              <a:spcBef>
                <a:spcPts val="0"/>
              </a:spcBef>
              <a:spcAft>
                <a:spcPts val="0"/>
              </a:spcAft>
            </a:pPr>
            <a:r>
              <a:rPr sz="900" b="1" i="0">
                <a:solidFill>
                  <a:srgbClr val="16A34A"/>
                </a:solidFill>
                <a:latin typeface="Arial"/>
              </a:rPr>
              <a:t>77 ERRORS ELIMINATED</a:t>
            </a:r>
          </a:p>
        </p:txBody>
      </p:sp>
      <p:sp>
        <p:nvSpPr>
          <p:cNvPr id="71" name="TextBox 70"/>
          <p:cNvSpPr txBox="1"/>
          <p:nvPr/>
        </p:nvSpPr>
        <p:spPr>
          <a:xfrm>
            <a:off x="859536" y="5010912"/>
            <a:ext cx="2057400" cy="448056"/>
          </a:xfrm>
          <a:prstGeom prst="rect">
            <a:avLst/>
          </a:prstGeom>
          <a:noFill/>
        </p:spPr>
        <p:txBody>
          <a:bodyPr wrap="square" lIns="0" tIns="0" rIns="0" bIns="0" anchor="t">
            <a:spAutoFit/>
          </a:bodyPr>
          <a:lstStyle/>
          <a:p>
            <a:pPr algn="l">
              <a:spcBef>
                <a:spcPts val="0"/>
              </a:spcBef>
              <a:spcAft>
                <a:spcPts val="0"/>
              </a:spcAft>
            </a:pPr>
            <a:r>
              <a:rPr sz="2600" b="1" i="0">
                <a:solidFill>
                  <a:srgbClr val="16A34A"/>
                </a:solidFill>
                <a:latin typeface="Arial"/>
              </a:rPr>
              <a:t>530 → 453</a:t>
            </a:r>
          </a:p>
        </p:txBody>
      </p:sp>
      <p:sp>
        <p:nvSpPr>
          <p:cNvPr id="72" name="TextBox 71"/>
          <p:cNvSpPr txBox="1"/>
          <p:nvPr/>
        </p:nvSpPr>
        <p:spPr>
          <a:xfrm>
            <a:off x="2971800" y="4974336"/>
            <a:ext cx="3246120" cy="438912"/>
          </a:xfrm>
          <a:prstGeom prst="rect">
            <a:avLst/>
          </a:prstGeom>
          <a:noFill/>
        </p:spPr>
        <p:txBody>
          <a:bodyPr wrap="square" lIns="0" tIns="0" rIns="0" bIns="0" anchor="ctr">
            <a:spAutoFit/>
          </a:bodyPr>
          <a:lstStyle/>
          <a:p>
            <a:pPr algn="l">
              <a:spcBef>
                <a:spcPts val="0"/>
              </a:spcBef>
              <a:spcAft>
                <a:spcPts val="0"/>
              </a:spcAft>
            </a:pPr>
            <a:r>
              <a:rPr sz="1200" b="1" i="0">
                <a:solidFill>
                  <a:srgbClr val="1E293B"/>
                </a:solidFill>
                <a:latin typeface="Arial"/>
              </a:rPr>
              <a:t>14.5% fewer test errors on the same test set</a:t>
            </a:r>
          </a:p>
        </p:txBody>
      </p:sp>
      <p:cxnSp>
        <p:nvCxnSpPr>
          <p:cNvPr id="92" name="Connector 91"/>
          <p:cNvCxnSpPr/>
          <p:nvPr/>
        </p:nvCxnSpPr>
        <p:spPr>
          <a:xfrm>
            <a:off x="594360" y="6473952"/>
            <a:ext cx="11000232" cy="0"/>
          </a:xfrm>
          <a:prstGeom prst="line">
            <a:avLst/>
          </a:prstGeom>
          <a:ln w="8890">
            <a:solidFill>
              <a:srgbClr val="CBD5E1"/>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603504" y="6547104"/>
            <a:ext cx="4572000" cy="164592"/>
          </a:xfrm>
          <a:prstGeom prst="rect">
            <a:avLst/>
          </a:prstGeom>
          <a:noFill/>
        </p:spPr>
        <p:txBody>
          <a:bodyPr wrap="square" lIns="0" tIns="0" rIns="0" bIns="0" anchor="t">
            <a:spAutoFit/>
          </a:bodyPr>
          <a:lstStyle/>
          <a:p>
            <a:pPr algn="l">
              <a:spcBef>
                <a:spcPts val="0"/>
              </a:spcBef>
              <a:spcAft>
                <a:spcPts val="0"/>
              </a:spcAft>
            </a:pPr>
            <a:r>
              <a:rPr sz="800" b="1" i="0">
                <a:solidFill>
                  <a:srgbClr val="64748B"/>
                </a:solidFill>
                <a:latin typeface="Arial"/>
              </a:rPr>
              <a:t>ARABIC DIALECT CLASSIFICATION</a:t>
            </a:r>
          </a:p>
        </p:txBody>
      </p:sp>
      <p:sp>
        <p:nvSpPr>
          <p:cNvPr id="94" name="TextBox 93"/>
          <p:cNvSpPr txBox="1"/>
          <p:nvPr/>
        </p:nvSpPr>
        <p:spPr>
          <a:xfrm>
            <a:off x="10652760" y="6528816"/>
            <a:ext cx="914400" cy="182880"/>
          </a:xfrm>
          <a:prstGeom prst="rect">
            <a:avLst/>
          </a:prstGeom>
          <a:noFill/>
        </p:spPr>
        <p:txBody>
          <a:bodyPr wrap="square" lIns="0" tIns="0" rIns="0" bIns="0" anchor="t">
            <a:spAutoFit/>
          </a:bodyPr>
          <a:lstStyle/>
          <a:p>
            <a:pPr algn="r">
              <a:spcBef>
                <a:spcPts val="0"/>
              </a:spcBef>
              <a:spcAft>
                <a:spcPts val="0"/>
              </a:spcAft>
            </a:pPr>
            <a:r>
              <a:rPr sz="850" b="1" i="0">
                <a:solidFill>
                  <a:srgbClr val="64748B"/>
                </a:solidFill>
                <a:latin typeface="Arial"/>
              </a:rPr>
              <a:t>08  /  12</a:t>
            </a:r>
          </a:p>
        </p:txBody>
      </p:sp>
      <p:pic>
        <p:nvPicPr>
          <p:cNvPr id="95" name="Picture 94">
            <a:extLst>
              <a:ext uri="{FF2B5EF4-FFF2-40B4-BE49-F238E27FC236}">
                <a16:creationId xmlns:a16="http://schemas.microsoft.com/office/drawing/2014/main" id="{86B915BD-7F28-8667-3F9C-EB65C33129C4}"/>
              </a:ext>
            </a:extLst>
          </p:cNvPr>
          <p:cNvPicPr>
            <a:picLocks noChangeAspect="1"/>
          </p:cNvPicPr>
          <p:nvPr/>
        </p:nvPicPr>
        <p:blipFill>
          <a:blip r:embed="rId3"/>
          <a:stretch>
            <a:fillRect/>
          </a:stretch>
        </p:blipFill>
        <p:spPr>
          <a:xfrm>
            <a:off x="6915912" y="1408177"/>
            <a:ext cx="5065776" cy="43799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F172A"/>
          </a:solidFill>
          <a:ln>
            <a:noFill/>
          </a:ln>
        </p:spPr>
        <p:txBody>
          <a:bodyPr rtlCol="0" anchor="ctr"/>
          <a:lstStyle/>
          <a:p>
            <a:pPr algn="ctr"/>
            <a:endParaRPr/>
          </a:p>
        </p:txBody>
      </p:sp>
      <p:sp>
        <p:nvSpPr>
          <p:cNvPr id="3" name="Rectangle 2"/>
          <p:cNvSpPr/>
          <p:nvPr/>
        </p:nvSpPr>
        <p:spPr>
          <a:xfrm>
            <a:off x="0" y="0"/>
            <a:ext cx="2011680" cy="128016"/>
          </a:xfrm>
          <a:prstGeom prst="rect">
            <a:avLst/>
          </a:prstGeom>
          <a:solidFill>
            <a:srgbClr val="38BDF8"/>
          </a:solidFill>
          <a:ln>
            <a:noFill/>
          </a:ln>
        </p:spPr>
        <p:txBody>
          <a:bodyPr rtlCol="0" anchor="ctr"/>
          <a:lstStyle/>
          <a:p>
            <a:pPr algn="ctr"/>
            <a:endParaRPr/>
          </a:p>
        </p:txBody>
      </p:sp>
      <p:sp>
        <p:nvSpPr>
          <p:cNvPr id="4" name="TextBox 3"/>
          <p:cNvSpPr txBox="1"/>
          <p:nvPr/>
        </p:nvSpPr>
        <p:spPr>
          <a:xfrm>
            <a:off x="603504" y="274320"/>
            <a:ext cx="2743200" cy="201168"/>
          </a:xfrm>
          <a:prstGeom prst="rect">
            <a:avLst/>
          </a:prstGeom>
          <a:noFill/>
        </p:spPr>
        <p:txBody>
          <a:bodyPr wrap="square" lIns="0" tIns="0" rIns="0" bIns="0" anchor="t">
            <a:spAutoFit/>
          </a:bodyPr>
          <a:lstStyle/>
          <a:p>
            <a:pPr algn="l">
              <a:spcBef>
                <a:spcPts val="0"/>
              </a:spcBef>
              <a:spcAft>
                <a:spcPts val="0"/>
              </a:spcAft>
            </a:pPr>
            <a:r>
              <a:rPr sz="850" b="1" i="0">
                <a:solidFill>
                  <a:srgbClr val="2563EB"/>
                </a:solidFill>
                <a:latin typeface="Arial"/>
              </a:rPr>
              <a:t>MODEL INTERPRETABILITY</a:t>
            </a:r>
          </a:p>
        </p:txBody>
      </p:sp>
      <p:sp>
        <p:nvSpPr>
          <p:cNvPr id="5" name="TextBox 4"/>
          <p:cNvSpPr txBox="1"/>
          <p:nvPr/>
        </p:nvSpPr>
        <p:spPr>
          <a:xfrm>
            <a:off x="594360" y="521207"/>
            <a:ext cx="10972800" cy="530352"/>
          </a:xfrm>
          <a:prstGeom prst="rect">
            <a:avLst/>
          </a:prstGeom>
          <a:noFill/>
        </p:spPr>
        <p:txBody>
          <a:bodyPr wrap="square" lIns="0" tIns="0" rIns="0" bIns="0" anchor="t">
            <a:spAutoFit/>
          </a:bodyPr>
          <a:lstStyle/>
          <a:p>
            <a:pPr algn="l">
              <a:spcBef>
                <a:spcPts val="0"/>
              </a:spcBef>
              <a:spcAft>
                <a:spcPts val="0"/>
              </a:spcAft>
            </a:pPr>
            <a:r>
              <a:rPr sz="2800" b="1" i="0">
                <a:solidFill>
                  <a:srgbClr val="0F172A"/>
                </a:solidFill>
                <a:latin typeface="Arial"/>
              </a:rPr>
              <a:t>Deep Error Analysis: Why Do 7.75% (453) Errors Remain?</a:t>
            </a:r>
          </a:p>
        </p:txBody>
      </p:sp>
      <p:sp>
        <p:nvSpPr>
          <p:cNvPr id="6" name="Oval 5"/>
          <p:cNvSpPr/>
          <p:nvPr/>
        </p:nvSpPr>
        <p:spPr>
          <a:xfrm>
            <a:off x="11411712" y="347472"/>
            <a:ext cx="164592" cy="164592"/>
          </a:xfrm>
          <a:prstGeom prst="ellipse">
            <a:avLst/>
          </a:prstGeom>
          <a:solidFill>
            <a:srgbClr val="38BDF8"/>
          </a:solidFill>
          <a:ln>
            <a:noFill/>
          </a:ln>
        </p:spPr>
        <p:txBody>
          <a:bodyPr rtlCol="0" anchor="ctr"/>
          <a:lstStyle/>
          <a:p>
            <a:pPr algn="ctr"/>
            <a:endParaRPr/>
          </a:p>
        </p:txBody>
      </p:sp>
      <p:sp>
        <p:nvSpPr>
          <p:cNvPr id="7" name="Oval 6"/>
          <p:cNvSpPr/>
          <p:nvPr/>
        </p:nvSpPr>
        <p:spPr>
          <a:xfrm>
            <a:off x="11612880" y="347472"/>
            <a:ext cx="164592" cy="164592"/>
          </a:xfrm>
          <a:prstGeom prst="ellipse">
            <a:avLst/>
          </a:prstGeom>
          <a:solidFill>
            <a:srgbClr val="EC4899"/>
          </a:solidFill>
          <a:ln>
            <a:noFill/>
          </a:ln>
        </p:spPr>
        <p:txBody>
          <a:bodyPr rtlCol="0" anchor="ctr"/>
          <a:lstStyle/>
          <a:p>
            <a:pPr algn="ctr"/>
            <a:endParaRPr/>
          </a:p>
        </p:txBody>
      </p:sp>
      <p:sp>
        <p:nvSpPr>
          <p:cNvPr id="8" name="Oval 7"/>
          <p:cNvSpPr/>
          <p:nvPr/>
        </p:nvSpPr>
        <p:spPr>
          <a:xfrm>
            <a:off x="11814048" y="347472"/>
            <a:ext cx="164592" cy="164592"/>
          </a:xfrm>
          <a:prstGeom prst="ellipse">
            <a:avLst/>
          </a:prstGeom>
          <a:solidFill>
            <a:srgbClr val="2563EB"/>
          </a:solidFill>
          <a:ln>
            <a:noFill/>
          </a:ln>
        </p:spPr>
        <p:txBody>
          <a:bodyPr rtlCol="0" anchor="ctr"/>
          <a:lstStyle/>
          <a:p>
            <a:pPr algn="ctr"/>
            <a:endParaRPr/>
          </a:p>
        </p:txBody>
      </p:sp>
      <p:sp>
        <p:nvSpPr>
          <p:cNvPr id="9" name="Rounded Rectangle 8"/>
          <p:cNvSpPr/>
          <p:nvPr/>
        </p:nvSpPr>
        <p:spPr>
          <a:xfrm>
            <a:off x="626364" y="1367028"/>
            <a:ext cx="5404104" cy="1499616"/>
          </a:xfrm>
          <a:prstGeom prst="roundRect">
            <a:avLst/>
          </a:prstGeom>
          <a:solidFill>
            <a:srgbClr val="F1F5F9"/>
          </a:solidFill>
          <a:ln>
            <a:noFill/>
          </a:ln>
        </p:spPr>
        <p:txBody>
          <a:bodyPr rtlCol="0" anchor="ctr"/>
          <a:lstStyle/>
          <a:p>
            <a:pPr algn="ctr"/>
            <a:endParaRPr/>
          </a:p>
        </p:txBody>
      </p:sp>
      <p:sp>
        <p:nvSpPr>
          <p:cNvPr id="10" name="Rounded Rectangle 9"/>
          <p:cNvSpPr/>
          <p:nvPr/>
        </p:nvSpPr>
        <p:spPr>
          <a:xfrm>
            <a:off x="594360" y="1325880"/>
            <a:ext cx="5404104" cy="1499616"/>
          </a:xfrm>
          <a:prstGeom prst="roundRect">
            <a:avLst/>
          </a:prstGeom>
          <a:solidFill>
            <a:srgbClr val="FFFFFF"/>
          </a:solidFill>
          <a:ln w="10160">
            <a:solidFill>
              <a:srgbClr val="CBD5E1"/>
            </a:solidFill>
          </a:ln>
        </p:spPr>
        <p:txBody>
          <a:bodyPr rtlCol="0" anchor="ctr"/>
          <a:lstStyle/>
          <a:p>
            <a:pPr algn="ctr"/>
            <a:endParaRPr/>
          </a:p>
        </p:txBody>
      </p:sp>
      <p:sp>
        <p:nvSpPr>
          <p:cNvPr id="11" name="Rectangle 10"/>
          <p:cNvSpPr/>
          <p:nvPr/>
        </p:nvSpPr>
        <p:spPr>
          <a:xfrm>
            <a:off x="594360" y="1344168"/>
            <a:ext cx="50292" cy="1463039"/>
          </a:xfrm>
          <a:prstGeom prst="rect">
            <a:avLst/>
          </a:prstGeom>
          <a:solidFill>
            <a:srgbClr val="2563EB"/>
          </a:solidFill>
          <a:ln>
            <a:noFill/>
          </a:ln>
        </p:spPr>
        <p:txBody>
          <a:bodyPr rtlCol="0" anchor="ctr"/>
          <a:lstStyle/>
          <a:p>
            <a:pPr algn="ctr"/>
            <a:endParaRPr/>
          </a:p>
        </p:txBody>
      </p:sp>
      <p:sp>
        <p:nvSpPr>
          <p:cNvPr id="12" name="TextBox 11"/>
          <p:cNvSpPr txBox="1"/>
          <p:nvPr/>
        </p:nvSpPr>
        <p:spPr>
          <a:xfrm>
            <a:off x="813816" y="1527048"/>
            <a:ext cx="4992624" cy="438912"/>
          </a:xfrm>
          <a:prstGeom prst="rect">
            <a:avLst/>
          </a:prstGeom>
          <a:noFill/>
        </p:spPr>
        <p:txBody>
          <a:bodyPr wrap="square" lIns="0" tIns="0" rIns="0" bIns="0" anchor="t">
            <a:spAutoFit/>
          </a:bodyPr>
          <a:lstStyle/>
          <a:p>
            <a:pPr algn="l">
              <a:spcBef>
                <a:spcPts val="0"/>
              </a:spcBef>
              <a:spcAft>
                <a:spcPts val="0"/>
              </a:spcAft>
            </a:pPr>
            <a:r>
              <a:rPr sz="1420" b="1" i="0">
                <a:solidFill>
                  <a:srgbClr val="1E293B"/>
                </a:solidFill>
                <a:latin typeface="Arial"/>
              </a:rPr>
              <a:t>Average Sentence Length</a:t>
            </a:r>
          </a:p>
        </p:txBody>
      </p:sp>
      <p:sp>
        <p:nvSpPr>
          <p:cNvPr id="13" name="TextBox 12"/>
          <p:cNvSpPr txBox="1"/>
          <p:nvPr/>
        </p:nvSpPr>
        <p:spPr>
          <a:xfrm>
            <a:off x="877824" y="1956816"/>
            <a:ext cx="1645920" cy="374904"/>
          </a:xfrm>
          <a:prstGeom prst="rect">
            <a:avLst/>
          </a:prstGeom>
          <a:noFill/>
        </p:spPr>
        <p:txBody>
          <a:bodyPr wrap="square" lIns="0" tIns="0" rIns="0" bIns="0" anchor="t">
            <a:spAutoFit/>
          </a:bodyPr>
          <a:lstStyle/>
          <a:p>
            <a:pPr algn="l">
              <a:spcBef>
                <a:spcPts val="0"/>
              </a:spcBef>
              <a:spcAft>
                <a:spcPts val="0"/>
              </a:spcAft>
            </a:pPr>
            <a:r>
              <a:rPr sz="2400" b="1" i="0">
                <a:solidFill>
                  <a:srgbClr val="16A34A"/>
                </a:solidFill>
                <a:latin typeface="Arial"/>
              </a:rPr>
              <a:t>7.21 words</a:t>
            </a:r>
          </a:p>
        </p:txBody>
      </p:sp>
      <p:sp>
        <p:nvSpPr>
          <p:cNvPr id="14" name="TextBox 13"/>
          <p:cNvSpPr txBox="1"/>
          <p:nvPr/>
        </p:nvSpPr>
        <p:spPr>
          <a:xfrm>
            <a:off x="886968" y="2340864"/>
            <a:ext cx="1627632" cy="338328"/>
          </a:xfrm>
          <a:prstGeom prst="rect">
            <a:avLst/>
          </a:prstGeom>
          <a:noFill/>
        </p:spPr>
        <p:txBody>
          <a:bodyPr wrap="square" lIns="0" tIns="0" rIns="0" bIns="0" anchor="t">
            <a:spAutoFit/>
          </a:bodyPr>
          <a:lstStyle/>
          <a:p>
            <a:pPr algn="l">
              <a:spcBef>
                <a:spcPts val="0"/>
              </a:spcBef>
              <a:spcAft>
                <a:spcPts val="0"/>
              </a:spcAft>
            </a:pPr>
            <a:r>
              <a:rPr sz="950" b="0" i="0">
                <a:solidFill>
                  <a:srgbClr val="64748B"/>
                </a:solidFill>
                <a:latin typeface="Arial"/>
              </a:rPr>
              <a:t>Correct predictions
5,392 samples</a:t>
            </a:r>
          </a:p>
        </p:txBody>
      </p:sp>
      <p:sp>
        <p:nvSpPr>
          <p:cNvPr id="15" name="TextBox 14"/>
          <p:cNvSpPr txBox="1"/>
          <p:nvPr/>
        </p:nvSpPr>
        <p:spPr>
          <a:xfrm>
            <a:off x="3255264" y="1956816"/>
            <a:ext cx="1645920" cy="374904"/>
          </a:xfrm>
          <a:prstGeom prst="rect">
            <a:avLst/>
          </a:prstGeom>
          <a:noFill/>
        </p:spPr>
        <p:txBody>
          <a:bodyPr wrap="square" lIns="0" tIns="0" rIns="0" bIns="0" anchor="t">
            <a:spAutoFit/>
          </a:bodyPr>
          <a:lstStyle/>
          <a:p>
            <a:pPr algn="l">
              <a:spcBef>
                <a:spcPts val="0"/>
              </a:spcBef>
              <a:spcAft>
                <a:spcPts val="0"/>
              </a:spcAft>
            </a:pPr>
            <a:r>
              <a:rPr sz="2400" b="1" i="0">
                <a:solidFill>
                  <a:srgbClr val="EC4899"/>
                </a:solidFill>
                <a:latin typeface="Arial"/>
              </a:rPr>
              <a:t>3.86 words</a:t>
            </a:r>
          </a:p>
        </p:txBody>
      </p:sp>
      <p:sp>
        <p:nvSpPr>
          <p:cNvPr id="16" name="TextBox 15"/>
          <p:cNvSpPr txBox="1"/>
          <p:nvPr/>
        </p:nvSpPr>
        <p:spPr>
          <a:xfrm>
            <a:off x="3264408" y="2340864"/>
            <a:ext cx="1627632" cy="338328"/>
          </a:xfrm>
          <a:prstGeom prst="rect">
            <a:avLst/>
          </a:prstGeom>
          <a:noFill/>
        </p:spPr>
        <p:txBody>
          <a:bodyPr wrap="square" lIns="0" tIns="0" rIns="0" bIns="0" anchor="t">
            <a:spAutoFit/>
          </a:bodyPr>
          <a:lstStyle/>
          <a:p>
            <a:pPr algn="l">
              <a:spcBef>
                <a:spcPts val="0"/>
              </a:spcBef>
              <a:spcAft>
                <a:spcPts val="0"/>
              </a:spcAft>
            </a:pPr>
            <a:r>
              <a:rPr sz="950" b="0" i="0">
                <a:solidFill>
                  <a:srgbClr val="64748B"/>
                </a:solidFill>
                <a:latin typeface="Arial"/>
              </a:rPr>
              <a:t>Misclassified
453 samples</a:t>
            </a:r>
          </a:p>
        </p:txBody>
      </p:sp>
      <p:sp>
        <p:nvSpPr>
          <p:cNvPr id="17" name="Chevron 16"/>
          <p:cNvSpPr/>
          <p:nvPr/>
        </p:nvSpPr>
        <p:spPr>
          <a:xfrm>
            <a:off x="2633472" y="2011680"/>
            <a:ext cx="347472" cy="274320"/>
          </a:xfrm>
          <a:prstGeom prst="chevron">
            <a:avLst/>
          </a:prstGeom>
          <a:solidFill>
            <a:srgbClr val="CBD5E1"/>
          </a:solidFill>
          <a:ln>
            <a:noFill/>
          </a:ln>
        </p:spPr>
        <p:txBody>
          <a:bodyPr rtlCol="0" anchor="ctr"/>
          <a:lstStyle/>
          <a:p>
            <a:pPr algn="ctr"/>
            <a:endParaRPr/>
          </a:p>
        </p:txBody>
      </p:sp>
      <p:sp>
        <p:nvSpPr>
          <p:cNvPr id="18" name="Rounded Rectangle 17"/>
          <p:cNvSpPr/>
          <p:nvPr/>
        </p:nvSpPr>
        <p:spPr>
          <a:xfrm>
            <a:off x="6231636" y="1367028"/>
            <a:ext cx="5394960" cy="1499616"/>
          </a:xfrm>
          <a:prstGeom prst="roundRect">
            <a:avLst/>
          </a:prstGeom>
          <a:solidFill>
            <a:srgbClr val="F1F5F9"/>
          </a:solidFill>
          <a:ln>
            <a:noFill/>
          </a:ln>
        </p:spPr>
        <p:txBody>
          <a:bodyPr rtlCol="0" anchor="ctr"/>
          <a:lstStyle/>
          <a:p>
            <a:pPr algn="ctr"/>
            <a:endParaRPr/>
          </a:p>
        </p:txBody>
      </p:sp>
      <p:sp>
        <p:nvSpPr>
          <p:cNvPr id="19" name="Rounded Rectangle 18"/>
          <p:cNvSpPr/>
          <p:nvPr/>
        </p:nvSpPr>
        <p:spPr>
          <a:xfrm>
            <a:off x="6199632" y="1325880"/>
            <a:ext cx="5394960" cy="1499616"/>
          </a:xfrm>
          <a:prstGeom prst="roundRect">
            <a:avLst/>
          </a:prstGeom>
          <a:solidFill>
            <a:srgbClr val="FFFFFF"/>
          </a:solidFill>
          <a:ln w="10160">
            <a:solidFill>
              <a:srgbClr val="CBD5E1"/>
            </a:solidFill>
          </a:ln>
        </p:spPr>
        <p:txBody>
          <a:bodyPr rtlCol="0" anchor="ctr"/>
          <a:lstStyle/>
          <a:p>
            <a:pPr algn="ctr"/>
            <a:endParaRPr/>
          </a:p>
        </p:txBody>
      </p:sp>
      <p:sp>
        <p:nvSpPr>
          <p:cNvPr id="20" name="Rectangle 19"/>
          <p:cNvSpPr/>
          <p:nvPr/>
        </p:nvSpPr>
        <p:spPr>
          <a:xfrm>
            <a:off x="6199632" y="1344168"/>
            <a:ext cx="50292" cy="1463039"/>
          </a:xfrm>
          <a:prstGeom prst="rect">
            <a:avLst/>
          </a:prstGeom>
          <a:solidFill>
            <a:srgbClr val="38BDF8"/>
          </a:solidFill>
          <a:ln>
            <a:noFill/>
          </a:ln>
        </p:spPr>
        <p:txBody>
          <a:bodyPr rtlCol="0" anchor="ctr"/>
          <a:lstStyle/>
          <a:p>
            <a:pPr algn="ctr"/>
            <a:endParaRPr/>
          </a:p>
        </p:txBody>
      </p:sp>
      <p:sp>
        <p:nvSpPr>
          <p:cNvPr id="21" name="TextBox 20"/>
          <p:cNvSpPr txBox="1"/>
          <p:nvPr/>
        </p:nvSpPr>
        <p:spPr>
          <a:xfrm>
            <a:off x="6419088" y="1527048"/>
            <a:ext cx="4983480" cy="438912"/>
          </a:xfrm>
          <a:prstGeom prst="rect">
            <a:avLst/>
          </a:prstGeom>
          <a:noFill/>
        </p:spPr>
        <p:txBody>
          <a:bodyPr wrap="square" lIns="0" tIns="0" rIns="0" bIns="0" anchor="t">
            <a:spAutoFit/>
          </a:bodyPr>
          <a:lstStyle/>
          <a:p>
            <a:pPr algn="l">
              <a:spcBef>
                <a:spcPts val="0"/>
              </a:spcBef>
              <a:spcAft>
                <a:spcPts val="0"/>
              </a:spcAft>
            </a:pPr>
            <a:r>
              <a:rPr sz="1420" b="1" i="0">
                <a:solidFill>
                  <a:srgbClr val="1E293B"/>
                </a:solidFill>
                <a:latin typeface="Arial"/>
              </a:rPr>
              <a:t>Average Prediction Confidence</a:t>
            </a:r>
          </a:p>
        </p:txBody>
      </p:sp>
      <p:sp>
        <p:nvSpPr>
          <p:cNvPr id="22" name="TextBox 21"/>
          <p:cNvSpPr txBox="1"/>
          <p:nvPr/>
        </p:nvSpPr>
        <p:spPr>
          <a:xfrm>
            <a:off x="6501384" y="1956816"/>
            <a:ext cx="1645920" cy="374904"/>
          </a:xfrm>
          <a:prstGeom prst="rect">
            <a:avLst/>
          </a:prstGeom>
          <a:noFill/>
        </p:spPr>
        <p:txBody>
          <a:bodyPr wrap="square" lIns="0" tIns="0" rIns="0" bIns="0" anchor="t">
            <a:spAutoFit/>
          </a:bodyPr>
          <a:lstStyle/>
          <a:p>
            <a:pPr algn="l">
              <a:spcBef>
                <a:spcPts val="0"/>
              </a:spcBef>
              <a:spcAft>
                <a:spcPts val="0"/>
              </a:spcAft>
            </a:pPr>
            <a:r>
              <a:rPr sz="2400" b="1" i="0">
                <a:solidFill>
                  <a:srgbClr val="16A34A"/>
                </a:solidFill>
                <a:latin typeface="Arial"/>
              </a:rPr>
              <a:t>95.83%</a:t>
            </a:r>
          </a:p>
        </p:txBody>
      </p:sp>
      <p:sp>
        <p:nvSpPr>
          <p:cNvPr id="23" name="TextBox 22"/>
          <p:cNvSpPr txBox="1"/>
          <p:nvPr/>
        </p:nvSpPr>
        <p:spPr>
          <a:xfrm>
            <a:off x="6510528" y="2340864"/>
            <a:ext cx="1645920" cy="228600"/>
          </a:xfrm>
          <a:prstGeom prst="rect">
            <a:avLst/>
          </a:prstGeom>
          <a:noFill/>
        </p:spPr>
        <p:txBody>
          <a:bodyPr wrap="square" lIns="0" tIns="0" rIns="0" bIns="0" anchor="t">
            <a:spAutoFit/>
          </a:bodyPr>
          <a:lstStyle/>
          <a:p>
            <a:pPr algn="l">
              <a:spcBef>
                <a:spcPts val="0"/>
              </a:spcBef>
              <a:spcAft>
                <a:spcPts val="0"/>
              </a:spcAft>
            </a:pPr>
            <a:r>
              <a:rPr sz="950" b="0" i="0">
                <a:solidFill>
                  <a:srgbClr val="64748B"/>
                </a:solidFill>
                <a:latin typeface="Arial"/>
              </a:rPr>
              <a:t>Correct predictions</a:t>
            </a:r>
          </a:p>
        </p:txBody>
      </p:sp>
      <p:sp>
        <p:nvSpPr>
          <p:cNvPr id="24" name="TextBox 23"/>
          <p:cNvSpPr txBox="1"/>
          <p:nvPr/>
        </p:nvSpPr>
        <p:spPr>
          <a:xfrm>
            <a:off x="8887968" y="1956816"/>
            <a:ext cx="1645920" cy="374904"/>
          </a:xfrm>
          <a:prstGeom prst="rect">
            <a:avLst/>
          </a:prstGeom>
          <a:noFill/>
        </p:spPr>
        <p:txBody>
          <a:bodyPr wrap="square" lIns="0" tIns="0" rIns="0" bIns="0" anchor="t">
            <a:spAutoFit/>
          </a:bodyPr>
          <a:lstStyle/>
          <a:p>
            <a:pPr algn="l">
              <a:spcBef>
                <a:spcPts val="0"/>
              </a:spcBef>
              <a:spcAft>
                <a:spcPts val="0"/>
              </a:spcAft>
            </a:pPr>
            <a:r>
              <a:rPr sz="2400" b="1" i="0">
                <a:solidFill>
                  <a:srgbClr val="EC4899"/>
                </a:solidFill>
                <a:latin typeface="Arial"/>
              </a:rPr>
              <a:t>77.57%</a:t>
            </a:r>
          </a:p>
        </p:txBody>
      </p:sp>
      <p:sp>
        <p:nvSpPr>
          <p:cNvPr id="25" name="TextBox 24"/>
          <p:cNvSpPr txBox="1"/>
          <p:nvPr/>
        </p:nvSpPr>
        <p:spPr>
          <a:xfrm>
            <a:off x="8897112" y="2340864"/>
            <a:ext cx="2057400" cy="228600"/>
          </a:xfrm>
          <a:prstGeom prst="rect">
            <a:avLst/>
          </a:prstGeom>
          <a:noFill/>
        </p:spPr>
        <p:txBody>
          <a:bodyPr wrap="square" lIns="0" tIns="0" rIns="0" bIns="0" anchor="t">
            <a:spAutoFit/>
          </a:bodyPr>
          <a:lstStyle/>
          <a:p>
            <a:pPr algn="l">
              <a:spcBef>
                <a:spcPts val="0"/>
              </a:spcBef>
              <a:spcAft>
                <a:spcPts val="0"/>
              </a:spcAft>
            </a:pPr>
            <a:r>
              <a:rPr sz="950" b="0" i="0">
                <a:solidFill>
                  <a:srgbClr val="64748B"/>
                </a:solidFill>
                <a:latin typeface="Arial"/>
              </a:rPr>
              <a:t>Misclassified  •  −18.26 pp</a:t>
            </a:r>
          </a:p>
        </p:txBody>
      </p:sp>
      <p:sp>
        <p:nvSpPr>
          <p:cNvPr id="26" name="Chevron 25"/>
          <p:cNvSpPr/>
          <p:nvPr/>
        </p:nvSpPr>
        <p:spPr>
          <a:xfrm>
            <a:off x="8229600" y="2011680"/>
            <a:ext cx="347472" cy="274320"/>
          </a:xfrm>
          <a:prstGeom prst="chevron">
            <a:avLst/>
          </a:prstGeom>
          <a:solidFill>
            <a:srgbClr val="CBD5E1"/>
          </a:solidFill>
          <a:ln>
            <a:noFill/>
          </a:ln>
        </p:spPr>
        <p:txBody>
          <a:bodyPr rtlCol="0" anchor="ctr"/>
          <a:lstStyle/>
          <a:p>
            <a:pPr algn="ctr"/>
            <a:endParaRPr/>
          </a:p>
        </p:txBody>
      </p:sp>
      <p:sp>
        <p:nvSpPr>
          <p:cNvPr id="27" name="Rounded Rectangle 26"/>
          <p:cNvSpPr/>
          <p:nvPr/>
        </p:nvSpPr>
        <p:spPr>
          <a:xfrm>
            <a:off x="626364" y="3131820"/>
            <a:ext cx="11000232" cy="2990088"/>
          </a:xfrm>
          <a:prstGeom prst="roundRect">
            <a:avLst/>
          </a:prstGeom>
          <a:solidFill>
            <a:srgbClr val="F1F5F9"/>
          </a:solidFill>
          <a:ln>
            <a:noFill/>
          </a:ln>
        </p:spPr>
        <p:txBody>
          <a:bodyPr rtlCol="0" anchor="ctr"/>
          <a:lstStyle/>
          <a:p>
            <a:pPr algn="ctr"/>
            <a:endParaRPr/>
          </a:p>
        </p:txBody>
      </p:sp>
      <p:sp>
        <p:nvSpPr>
          <p:cNvPr id="28" name="Rounded Rectangle 27"/>
          <p:cNvSpPr/>
          <p:nvPr/>
        </p:nvSpPr>
        <p:spPr>
          <a:xfrm>
            <a:off x="594360" y="3090672"/>
            <a:ext cx="11000232" cy="2990088"/>
          </a:xfrm>
          <a:prstGeom prst="roundRect">
            <a:avLst/>
          </a:prstGeom>
          <a:solidFill>
            <a:srgbClr val="FFFFFF"/>
          </a:solidFill>
          <a:ln w="10160">
            <a:solidFill>
              <a:srgbClr val="CBD5E1"/>
            </a:solidFill>
          </a:ln>
        </p:spPr>
        <p:txBody>
          <a:bodyPr rtlCol="0" anchor="ctr"/>
          <a:lstStyle/>
          <a:p>
            <a:pPr algn="ctr"/>
            <a:endParaRPr/>
          </a:p>
        </p:txBody>
      </p:sp>
      <p:sp>
        <p:nvSpPr>
          <p:cNvPr id="29" name="Rectangle 28"/>
          <p:cNvSpPr/>
          <p:nvPr/>
        </p:nvSpPr>
        <p:spPr>
          <a:xfrm>
            <a:off x="594360" y="3108960"/>
            <a:ext cx="50292" cy="2953512"/>
          </a:xfrm>
          <a:prstGeom prst="rect">
            <a:avLst/>
          </a:prstGeom>
          <a:solidFill>
            <a:srgbClr val="EC4899"/>
          </a:solidFill>
          <a:ln>
            <a:noFill/>
          </a:ln>
        </p:spPr>
        <p:txBody>
          <a:bodyPr rtlCol="0" anchor="ctr"/>
          <a:lstStyle/>
          <a:p>
            <a:pPr algn="ctr"/>
            <a:endParaRPr/>
          </a:p>
        </p:txBody>
      </p:sp>
      <p:sp>
        <p:nvSpPr>
          <p:cNvPr id="30" name="TextBox 29"/>
          <p:cNvSpPr txBox="1"/>
          <p:nvPr/>
        </p:nvSpPr>
        <p:spPr>
          <a:xfrm>
            <a:off x="813816" y="3291840"/>
            <a:ext cx="10588752" cy="438912"/>
          </a:xfrm>
          <a:prstGeom prst="rect">
            <a:avLst/>
          </a:prstGeom>
          <a:noFill/>
        </p:spPr>
        <p:txBody>
          <a:bodyPr wrap="square" lIns="0" tIns="0" rIns="0" bIns="0" anchor="t">
            <a:spAutoFit/>
          </a:bodyPr>
          <a:lstStyle/>
          <a:p>
            <a:pPr algn="l">
              <a:spcBef>
                <a:spcPts val="0"/>
              </a:spcBef>
              <a:spcAft>
                <a:spcPts val="0"/>
              </a:spcAft>
            </a:pPr>
            <a:r>
              <a:rPr sz="1620" b="1" i="0">
                <a:solidFill>
                  <a:srgbClr val="1E293B"/>
                </a:solidFill>
                <a:latin typeface="Arial"/>
              </a:rPr>
              <a:t>Theoretical Dataset Ceiling  /  Ambiguous Written Language</a:t>
            </a:r>
          </a:p>
        </p:txBody>
      </p:sp>
      <p:sp>
        <p:nvSpPr>
          <p:cNvPr id="31" name="Rounded Rectangle 30"/>
          <p:cNvSpPr/>
          <p:nvPr/>
        </p:nvSpPr>
        <p:spPr>
          <a:xfrm>
            <a:off x="859536" y="3840480"/>
            <a:ext cx="3154680" cy="1664208"/>
          </a:xfrm>
          <a:prstGeom prst="roundRect">
            <a:avLst/>
          </a:prstGeom>
          <a:solidFill>
            <a:srgbClr val="FEF3C7"/>
          </a:solidFill>
          <a:ln>
            <a:noFill/>
          </a:ln>
        </p:spPr>
        <p:txBody>
          <a:bodyPr rtlCol="0" anchor="ctr"/>
          <a:lstStyle/>
          <a:p>
            <a:pPr algn="ctr"/>
            <a:endParaRPr/>
          </a:p>
        </p:txBody>
      </p:sp>
      <p:sp>
        <p:nvSpPr>
          <p:cNvPr id="32" name="TextBox 31"/>
          <p:cNvSpPr txBox="1"/>
          <p:nvPr/>
        </p:nvSpPr>
        <p:spPr>
          <a:xfrm>
            <a:off x="1051560" y="4014215"/>
            <a:ext cx="2606040" cy="182880"/>
          </a:xfrm>
          <a:prstGeom prst="rect">
            <a:avLst/>
          </a:prstGeom>
          <a:noFill/>
        </p:spPr>
        <p:txBody>
          <a:bodyPr wrap="square" lIns="0" tIns="0" rIns="0" bIns="0" anchor="t">
            <a:spAutoFit/>
          </a:bodyPr>
          <a:lstStyle/>
          <a:p>
            <a:pPr algn="l">
              <a:spcBef>
                <a:spcPts val="0"/>
              </a:spcBef>
              <a:spcAft>
                <a:spcPts val="0"/>
              </a:spcAft>
            </a:pPr>
            <a:r>
              <a:rPr sz="840" b="1" i="0">
                <a:solidFill>
                  <a:srgbClr val="A16207"/>
                </a:solidFill>
                <a:latin typeface="Arial"/>
              </a:rPr>
              <a:t>TOP CONFUSION PAIR</a:t>
            </a:r>
          </a:p>
        </p:txBody>
      </p:sp>
      <p:sp>
        <p:nvSpPr>
          <p:cNvPr id="33" name="TextBox 32"/>
          <p:cNvSpPr txBox="1"/>
          <p:nvPr/>
        </p:nvSpPr>
        <p:spPr>
          <a:xfrm>
            <a:off x="1051560" y="4315968"/>
            <a:ext cx="2560320" cy="347472"/>
          </a:xfrm>
          <a:prstGeom prst="rect">
            <a:avLst/>
          </a:prstGeom>
          <a:noFill/>
        </p:spPr>
        <p:txBody>
          <a:bodyPr wrap="square" lIns="0" tIns="0" rIns="0" bIns="0" anchor="t">
            <a:spAutoFit/>
          </a:bodyPr>
          <a:lstStyle/>
          <a:p>
            <a:pPr algn="l">
              <a:spcBef>
                <a:spcPts val="0"/>
              </a:spcBef>
              <a:spcAft>
                <a:spcPts val="0"/>
              </a:spcAft>
            </a:pPr>
            <a:r>
              <a:rPr sz="2000" b="1" i="0">
                <a:solidFill>
                  <a:srgbClr val="1E293B"/>
                </a:solidFill>
                <a:latin typeface="Arial"/>
              </a:rPr>
              <a:t>Beirut  ↔  Doha</a:t>
            </a:r>
          </a:p>
        </p:txBody>
      </p:sp>
      <p:sp>
        <p:nvSpPr>
          <p:cNvPr id="34" name="TextBox 33"/>
          <p:cNvSpPr txBox="1"/>
          <p:nvPr/>
        </p:nvSpPr>
        <p:spPr>
          <a:xfrm>
            <a:off x="1051560" y="4754880"/>
            <a:ext cx="2606040" cy="502920"/>
          </a:xfrm>
          <a:prstGeom prst="rect">
            <a:avLst/>
          </a:prstGeom>
          <a:noFill/>
        </p:spPr>
        <p:txBody>
          <a:bodyPr wrap="square" lIns="0" tIns="0" rIns="0" bIns="0" anchor="t">
            <a:spAutoFit/>
          </a:bodyPr>
          <a:lstStyle/>
          <a:p>
            <a:pPr algn="l">
              <a:spcBef>
                <a:spcPts val="0"/>
              </a:spcBef>
              <a:spcAft>
                <a:spcPts val="0"/>
              </a:spcAft>
            </a:pPr>
            <a:r>
              <a:rPr sz="1019" b="0" i="0">
                <a:solidFill>
                  <a:srgbClr val="1E293B"/>
                </a:solidFill>
                <a:latin typeface="Arial"/>
              </a:rPr>
              <a:t>91 mutual errors; shared Levantine/Gulf vocabulary in unvocalized text.</a:t>
            </a:r>
          </a:p>
        </p:txBody>
      </p:sp>
      <p:sp>
        <p:nvSpPr>
          <p:cNvPr id="35" name="TextBox 34"/>
          <p:cNvSpPr txBox="1"/>
          <p:nvPr/>
        </p:nvSpPr>
        <p:spPr>
          <a:xfrm>
            <a:off x="4315968" y="3822191"/>
            <a:ext cx="5303520" cy="164592"/>
          </a:xfrm>
          <a:prstGeom prst="rect">
            <a:avLst/>
          </a:prstGeom>
          <a:noFill/>
        </p:spPr>
        <p:txBody>
          <a:bodyPr wrap="square" lIns="0" tIns="0" rIns="0" bIns="0" anchor="t">
            <a:spAutoFit/>
          </a:bodyPr>
          <a:lstStyle/>
          <a:p>
            <a:pPr algn="l">
              <a:spcBef>
                <a:spcPts val="0"/>
              </a:spcBef>
              <a:spcAft>
                <a:spcPts val="0"/>
              </a:spcAft>
            </a:pPr>
            <a:r>
              <a:rPr sz="840" b="1" i="0">
                <a:solidFill>
                  <a:srgbClr val="2563EB"/>
                </a:solidFill>
                <a:latin typeface="Arial"/>
              </a:rPr>
              <a:t>EXAMPLE 1  /  A MODEL-RESCUED CASE</a:t>
            </a:r>
          </a:p>
        </p:txBody>
      </p:sp>
      <p:sp>
        <p:nvSpPr>
          <p:cNvPr id="36" name="TextBox 35"/>
          <p:cNvSpPr txBox="1"/>
          <p:nvPr/>
        </p:nvSpPr>
        <p:spPr>
          <a:xfrm>
            <a:off x="4315968" y="4087368"/>
            <a:ext cx="6309360" cy="256032"/>
          </a:xfrm>
          <a:prstGeom prst="rect">
            <a:avLst/>
          </a:prstGeom>
          <a:noFill/>
        </p:spPr>
        <p:txBody>
          <a:bodyPr wrap="square" lIns="0" tIns="0" rIns="0" bIns="0" anchor="t">
            <a:spAutoFit/>
          </a:bodyPr>
          <a:lstStyle/>
          <a:p>
            <a:pPr algn="l">
              <a:spcBef>
                <a:spcPts val="0"/>
              </a:spcBef>
              <a:spcAft>
                <a:spcPts val="0"/>
              </a:spcAft>
            </a:pPr>
            <a:r>
              <a:rPr sz="1340" b="1" i="0">
                <a:solidFill>
                  <a:srgbClr val="1E293B"/>
                </a:solidFill>
                <a:latin typeface="Arial"/>
              </a:rPr>
              <a:t>“شورايك بعشره دولار للتلاته”</a:t>
            </a:r>
          </a:p>
        </p:txBody>
      </p:sp>
      <p:sp>
        <p:nvSpPr>
          <p:cNvPr id="37" name="TextBox 36"/>
          <p:cNvSpPr txBox="1"/>
          <p:nvPr/>
        </p:nvSpPr>
        <p:spPr>
          <a:xfrm>
            <a:off x="4315968" y="4389120"/>
            <a:ext cx="6400800" cy="228600"/>
          </a:xfrm>
          <a:prstGeom prst="rect">
            <a:avLst/>
          </a:prstGeom>
          <a:noFill/>
        </p:spPr>
        <p:txBody>
          <a:bodyPr wrap="square" lIns="0" tIns="0" rIns="0" bIns="0" anchor="t">
            <a:spAutoFit/>
          </a:bodyPr>
          <a:lstStyle/>
          <a:p>
            <a:pPr algn="l">
              <a:spcBef>
                <a:spcPts val="0"/>
              </a:spcBef>
              <a:spcAft>
                <a:spcPts val="0"/>
              </a:spcAft>
            </a:pPr>
            <a:r>
              <a:rPr sz="1000" b="1" i="0">
                <a:solidFill>
                  <a:srgbClr val="16A34A"/>
                </a:solidFill>
                <a:latin typeface="Arial"/>
              </a:rPr>
              <a:t>Stacking → Doha     |     MARBERTv2 → Beirut (97.92% confidence)</a:t>
            </a:r>
          </a:p>
        </p:txBody>
      </p:sp>
      <p:cxnSp>
        <p:nvCxnSpPr>
          <p:cNvPr id="38" name="Connector 37"/>
          <p:cNvCxnSpPr/>
          <p:nvPr/>
        </p:nvCxnSpPr>
        <p:spPr>
          <a:xfrm>
            <a:off x="4315968" y="4736592"/>
            <a:ext cx="68580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315968" y="4873752"/>
            <a:ext cx="5303520" cy="164592"/>
          </a:xfrm>
          <a:prstGeom prst="rect">
            <a:avLst/>
          </a:prstGeom>
          <a:noFill/>
        </p:spPr>
        <p:txBody>
          <a:bodyPr wrap="square" lIns="0" tIns="0" rIns="0" bIns="0" anchor="t">
            <a:spAutoFit/>
          </a:bodyPr>
          <a:lstStyle/>
          <a:p>
            <a:pPr algn="l">
              <a:spcBef>
                <a:spcPts val="0"/>
              </a:spcBef>
              <a:spcAft>
                <a:spcPts val="0"/>
              </a:spcAft>
            </a:pPr>
            <a:r>
              <a:rPr sz="840" b="1" i="0">
                <a:solidFill>
                  <a:srgbClr val="EC4899"/>
                </a:solidFill>
                <a:latin typeface="Arial"/>
              </a:rPr>
              <a:t>EXAMPLE 2  /  NATURAL AMBIGUITY</a:t>
            </a:r>
          </a:p>
        </p:txBody>
      </p:sp>
      <p:sp>
        <p:nvSpPr>
          <p:cNvPr id="40" name="TextBox 39"/>
          <p:cNvSpPr txBox="1"/>
          <p:nvPr/>
        </p:nvSpPr>
        <p:spPr>
          <a:xfrm>
            <a:off x="4315968" y="5138928"/>
            <a:ext cx="6355080" cy="265176"/>
          </a:xfrm>
          <a:prstGeom prst="rect">
            <a:avLst/>
          </a:prstGeom>
          <a:noFill/>
        </p:spPr>
        <p:txBody>
          <a:bodyPr wrap="square" lIns="0" tIns="0" rIns="0" bIns="0" anchor="t">
            <a:spAutoFit/>
          </a:bodyPr>
          <a:lstStyle/>
          <a:p>
            <a:pPr algn="l">
              <a:spcBef>
                <a:spcPts val="0"/>
              </a:spcBef>
              <a:spcAft>
                <a:spcPts val="0"/>
              </a:spcAft>
            </a:pPr>
            <a:r>
              <a:rPr sz="1300" b="1" i="0">
                <a:solidFill>
                  <a:srgbClr val="1E293B"/>
                </a:solidFill>
                <a:latin typeface="Arial"/>
              </a:rPr>
              <a:t>“تاني تقاطع عاليمين”  •  “ايوه مسموح”</a:t>
            </a:r>
          </a:p>
        </p:txBody>
      </p:sp>
      <p:sp>
        <p:nvSpPr>
          <p:cNvPr id="41" name="TextBox 40"/>
          <p:cNvSpPr txBox="1"/>
          <p:nvPr/>
        </p:nvSpPr>
        <p:spPr>
          <a:xfrm>
            <a:off x="4315968" y="5468112"/>
            <a:ext cx="6400800" cy="329184"/>
          </a:xfrm>
          <a:prstGeom prst="rect">
            <a:avLst/>
          </a:prstGeom>
          <a:noFill/>
        </p:spPr>
        <p:txBody>
          <a:bodyPr wrap="square" lIns="0" tIns="0" rIns="0" bIns="0" anchor="t">
            <a:spAutoFit/>
          </a:bodyPr>
          <a:lstStyle/>
          <a:p>
            <a:pPr algn="l">
              <a:spcBef>
                <a:spcPts val="0"/>
              </a:spcBef>
              <a:spcAft>
                <a:spcPts val="0"/>
              </a:spcAft>
            </a:pPr>
            <a:r>
              <a:rPr sz="1000" b="0" i="0">
                <a:solidFill>
                  <a:srgbClr val="64748B"/>
                </a:solidFill>
                <a:latin typeface="Arial"/>
              </a:rPr>
              <a:t>Everyday phrases can occur in Cairo, Beirut, and Doha; text alone may not resolve the label.</a:t>
            </a:r>
          </a:p>
        </p:txBody>
      </p:sp>
      <p:cxnSp>
        <p:nvCxnSpPr>
          <p:cNvPr id="42" name="Connector 41"/>
          <p:cNvCxnSpPr/>
          <p:nvPr/>
        </p:nvCxnSpPr>
        <p:spPr>
          <a:xfrm>
            <a:off x="594360" y="6473952"/>
            <a:ext cx="11000232" cy="0"/>
          </a:xfrm>
          <a:prstGeom prst="line">
            <a:avLst/>
          </a:prstGeom>
          <a:ln w="8890">
            <a:solidFill>
              <a:srgbClr val="CBD5E1"/>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03504" y="6547104"/>
            <a:ext cx="4572000" cy="164592"/>
          </a:xfrm>
          <a:prstGeom prst="rect">
            <a:avLst/>
          </a:prstGeom>
          <a:noFill/>
        </p:spPr>
        <p:txBody>
          <a:bodyPr wrap="square" lIns="0" tIns="0" rIns="0" bIns="0" anchor="t">
            <a:spAutoFit/>
          </a:bodyPr>
          <a:lstStyle/>
          <a:p>
            <a:pPr algn="l">
              <a:spcBef>
                <a:spcPts val="0"/>
              </a:spcBef>
              <a:spcAft>
                <a:spcPts val="0"/>
              </a:spcAft>
            </a:pPr>
            <a:r>
              <a:rPr sz="800" b="1" i="0">
                <a:solidFill>
                  <a:srgbClr val="64748B"/>
                </a:solidFill>
                <a:latin typeface="Arial"/>
              </a:rPr>
              <a:t>ARABIC DIALECT CLASSIFICATION</a:t>
            </a:r>
          </a:p>
        </p:txBody>
      </p:sp>
      <p:sp>
        <p:nvSpPr>
          <p:cNvPr id="44" name="TextBox 43"/>
          <p:cNvSpPr txBox="1"/>
          <p:nvPr/>
        </p:nvSpPr>
        <p:spPr>
          <a:xfrm>
            <a:off x="10652760" y="6528816"/>
            <a:ext cx="914400" cy="182880"/>
          </a:xfrm>
          <a:prstGeom prst="rect">
            <a:avLst/>
          </a:prstGeom>
          <a:noFill/>
        </p:spPr>
        <p:txBody>
          <a:bodyPr wrap="square" lIns="0" tIns="0" rIns="0" bIns="0" anchor="t">
            <a:spAutoFit/>
          </a:bodyPr>
          <a:lstStyle/>
          <a:p>
            <a:pPr algn="r">
              <a:spcBef>
                <a:spcPts val="0"/>
              </a:spcBef>
              <a:spcAft>
                <a:spcPts val="0"/>
              </a:spcAft>
            </a:pPr>
            <a:r>
              <a:rPr sz="850" b="1" i="0">
                <a:solidFill>
                  <a:srgbClr val="64748B"/>
                </a:solidFill>
                <a:latin typeface="Arial"/>
              </a:rPr>
              <a:t>09  /  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F172A"/>
          </a:solidFill>
          <a:ln>
            <a:noFill/>
          </a:ln>
        </p:spPr>
        <p:txBody>
          <a:bodyPr rtlCol="0" anchor="ctr"/>
          <a:lstStyle/>
          <a:p>
            <a:pPr algn="ctr"/>
            <a:endParaRPr/>
          </a:p>
        </p:txBody>
      </p:sp>
      <p:sp>
        <p:nvSpPr>
          <p:cNvPr id="3" name="Rectangle 2"/>
          <p:cNvSpPr/>
          <p:nvPr/>
        </p:nvSpPr>
        <p:spPr>
          <a:xfrm>
            <a:off x="0" y="0"/>
            <a:ext cx="2011680" cy="128016"/>
          </a:xfrm>
          <a:prstGeom prst="rect">
            <a:avLst/>
          </a:prstGeom>
          <a:solidFill>
            <a:srgbClr val="38BDF8"/>
          </a:solidFill>
          <a:ln>
            <a:noFill/>
          </a:ln>
        </p:spPr>
        <p:txBody>
          <a:bodyPr rtlCol="0" anchor="ctr"/>
          <a:lstStyle/>
          <a:p>
            <a:pPr algn="ctr"/>
            <a:endParaRPr/>
          </a:p>
        </p:txBody>
      </p:sp>
      <p:sp>
        <p:nvSpPr>
          <p:cNvPr id="4" name="TextBox 3"/>
          <p:cNvSpPr txBox="1"/>
          <p:nvPr/>
        </p:nvSpPr>
        <p:spPr>
          <a:xfrm>
            <a:off x="603504" y="274320"/>
            <a:ext cx="2743200" cy="201168"/>
          </a:xfrm>
          <a:prstGeom prst="rect">
            <a:avLst/>
          </a:prstGeom>
          <a:noFill/>
        </p:spPr>
        <p:txBody>
          <a:bodyPr wrap="square" lIns="0" tIns="0" rIns="0" bIns="0" anchor="t">
            <a:spAutoFit/>
          </a:bodyPr>
          <a:lstStyle/>
          <a:p>
            <a:pPr algn="l">
              <a:spcBef>
                <a:spcPts val="0"/>
              </a:spcBef>
              <a:spcAft>
                <a:spcPts val="0"/>
              </a:spcAft>
            </a:pPr>
            <a:r>
              <a:rPr sz="850" b="1" i="0">
                <a:solidFill>
                  <a:srgbClr val="2563EB"/>
                </a:solidFill>
                <a:latin typeface="Arial"/>
              </a:rPr>
              <a:t>DEPLOYMENT</a:t>
            </a:r>
          </a:p>
        </p:txBody>
      </p:sp>
      <p:sp>
        <p:nvSpPr>
          <p:cNvPr id="5" name="TextBox 4"/>
          <p:cNvSpPr txBox="1"/>
          <p:nvPr/>
        </p:nvSpPr>
        <p:spPr>
          <a:xfrm>
            <a:off x="594360" y="521207"/>
            <a:ext cx="10972800" cy="530352"/>
          </a:xfrm>
          <a:prstGeom prst="rect">
            <a:avLst/>
          </a:prstGeom>
          <a:noFill/>
        </p:spPr>
        <p:txBody>
          <a:bodyPr wrap="square" lIns="0" tIns="0" rIns="0" bIns="0" anchor="t">
            <a:spAutoFit/>
          </a:bodyPr>
          <a:lstStyle/>
          <a:p>
            <a:pPr algn="l">
              <a:spcBef>
                <a:spcPts val="0"/>
              </a:spcBef>
              <a:spcAft>
                <a:spcPts val="0"/>
              </a:spcAft>
            </a:pPr>
            <a:r>
              <a:rPr sz="2800" b="1" i="0">
                <a:solidFill>
                  <a:srgbClr val="0F172A"/>
                </a:solidFill>
                <a:latin typeface="Arial"/>
              </a:rPr>
              <a:t>Production Web Platform (Streamlit &amp; Ngrok Deployment)</a:t>
            </a:r>
          </a:p>
        </p:txBody>
      </p:sp>
      <p:sp>
        <p:nvSpPr>
          <p:cNvPr id="6" name="Oval 5"/>
          <p:cNvSpPr/>
          <p:nvPr/>
        </p:nvSpPr>
        <p:spPr>
          <a:xfrm>
            <a:off x="11411712" y="347472"/>
            <a:ext cx="164592" cy="164592"/>
          </a:xfrm>
          <a:prstGeom prst="ellipse">
            <a:avLst/>
          </a:prstGeom>
          <a:solidFill>
            <a:srgbClr val="38BDF8"/>
          </a:solidFill>
          <a:ln>
            <a:noFill/>
          </a:ln>
        </p:spPr>
        <p:txBody>
          <a:bodyPr rtlCol="0" anchor="ctr"/>
          <a:lstStyle/>
          <a:p>
            <a:pPr algn="ctr"/>
            <a:endParaRPr/>
          </a:p>
        </p:txBody>
      </p:sp>
      <p:sp>
        <p:nvSpPr>
          <p:cNvPr id="7" name="Oval 6"/>
          <p:cNvSpPr/>
          <p:nvPr/>
        </p:nvSpPr>
        <p:spPr>
          <a:xfrm>
            <a:off x="11612880" y="347472"/>
            <a:ext cx="164592" cy="164592"/>
          </a:xfrm>
          <a:prstGeom prst="ellipse">
            <a:avLst/>
          </a:prstGeom>
          <a:solidFill>
            <a:srgbClr val="EC4899"/>
          </a:solidFill>
          <a:ln>
            <a:noFill/>
          </a:ln>
        </p:spPr>
        <p:txBody>
          <a:bodyPr rtlCol="0" anchor="ctr"/>
          <a:lstStyle/>
          <a:p>
            <a:pPr algn="ctr"/>
            <a:endParaRPr/>
          </a:p>
        </p:txBody>
      </p:sp>
      <p:sp>
        <p:nvSpPr>
          <p:cNvPr id="8" name="Oval 7"/>
          <p:cNvSpPr/>
          <p:nvPr/>
        </p:nvSpPr>
        <p:spPr>
          <a:xfrm>
            <a:off x="11814048" y="347472"/>
            <a:ext cx="164592" cy="164592"/>
          </a:xfrm>
          <a:prstGeom prst="ellipse">
            <a:avLst/>
          </a:prstGeom>
          <a:solidFill>
            <a:srgbClr val="2563EB"/>
          </a:solidFill>
          <a:ln>
            <a:noFill/>
          </a:ln>
        </p:spPr>
        <p:txBody>
          <a:bodyPr rtlCol="0" anchor="ctr"/>
          <a:lstStyle/>
          <a:p>
            <a:pPr algn="ctr"/>
            <a:endParaRPr/>
          </a:p>
        </p:txBody>
      </p:sp>
      <p:sp>
        <p:nvSpPr>
          <p:cNvPr id="9" name="Rounded Rectangle 8"/>
          <p:cNvSpPr/>
          <p:nvPr/>
        </p:nvSpPr>
        <p:spPr>
          <a:xfrm>
            <a:off x="626364" y="1394460"/>
            <a:ext cx="5614416" cy="4700016"/>
          </a:xfrm>
          <a:prstGeom prst="roundRect">
            <a:avLst/>
          </a:prstGeom>
          <a:solidFill>
            <a:srgbClr val="F1F5F9"/>
          </a:solidFill>
          <a:ln>
            <a:noFill/>
          </a:ln>
        </p:spPr>
        <p:txBody>
          <a:bodyPr rtlCol="0" anchor="ctr"/>
          <a:lstStyle/>
          <a:p>
            <a:pPr algn="ctr"/>
            <a:endParaRPr/>
          </a:p>
        </p:txBody>
      </p:sp>
      <p:sp>
        <p:nvSpPr>
          <p:cNvPr id="10" name="Rounded Rectangle 9"/>
          <p:cNvSpPr/>
          <p:nvPr/>
        </p:nvSpPr>
        <p:spPr>
          <a:xfrm>
            <a:off x="594360" y="1353312"/>
            <a:ext cx="5614416" cy="4700016"/>
          </a:xfrm>
          <a:prstGeom prst="roundRect">
            <a:avLst/>
          </a:prstGeom>
          <a:solidFill>
            <a:srgbClr val="FFFFFF"/>
          </a:solidFill>
          <a:ln w="10160">
            <a:solidFill>
              <a:srgbClr val="CBD5E1"/>
            </a:solidFill>
          </a:ln>
        </p:spPr>
        <p:txBody>
          <a:bodyPr rtlCol="0" anchor="ctr"/>
          <a:lstStyle/>
          <a:p>
            <a:pPr algn="ctr"/>
            <a:endParaRPr/>
          </a:p>
        </p:txBody>
      </p:sp>
      <p:sp>
        <p:nvSpPr>
          <p:cNvPr id="11" name="Rectangle 10"/>
          <p:cNvSpPr/>
          <p:nvPr/>
        </p:nvSpPr>
        <p:spPr>
          <a:xfrm>
            <a:off x="594360" y="1371600"/>
            <a:ext cx="50292" cy="4663440"/>
          </a:xfrm>
          <a:prstGeom prst="rect">
            <a:avLst/>
          </a:prstGeom>
          <a:solidFill>
            <a:srgbClr val="38BDF8"/>
          </a:solidFill>
          <a:ln>
            <a:noFill/>
          </a:ln>
        </p:spPr>
        <p:txBody>
          <a:bodyPr rtlCol="0" anchor="ctr"/>
          <a:lstStyle/>
          <a:p>
            <a:pPr algn="ctr"/>
            <a:endParaRPr/>
          </a:p>
        </p:txBody>
      </p:sp>
      <p:sp>
        <p:nvSpPr>
          <p:cNvPr id="12" name="TextBox 11"/>
          <p:cNvSpPr txBox="1"/>
          <p:nvPr/>
        </p:nvSpPr>
        <p:spPr>
          <a:xfrm>
            <a:off x="813816" y="1554480"/>
            <a:ext cx="5202936" cy="438912"/>
          </a:xfrm>
          <a:prstGeom prst="rect">
            <a:avLst/>
          </a:prstGeom>
          <a:noFill/>
        </p:spPr>
        <p:txBody>
          <a:bodyPr wrap="square" lIns="0" tIns="0" rIns="0" bIns="0" anchor="t">
            <a:spAutoFit/>
          </a:bodyPr>
          <a:lstStyle/>
          <a:p>
            <a:pPr algn="l">
              <a:spcBef>
                <a:spcPts val="0"/>
              </a:spcBef>
              <a:spcAft>
                <a:spcPts val="0"/>
              </a:spcAft>
            </a:pPr>
            <a:r>
              <a:rPr sz="1650" b="1" i="0">
                <a:solidFill>
                  <a:srgbClr val="1E293B"/>
                </a:solidFill>
                <a:latin typeface="Arial"/>
              </a:rPr>
              <a:t>Three Modes in the Web App</a:t>
            </a:r>
          </a:p>
        </p:txBody>
      </p:sp>
      <p:sp>
        <p:nvSpPr>
          <p:cNvPr id="13" name="Rounded Rectangle 12"/>
          <p:cNvSpPr/>
          <p:nvPr/>
        </p:nvSpPr>
        <p:spPr>
          <a:xfrm>
            <a:off x="877824" y="1993392"/>
            <a:ext cx="5056632" cy="1024128"/>
          </a:xfrm>
          <a:prstGeom prst="roundRect">
            <a:avLst/>
          </a:prstGeom>
          <a:solidFill>
            <a:srgbClr val="F8FAFC"/>
          </a:solidFill>
          <a:ln w="10160">
            <a:solidFill>
              <a:srgbClr val="CBD5E1"/>
            </a:solidFill>
          </a:ln>
        </p:spPr>
        <p:txBody>
          <a:bodyPr rtlCol="0" anchor="ctr"/>
          <a:lstStyle/>
          <a:p>
            <a:pPr algn="ctr"/>
            <a:endParaRPr/>
          </a:p>
        </p:txBody>
      </p:sp>
      <p:sp>
        <p:nvSpPr>
          <p:cNvPr id="14" name="Oval 13"/>
          <p:cNvSpPr/>
          <p:nvPr/>
        </p:nvSpPr>
        <p:spPr>
          <a:xfrm>
            <a:off x="1024128" y="2185416"/>
            <a:ext cx="438912" cy="438912"/>
          </a:xfrm>
          <a:prstGeom prst="ellipse">
            <a:avLst/>
          </a:prstGeom>
          <a:solidFill>
            <a:srgbClr val="2563EB"/>
          </a:solidFill>
          <a:ln>
            <a:noFill/>
          </a:ln>
        </p:spPr>
        <p:txBody>
          <a:bodyPr rtlCol="0" anchor="ctr"/>
          <a:lstStyle/>
          <a:p>
            <a:pPr algn="ctr"/>
            <a:endParaRPr/>
          </a:p>
        </p:txBody>
      </p:sp>
      <p:sp>
        <p:nvSpPr>
          <p:cNvPr id="15" name="TextBox 14"/>
          <p:cNvSpPr txBox="1"/>
          <p:nvPr/>
        </p:nvSpPr>
        <p:spPr>
          <a:xfrm>
            <a:off x="1033271" y="2313432"/>
            <a:ext cx="420624" cy="137160"/>
          </a:xfrm>
          <a:prstGeom prst="rect">
            <a:avLst/>
          </a:prstGeom>
          <a:noFill/>
        </p:spPr>
        <p:txBody>
          <a:bodyPr wrap="square" lIns="0" tIns="0" rIns="0" bIns="0" anchor="t">
            <a:spAutoFit/>
          </a:bodyPr>
          <a:lstStyle/>
          <a:p>
            <a:pPr algn="ctr">
              <a:spcBef>
                <a:spcPts val="0"/>
              </a:spcBef>
              <a:spcAft>
                <a:spcPts val="0"/>
              </a:spcAft>
            </a:pPr>
            <a:r>
              <a:rPr sz="900" b="1" i="0">
                <a:solidFill>
                  <a:srgbClr val="F8FAFC"/>
                </a:solidFill>
                <a:latin typeface="Arial"/>
              </a:rPr>
              <a:t>01</a:t>
            </a:r>
          </a:p>
        </p:txBody>
      </p:sp>
      <p:sp>
        <p:nvSpPr>
          <p:cNvPr id="16" name="TextBox 15"/>
          <p:cNvSpPr txBox="1"/>
          <p:nvPr/>
        </p:nvSpPr>
        <p:spPr>
          <a:xfrm>
            <a:off x="1645920" y="2148840"/>
            <a:ext cx="3950208" cy="228600"/>
          </a:xfrm>
          <a:prstGeom prst="rect">
            <a:avLst/>
          </a:prstGeom>
          <a:noFill/>
        </p:spPr>
        <p:txBody>
          <a:bodyPr wrap="square" lIns="0" tIns="0" rIns="0" bIns="0" anchor="t">
            <a:spAutoFit/>
          </a:bodyPr>
          <a:lstStyle/>
          <a:p>
            <a:pPr algn="l">
              <a:spcBef>
                <a:spcPts val="0"/>
              </a:spcBef>
              <a:spcAft>
                <a:spcPts val="0"/>
              </a:spcAft>
            </a:pPr>
            <a:r>
              <a:rPr sz="1250" b="1" i="0">
                <a:solidFill>
                  <a:srgbClr val="1E293B"/>
                </a:solidFill>
                <a:latin typeface="Arial"/>
              </a:rPr>
              <a:t>Single Sentence Analysis</a:t>
            </a:r>
          </a:p>
        </p:txBody>
      </p:sp>
      <p:sp>
        <p:nvSpPr>
          <p:cNvPr id="17" name="TextBox 16"/>
          <p:cNvSpPr txBox="1"/>
          <p:nvPr/>
        </p:nvSpPr>
        <p:spPr>
          <a:xfrm>
            <a:off x="1645920" y="2432304"/>
            <a:ext cx="3950208" cy="457200"/>
          </a:xfrm>
          <a:prstGeom prst="rect">
            <a:avLst/>
          </a:prstGeom>
          <a:noFill/>
        </p:spPr>
        <p:txBody>
          <a:bodyPr wrap="square" lIns="0" tIns="0" rIns="0" bIns="0" anchor="t">
            <a:spAutoFit/>
          </a:bodyPr>
          <a:lstStyle/>
          <a:p>
            <a:pPr algn="l">
              <a:spcBef>
                <a:spcPts val="0"/>
              </a:spcBef>
              <a:spcAft>
                <a:spcPts val="0"/>
              </a:spcAft>
            </a:pPr>
            <a:r>
              <a:rPr sz="940" b="0" i="0">
                <a:solidFill>
                  <a:srgbClr val="64748B"/>
                </a:solidFill>
                <a:latin typeface="Arial"/>
              </a:rPr>
              <a:t>Normalize text, return top dialect + confidence, and show probability bars for all five classes. Smart linguistic alert when confidence &lt;45%.</a:t>
            </a:r>
          </a:p>
        </p:txBody>
      </p:sp>
      <p:sp>
        <p:nvSpPr>
          <p:cNvPr id="18" name="Rounded Rectangle 17"/>
          <p:cNvSpPr/>
          <p:nvPr/>
        </p:nvSpPr>
        <p:spPr>
          <a:xfrm>
            <a:off x="877824" y="3236976"/>
            <a:ext cx="5056632" cy="1024128"/>
          </a:xfrm>
          <a:prstGeom prst="roundRect">
            <a:avLst/>
          </a:prstGeom>
          <a:solidFill>
            <a:srgbClr val="F8FAFC"/>
          </a:solidFill>
          <a:ln w="10160">
            <a:solidFill>
              <a:srgbClr val="CBD5E1"/>
            </a:solidFill>
          </a:ln>
        </p:spPr>
        <p:txBody>
          <a:bodyPr rtlCol="0" anchor="ctr"/>
          <a:lstStyle/>
          <a:p>
            <a:pPr algn="ctr"/>
            <a:endParaRPr/>
          </a:p>
        </p:txBody>
      </p:sp>
      <p:sp>
        <p:nvSpPr>
          <p:cNvPr id="19" name="Oval 18"/>
          <p:cNvSpPr/>
          <p:nvPr/>
        </p:nvSpPr>
        <p:spPr>
          <a:xfrm>
            <a:off x="1024128" y="3429000"/>
            <a:ext cx="438912" cy="438912"/>
          </a:xfrm>
          <a:prstGeom prst="ellipse">
            <a:avLst/>
          </a:prstGeom>
          <a:solidFill>
            <a:srgbClr val="EC4899"/>
          </a:solidFill>
          <a:ln>
            <a:noFill/>
          </a:ln>
        </p:spPr>
        <p:txBody>
          <a:bodyPr rtlCol="0" anchor="ctr"/>
          <a:lstStyle/>
          <a:p>
            <a:pPr algn="ctr"/>
            <a:endParaRPr/>
          </a:p>
        </p:txBody>
      </p:sp>
      <p:sp>
        <p:nvSpPr>
          <p:cNvPr id="20" name="TextBox 19"/>
          <p:cNvSpPr txBox="1"/>
          <p:nvPr/>
        </p:nvSpPr>
        <p:spPr>
          <a:xfrm>
            <a:off x="1033271" y="3557016"/>
            <a:ext cx="420624" cy="137160"/>
          </a:xfrm>
          <a:prstGeom prst="rect">
            <a:avLst/>
          </a:prstGeom>
          <a:noFill/>
        </p:spPr>
        <p:txBody>
          <a:bodyPr wrap="square" lIns="0" tIns="0" rIns="0" bIns="0" anchor="t">
            <a:spAutoFit/>
          </a:bodyPr>
          <a:lstStyle/>
          <a:p>
            <a:pPr algn="ctr">
              <a:spcBef>
                <a:spcPts val="0"/>
              </a:spcBef>
              <a:spcAft>
                <a:spcPts val="0"/>
              </a:spcAft>
            </a:pPr>
            <a:r>
              <a:rPr sz="900" b="1" i="0">
                <a:solidFill>
                  <a:srgbClr val="F8FAFC"/>
                </a:solidFill>
                <a:latin typeface="Arial"/>
              </a:rPr>
              <a:t>02</a:t>
            </a:r>
          </a:p>
        </p:txBody>
      </p:sp>
      <p:sp>
        <p:nvSpPr>
          <p:cNvPr id="21" name="TextBox 20"/>
          <p:cNvSpPr txBox="1"/>
          <p:nvPr/>
        </p:nvSpPr>
        <p:spPr>
          <a:xfrm>
            <a:off x="1645920" y="3392424"/>
            <a:ext cx="3950208" cy="228600"/>
          </a:xfrm>
          <a:prstGeom prst="rect">
            <a:avLst/>
          </a:prstGeom>
          <a:noFill/>
        </p:spPr>
        <p:txBody>
          <a:bodyPr wrap="square" lIns="0" tIns="0" rIns="0" bIns="0" anchor="t">
            <a:spAutoFit/>
          </a:bodyPr>
          <a:lstStyle/>
          <a:p>
            <a:pPr algn="l">
              <a:spcBef>
                <a:spcPts val="0"/>
              </a:spcBef>
              <a:spcAft>
                <a:spcPts val="0"/>
              </a:spcAft>
            </a:pPr>
            <a:r>
              <a:rPr sz="1250" b="1" i="0">
                <a:solidFill>
                  <a:srgbClr val="1E293B"/>
                </a:solidFill>
                <a:latin typeface="Arial"/>
              </a:rPr>
              <a:t>Head-to-Head Comparison</a:t>
            </a:r>
          </a:p>
        </p:txBody>
      </p:sp>
      <p:sp>
        <p:nvSpPr>
          <p:cNvPr id="22" name="TextBox 21"/>
          <p:cNvSpPr txBox="1"/>
          <p:nvPr/>
        </p:nvSpPr>
        <p:spPr>
          <a:xfrm>
            <a:off x="1645920" y="3675887"/>
            <a:ext cx="3950208" cy="457200"/>
          </a:xfrm>
          <a:prstGeom prst="rect">
            <a:avLst/>
          </a:prstGeom>
          <a:noFill/>
        </p:spPr>
        <p:txBody>
          <a:bodyPr wrap="square" lIns="0" tIns="0" rIns="0" bIns="0" anchor="t">
            <a:spAutoFit/>
          </a:bodyPr>
          <a:lstStyle/>
          <a:p>
            <a:pPr algn="l">
              <a:spcBef>
                <a:spcPts val="0"/>
              </a:spcBef>
              <a:spcAft>
                <a:spcPts val="0"/>
              </a:spcAft>
            </a:pPr>
            <a:r>
              <a:rPr sz="940" b="0" i="0">
                <a:solidFill>
                  <a:srgbClr val="64748B"/>
                </a:solidFill>
                <a:latin typeface="Arial"/>
              </a:rPr>
              <a:t>Run MARBERTv2 and AraBERTv02 side by side for a live comparison (92.25% vs. 91.03% reported benchmark).</a:t>
            </a:r>
          </a:p>
        </p:txBody>
      </p:sp>
      <p:sp>
        <p:nvSpPr>
          <p:cNvPr id="23" name="Rounded Rectangle 22"/>
          <p:cNvSpPr/>
          <p:nvPr/>
        </p:nvSpPr>
        <p:spPr>
          <a:xfrm>
            <a:off x="877824" y="4480560"/>
            <a:ext cx="5056632" cy="1024128"/>
          </a:xfrm>
          <a:prstGeom prst="roundRect">
            <a:avLst/>
          </a:prstGeom>
          <a:solidFill>
            <a:srgbClr val="F8FAFC"/>
          </a:solidFill>
          <a:ln w="10160">
            <a:solidFill>
              <a:srgbClr val="CBD5E1"/>
            </a:solidFill>
          </a:ln>
        </p:spPr>
        <p:txBody>
          <a:bodyPr rtlCol="0" anchor="ctr"/>
          <a:lstStyle/>
          <a:p>
            <a:pPr algn="ctr"/>
            <a:endParaRPr/>
          </a:p>
        </p:txBody>
      </p:sp>
      <p:sp>
        <p:nvSpPr>
          <p:cNvPr id="24" name="Oval 23"/>
          <p:cNvSpPr/>
          <p:nvPr/>
        </p:nvSpPr>
        <p:spPr>
          <a:xfrm>
            <a:off x="1024128" y="4672584"/>
            <a:ext cx="438912" cy="438912"/>
          </a:xfrm>
          <a:prstGeom prst="ellipse">
            <a:avLst/>
          </a:prstGeom>
          <a:solidFill>
            <a:srgbClr val="16A34A"/>
          </a:solidFill>
          <a:ln>
            <a:noFill/>
          </a:ln>
        </p:spPr>
        <p:txBody>
          <a:bodyPr rtlCol="0" anchor="ctr"/>
          <a:lstStyle/>
          <a:p>
            <a:pPr algn="ctr"/>
            <a:endParaRPr/>
          </a:p>
        </p:txBody>
      </p:sp>
      <p:sp>
        <p:nvSpPr>
          <p:cNvPr id="25" name="TextBox 24"/>
          <p:cNvSpPr txBox="1"/>
          <p:nvPr/>
        </p:nvSpPr>
        <p:spPr>
          <a:xfrm>
            <a:off x="1033271" y="4800600"/>
            <a:ext cx="420624" cy="137160"/>
          </a:xfrm>
          <a:prstGeom prst="rect">
            <a:avLst/>
          </a:prstGeom>
          <a:noFill/>
        </p:spPr>
        <p:txBody>
          <a:bodyPr wrap="square" lIns="0" tIns="0" rIns="0" bIns="0" anchor="t">
            <a:spAutoFit/>
          </a:bodyPr>
          <a:lstStyle/>
          <a:p>
            <a:pPr algn="ctr">
              <a:spcBef>
                <a:spcPts val="0"/>
              </a:spcBef>
              <a:spcAft>
                <a:spcPts val="0"/>
              </a:spcAft>
            </a:pPr>
            <a:r>
              <a:rPr sz="900" b="1" i="0">
                <a:solidFill>
                  <a:srgbClr val="F8FAFC"/>
                </a:solidFill>
                <a:latin typeface="Arial"/>
              </a:rPr>
              <a:t>03</a:t>
            </a:r>
          </a:p>
        </p:txBody>
      </p:sp>
      <p:sp>
        <p:nvSpPr>
          <p:cNvPr id="26" name="TextBox 25"/>
          <p:cNvSpPr txBox="1"/>
          <p:nvPr/>
        </p:nvSpPr>
        <p:spPr>
          <a:xfrm>
            <a:off x="1645920" y="4636008"/>
            <a:ext cx="3950208" cy="228600"/>
          </a:xfrm>
          <a:prstGeom prst="rect">
            <a:avLst/>
          </a:prstGeom>
          <a:noFill/>
        </p:spPr>
        <p:txBody>
          <a:bodyPr wrap="square" lIns="0" tIns="0" rIns="0" bIns="0" anchor="t">
            <a:spAutoFit/>
          </a:bodyPr>
          <a:lstStyle/>
          <a:p>
            <a:pPr algn="l">
              <a:spcBef>
                <a:spcPts val="0"/>
              </a:spcBef>
              <a:spcAft>
                <a:spcPts val="0"/>
              </a:spcAft>
            </a:pPr>
            <a:r>
              <a:rPr sz="1250" b="1" i="0">
                <a:solidFill>
                  <a:srgbClr val="1E293B"/>
                </a:solidFill>
                <a:latin typeface="Arial"/>
              </a:rPr>
              <a:t>Batch CSV Inference</a:t>
            </a:r>
          </a:p>
        </p:txBody>
      </p:sp>
      <p:sp>
        <p:nvSpPr>
          <p:cNvPr id="27" name="TextBox 26"/>
          <p:cNvSpPr txBox="1"/>
          <p:nvPr/>
        </p:nvSpPr>
        <p:spPr>
          <a:xfrm>
            <a:off x="1645920" y="4919472"/>
            <a:ext cx="3950208" cy="457200"/>
          </a:xfrm>
          <a:prstGeom prst="rect">
            <a:avLst/>
          </a:prstGeom>
          <a:noFill/>
        </p:spPr>
        <p:txBody>
          <a:bodyPr wrap="square" lIns="0" tIns="0" rIns="0" bIns="0" anchor="t">
            <a:spAutoFit/>
          </a:bodyPr>
          <a:lstStyle/>
          <a:p>
            <a:pPr algn="l">
              <a:spcBef>
                <a:spcPts val="0"/>
              </a:spcBef>
              <a:spcAft>
                <a:spcPts val="0"/>
              </a:spcAft>
            </a:pPr>
            <a:r>
              <a:rPr sz="940" b="0" i="0">
                <a:solidFill>
                  <a:srgbClr val="64748B"/>
                </a:solidFill>
                <a:latin typeface="Arial"/>
              </a:rPr>
              <a:t>Upload a CSV with a `text` column, classify hundreds of rows on GPU, then download UTF-8 results.</a:t>
            </a:r>
          </a:p>
        </p:txBody>
      </p:sp>
      <p:cxnSp>
        <p:nvCxnSpPr>
          <p:cNvPr id="43" name="Connector 42"/>
          <p:cNvCxnSpPr/>
          <p:nvPr/>
        </p:nvCxnSpPr>
        <p:spPr>
          <a:xfrm>
            <a:off x="594360" y="6473952"/>
            <a:ext cx="11000232" cy="0"/>
          </a:xfrm>
          <a:prstGeom prst="line">
            <a:avLst/>
          </a:prstGeom>
          <a:ln w="8890">
            <a:solidFill>
              <a:srgbClr val="CBD5E1"/>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03504" y="6547104"/>
            <a:ext cx="4572000" cy="164592"/>
          </a:xfrm>
          <a:prstGeom prst="rect">
            <a:avLst/>
          </a:prstGeom>
          <a:noFill/>
        </p:spPr>
        <p:txBody>
          <a:bodyPr wrap="square" lIns="0" tIns="0" rIns="0" bIns="0" anchor="t">
            <a:spAutoFit/>
          </a:bodyPr>
          <a:lstStyle/>
          <a:p>
            <a:pPr algn="l">
              <a:spcBef>
                <a:spcPts val="0"/>
              </a:spcBef>
              <a:spcAft>
                <a:spcPts val="0"/>
              </a:spcAft>
            </a:pPr>
            <a:r>
              <a:rPr sz="800" b="1" i="0">
                <a:solidFill>
                  <a:srgbClr val="64748B"/>
                </a:solidFill>
                <a:latin typeface="Arial"/>
              </a:rPr>
              <a:t>ARABIC DIALECT CLASSIFICATION</a:t>
            </a:r>
          </a:p>
        </p:txBody>
      </p:sp>
      <p:sp>
        <p:nvSpPr>
          <p:cNvPr id="45" name="TextBox 44"/>
          <p:cNvSpPr txBox="1"/>
          <p:nvPr/>
        </p:nvSpPr>
        <p:spPr>
          <a:xfrm>
            <a:off x="10652760" y="6528816"/>
            <a:ext cx="914400" cy="182880"/>
          </a:xfrm>
          <a:prstGeom prst="rect">
            <a:avLst/>
          </a:prstGeom>
          <a:noFill/>
        </p:spPr>
        <p:txBody>
          <a:bodyPr wrap="square" lIns="0" tIns="0" rIns="0" bIns="0" anchor="t">
            <a:spAutoFit/>
          </a:bodyPr>
          <a:lstStyle/>
          <a:p>
            <a:pPr algn="r">
              <a:spcBef>
                <a:spcPts val="0"/>
              </a:spcBef>
              <a:spcAft>
                <a:spcPts val="0"/>
              </a:spcAft>
            </a:pPr>
            <a:r>
              <a:rPr sz="850" b="1" i="0">
                <a:solidFill>
                  <a:srgbClr val="64748B"/>
                </a:solidFill>
                <a:latin typeface="Arial"/>
              </a:rPr>
              <a:t>10  /  12</a:t>
            </a:r>
          </a:p>
        </p:txBody>
      </p:sp>
      <p:pic>
        <p:nvPicPr>
          <p:cNvPr id="47" name="Picture 46">
            <a:extLst>
              <a:ext uri="{FF2B5EF4-FFF2-40B4-BE49-F238E27FC236}">
                <a16:creationId xmlns:a16="http://schemas.microsoft.com/office/drawing/2014/main" id="{93910542-3F8C-DBF6-52BD-EC4D6E6C4DD2}"/>
              </a:ext>
            </a:extLst>
          </p:cNvPr>
          <p:cNvPicPr>
            <a:picLocks noChangeAspect="1"/>
          </p:cNvPicPr>
          <p:nvPr/>
        </p:nvPicPr>
        <p:blipFill>
          <a:blip r:embed="rId3"/>
          <a:stretch>
            <a:fillRect/>
          </a:stretch>
        </p:blipFill>
        <p:spPr>
          <a:xfrm>
            <a:off x="6702552" y="1371599"/>
            <a:ext cx="5111496" cy="473659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F172A"/>
          </a:solidFill>
          <a:ln>
            <a:noFill/>
          </a:ln>
        </p:spPr>
        <p:txBody>
          <a:bodyPr rtlCol="0" anchor="ctr"/>
          <a:lstStyle/>
          <a:p>
            <a:pPr algn="ctr"/>
            <a:endParaRPr/>
          </a:p>
        </p:txBody>
      </p:sp>
      <p:sp>
        <p:nvSpPr>
          <p:cNvPr id="3" name="Rectangle 2"/>
          <p:cNvSpPr/>
          <p:nvPr/>
        </p:nvSpPr>
        <p:spPr>
          <a:xfrm>
            <a:off x="0" y="0"/>
            <a:ext cx="2011680" cy="128016"/>
          </a:xfrm>
          <a:prstGeom prst="rect">
            <a:avLst/>
          </a:prstGeom>
          <a:solidFill>
            <a:srgbClr val="38BDF8"/>
          </a:solidFill>
          <a:ln>
            <a:noFill/>
          </a:ln>
        </p:spPr>
        <p:txBody>
          <a:bodyPr rtlCol="0" anchor="ctr"/>
          <a:lstStyle/>
          <a:p>
            <a:pPr algn="ctr"/>
            <a:endParaRPr/>
          </a:p>
        </p:txBody>
      </p:sp>
      <p:sp>
        <p:nvSpPr>
          <p:cNvPr id="4" name="TextBox 3"/>
          <p:cNvSpPr txBox="1"/>
          <p:nvPr/>
        </p:nvSpPr>
        <p:spPr>
          <a:xfrm>
            <a:off x="603504" y="274320"/>
            <a:ext cx="2743200" cy="201168"/>
          </a:xfrm>
          <a:prstGeom prst="rect">
            <a:avLst/>
          </a:prstGeom>
          <a:noFill/>
        </p:spPr>
        <p:txBody>
          <a:bodyPr wrap="square" lIns="0" tIns="0" rIns="0" bIns="0" anchor="t">
            <a:spAutoFit/>
          </a:bodyPr>
          <a:lstStyle/>
          <a:p>
            <a:pPr algn="l">
              <a:spcBef>
                <a:spcPts val="0"/>
              </a:spcBef>
              <a:spcAft>
                <a:spcPts val="0"/>
              </a:spcAft>
            </a:pPr>
            <a:r>
              <a:rPr sz="850" b="1" i="0">
                <a:solidFill>
                  <a:srgbClr val="2563EB"/>
                </a:solidFill>
                <a:latin typeface="Arial"/>
              </a:rPr>
              <a:t>TAKEAWAYS</a:t>
            </a:r>
          </a:p>
        </p:txBody>
      </p:sp>
      <p:sp>
        <p:nvSpPr>
          <p:cNvPr id="5" name="TextBox 4"/>
          <p:cNvSpPr txBox="1"/>
          <p:nvPr/>
        </p:nvSpPr>
        <p:spPr>
          <a:xfrm>
            <a:off x="594360" y="521207"/>
            <a:ext cx="10972800" cy="530352"/>
          </a:xfrm>
          <a:prstGeom prst="rect">
            <a:avLst/>
          </a:prstGeom>
          <a:noFill/>
        </p:spPr>
        <p:txBody>
          <a:bodyPr wrap="square" lIns="0" tIns="0" rIns="0" bIns="0" anchor="t">
            <a:spAutoFit/>
          </a:bodyPr>
          <a:lstStyle/>
          <a:p>
            <a:pPr algn="l">
              <a:spcBef>
                <a:spcPts val="0"/>
              </a:spcBef>
              <a:spcAft>
                <a:spcPts val="0"/>
              </a:spcAft>
            </a:pPr>
            <a:r>
              <a:rPr sz="2800" b="1" i="0">
                <a:solidFill>
                  <a:srgbClr val="0F172A"/>
                </a:solidFill>
                <a:latin typeface="Arial"/>
              </a:rPr>
              <a:t>Conclusion &amp; Future Directions</a:t>
            </a:r>
          </a:p>
        </p:txBody>
      </p:sp>
      <p:sp>
        <p:nvSpPr>
          <p:cNvPr id="6" name="Oval 5"/>
          <p:cNvSpPr/>
          <p:nvPr/>
        </p:nvSpPr>
        <p:spPr>
          <a:xfrm>
            <a:off x="11411712" y="347472"/>
            <a:ext cx="164592" cy="164592"/>
          </a:xfrm>
          <a:prstGeom prst="ellipse">
            <a:avLst/>
          </a:prstGeom>
          <a:solidFill>
            <a:srgbClr val="38BDF8"/>
          </a:solidFill>
          <a:ln>
            <a:noFill/>
          </a:ln>
        </p:spPr>
        <p:txBody>
          <a:bodyPr rtlCol="0" anchor="ctr"/>
          <a:lstStyle/>
          <a:p>
            <a:pPr algn="ctr"/>
            <a:endParaRPr/>
          </a:p>
        </p:txBody>
      </p:sp>
      <p:sp>
        <p:nvSpPr>
          <p:cNvPr id="7" name="Oval 6"/>
          <p:cNvSpPr/>
          <p:nvPr/>
        </p:nvSpPr>
        <p:spPr>
          <a:xfrm>
            <a:off x="11612880" y="347472"/>
            <a:ext cx="164592" cy="164592"/>
          </a:xfrm>
          <a:prstGeom prst="ellipse">
            <a:avLst/>
          </a:prstGeom>
          <a:solidFill>
            <a:srgbClr val="EC4899"/>
          </a:solidFill>
          <a:ln>
            <a:noFill/>
          </a:ln>
        </p:spPr>
        <p:txBody>
          <a:bodyPr rtlCol="0" anchor="ctr"/>
          <a:lstStyle/>
          <a:p>
            <a:pPr algn="ctr"/>
            <a:endParaRPr/>
          </a:p>
        </p:txBody>
      </p:sp>
      <p:sp>
        <p:nvSpPr>
          <p:cNvPr id="8" name="Oval 7"/>
          <p:cNvSpPr/>
          <p:nvPr/>
        </p:nvSpPr>
        <p:spPr>
          <a:xfrm>
            <a:off x="11814048" y="347472"/>
            <a:ext cx="164592" cy="164592"/>
          </a:xfrm>
          <a:prstGeom prst="ellipse">
            <a:avLst/>
          </a:prstGeom>
          <a:solidFill>
            <a:srgbClr val="2563EB"/>
          </a:solidFill>
          <a:ln>
            <a:noFill/>
          </a:ln>
        </p:spPr>
        <p:txBody>
          <a:bodyPr rtlCol="0" anchor="ctr"/>
          <a:lstStyle/>
          <a:p>
            <a:pPr algn="ctr"/>
            <a:endParaRPr/>
          </a:p>
        </p:txBody>
      </p:sp>
      <p:sp>
        <p:nvSpPr>
          <p:cNvPr id="9" name="Rounded Rectangle 8"/>
          <p:cNvSpPr/>
          <p:nvPr/>
        </p:nvSpPr>
        <p:spPr>
          <a:xfrm>
            <a:off x="626364" y="1394460"/>
            <a:ext cx="5394960" cy="4754880"/>
          </a:xfrm>
          <a:prstGeom prst="roundRect">
            <a:avLst/>
          </a:prstGeom>
          <a:solidFill>
            <a:srgbClr val="F1F5F9"/>
          </a:solidFill>
          <a:ln>
            <a:noFill/>
          </a:ln>
        </p:spPr>
        <p:txBody>
          <a:bodyPr rtlCol="0" anchor="ctr"/>
          <a:lstStyle/>
          <a:p>
            <a:pPr algn="ctr"/>
            <a:endParaRPr/>
          </a:p>
        </p:txBody>
      </p:sp>
      <p:sp>
        <p:nvSpPr>
          <p:cNvPr id="10" name="Rounded Rectangle 9"/>
          <p:cNvSpPr/>
          <p:nvPr/>
        </p:nvSpPr>
        <p:spPr>
          <a:xfrm>
            <a:off x="594360" y="1353312"/>
            <a:ext cx="5394960" cy="4754880"/>
          </a:xfrm>
          <a:prstGeom prst="roundRect">
            <a:avLst/>
          </a:prstGeom>
          <a:solidFill>
            <a:srgbClr val="FFFFFF"/>
          </a:solidFill>
          <a:ln w="10160">
            <a:solidFill>
              <a:srgbClr val="CBD5E1"/>
            </a:solidFill>
          </a:ln>
        </p:spPr>
        <p:txBody>
          <a:bodyPr rtlCol="0" anchor="ctr"/>
          <a:lstStyle/>
          <a:p>
            <a:pPr algn="ctr"/>
            <a:endParaRPr/>
          </a:p>
        </p:txBody>
      </p:sp>
      <p:sp>
        <p:nvSpPr>
          <p:cNvPr id="11" name="Rectangle 10"/>
          <p:cNvSpPr/>
          <p:nvPr/>
        </p:nvSpPr>
        <p:spPr>
          <a:xfrm>
            <a:off x="594360" y="1371600"/>
            <a:ext cx="50292" cy="4718304"/>
          </a:xfrm>
          <a:prstGeom prst="rect">
            <a:avLst/>
          </a:prstGeom>
          <a:solidFill>
            <a:srgbClr val="16A34A"/>
          </a:solidFill>
          <a:ln>
            <a:noFill/>
          </a:ln>
        </p:spPr>
        <p:txBody>
          <a:bodyPr rtlCol="0" anchor="ctr"/>
          <a:lstStyle/>
          <a:p>
            <a:pPr algn="ctr"/>
            <a:endParaRPr/>
          </a:p>
        </p:txBody>
      </p:sp>
      <p:sp>
        <p:nvSpPr>
          <p:cNvPr id="12" name="TextBox 11"/>
          <p:cNvSpPr txBox="1"/>
          <p:nvPr/>
        </p:nvSpPr>
        <p:spPr>
          <a:xfrm>
            <a:off x="813816" y="1554480"/>
            <a:ext cx="4983480" cy="438912"/>
          </a:xfrm>
          <a:prstGeom prst="rect">
            <a:avLst/>
          </a:prstGeom>
          <a:noFill/>
        </p:spPr>
        <p:txBody>
          <a:bodyPr wrap="square" lIns="0" tIns="0" rIns="0" bIns="0" anchor="t">
            <a:spAutoFit/>
          </a:bodyPr>
          <a:lstStyle/>
          <a:p>
            <a:pPr algn="l">
              <a:spcBef>
                <a:spcPts val="0"/>
              </a:spcBef>
              <a:spcAft>
                <a:spcPts val="0"/>
              </a:spcAft>
            </a:pPr>
            <a:r>
              <a:rPr sz="1700" b="1" i="0">
                <a:solidFill>
                  <a:srgbClr val="1E293B"/>
                </a:solidFill>
                <a:latin typeface="Arial"/>
              </a:rPr>
              <a:t>What We Achieved</a:t>
            </a:r>
          </a:p>
        </p:txBody>
      </p:sp>
      <p:sp>
        <p:nvSpPr>
          <p:cNvPr id="13" name="Rounded Rectangle 12"/>
          <p:cNvSpPr/>
          <p:nvPr/>
        </p:nvSpPr>
        <p:spPr>
          <a:xfrm>
            <a:off x="896112" y="2029968"/>
            <a:ext cx="411480" cy="411480"/>
          </a:xfrm>
          <a:prstGeom prst="roundRect">
            <a:avLst/>
          </a:prstGeom>
          <a:solidFill>
            <a:srgbClr val="DCFCE7"/>
          </a:solidFill>
          <a:ln>
            <a:noFill/>
          </a:ln>
        </p:spPr>
        <p:txBody>
          <a:bodyPr rtlCol="0" anchor="ctr"/>
          <a:lstStyle/>
          <a:p>
            <a:pPr algn="ctr"/>
            <a:endParaRPr/>
          </a:p>
        </p:txBody>
      </p:sp>
      <p:sp>
        <p:nvSpPr>
          <p:cNvPr id="14" name="TextBox 13"/>
          <p:cNvSpPr txBox="1"/>
          <p:nvPr/>
        </p:nvSpPr>
        <p:spPr>
          <a:xfrm>
            <a:off x="914400" y="2157984"/>
            <a:ext cx="365760" cy="137160"/>
          </a:xfrm>
          <a:prstGeom prst="rect">
            <a:avLst/>
          </a:prstGeom>
          <a:noFill/>
        </p:spPr>
        <p:txBody>
          <a:bodyPr wrap="square" lIns="0" tIns="0" rIns="0" bIns="0" anchor="t">
            <a:spAutoFit/>
          </a:bodyPr>
          <a:lstStyle/>
          <a:p>
            <a:pPr algn="ctr">
              <a:spcBef>
                <a:spcPts val="0"/>
              </a:spcBef>
              <a:spcAft>
                <a:spcPts val="0"/>
              </a:spcAft>
            </a:pPr>
            <a:r>
              <a:rPr sz="880" b="1" i="0">
                <a:solidFill>
                  <a:srgbClr val="16A34A"/>
                </a:solidFill>
                <a:latin typeface="Arial"/>
              </a:rPr>
              <a:t>01</a:t>
            </a:r>
          </a:p>
        </p:txBody>
      </p:sp>
      <p:sp>
        <p:nvSpPr>
          <p:cNvPr id="15" name="TextBox 14"/>
          <p:cNvSpPr txBox="1"/>
          <p:nvPr/>
        </p:nvSpPr>
        <p:spPr>
          <a:xfrm>
            <a:off x="1508760" y="2029968"/>
            <a:ext cx="4069080" cy="219456"/>
          </a:xfrm>
          <a:prstGeom prst="rect">
            <a:avLst/>
          </a:prstGeom>
          <a:noFill/>
        </p:spPr>
        <p:txBody>
          <a:bodyPr wrap="square" lIns="0" tIns="0" rIns="0" bIns="0" anchor="t">
            <a:spAutoFit/>
          </a:bodyPr>
          <a:lstStyle/>
          <a:p>
            <a:pPr algn="l">
              <a:spcBef>
                <a:spcPts val="0"/>
              </a:spcBef>
              <a:spcAft>
                <a:spcPts val="0"/>
              </a:spcAft>
            </a:pPr>
            <a:r>
              <a:rPr sz="1220" b="1" i="0">
                <a:solidFill>
                  <a:srgbClr val="1E293B"/>
                </a:solidFill>
                <a:latin typeface="Arial"/>
              </a:rPr>
              <a:t>Leak-free data pipeline</a:t>
            </a:r>
          </a:p>
        </p:txBody>
      </p:sp>
      <p:sp>
        <p:nvSpPr>
          <p:cNvPr id="16" name="TextBox 15"/>
          <p:cNvSpPr txBox="1"/>
          <p:nvPr/>
        </p:nvSpPr>
        <p:spPr>
          <a:xfrm>
            <a:off x="1508760" y="2322576"/>
            <a:ext cx="4069080" cy="585216"/>
          </a:xfrm>
          <a:prstGeom prst="rect">
            <a:avLst/>
          </a:prstGeom>
          <a:noFill/>
        </p:spPr>
        <p:txBody>
          <a:bodyPr wrap="square" lIns="0" tIns="0" rIns="0" bIns="0" anchor="t">
            <a:spAutoFit/>
          </a:bodyPr>
          <a:lstStyle/>
          <a:p>
            <a:pPr algn="l">
              <a:spcBef>
                <a:spcPts val="0"/>
              </a:spcBef>
              <a:spcAft>
                <a:spcPts val="0"/>
              </a:spcAft>
            </a:pPr>
            <a:r>
              <a:rPr sz="1030" b="0" i="0">
                <a:solidFill>
                  <a:srgbClr val="64748B"/>
                </a:solidFill>
                <a:latin typeface="Arial"/>
              </a:rPr>
              <a:t>38,963 unique sentences after deduplication and stratified splitting.</a:t>
            </a:r>
          </a:p>
        </p:txBody>
      </p:sp>
      <p:sp>
        <p:nvSpPr>
          <p:cNvPr id="17" name="Rounded Rectangle 16"/>
          <p:cNvSpPr/>
          <p:nvPr/>
        </p:nvSpPr>
        <p:spPr>
          <a:xfrm>
            <a:off x="896112" y="3218688"/>
            <a:ext cx="411480" cy="411480"/>
          </a:xfrm>
          <a:prstGeom prst="roundRect">
            <a:avLst/>
          </a:prstGeom>
          <a:solidFill>
            <a:srgbClr val="DCFCE7"/>
          </a:solidFill>
          <a:ln>
            <a:noFill/>
          </a:ln>
        </p:spPr>
        <p:txBody>
          <a:bodyPr rtlCol="0" anchor="ctr"/>
          <a:lstStyle/>
          <a:p>
            <a:pPr algn="ctr"/>
            <a:endParaRPr/>
          </a:p>
        </p:txBody>
      </p:sp>
      <p:sp>
        <p:nvSpPr>
          <p:cNvPr id="18" name="TextBox 17"/>
          <p:cNvSpPr txBox="1"/>
          <p:nvPr/>
        </p:nvSpPr>
        <p:spPr>
          <a:xfrm>
            <a:off x="914400" y="3346704"/>
            <a:ext cx="365760" cy="137160"/>
          </a:xfrm>
          <a:prstGeom prst="rect">
            <a:avLst/>
          </a:prstGeom>
          <a:noFill/>
        </p:spPr>
        <p:txBody>
          <a:bodyPr wrap="square" lIns="0" tIns="0" rIns="0" bIns="0" anchor="t">
            <a:spAutoFit/>
          </a:bodyPr>
          <a:lstStyle/>
          <a:p>
            <a:pPr algn="ctr">
              <a:spcBef>
                <a:spcPts val="0"/>
              </a:spcBef>
              <a:spcAft>
                <a:spcPts val="0"/>
              </a:spcAft>
            </a:pPr>
            <a:r>
              <a:rPr sz="880" b="1" i="0">
                <a:solidFill>
                  <a:srgbClr val="16A34A"/>
                </a:solidFill>
                <a:latin typeface="Arial"/>
              </a:rPr>
              <a:t>02</a:t>
            </a:r>
          </a:p>
        </p:txBody>
      </p:sp>
      <p:sp>
        <p:nvSpPr>
          <p:cNvPr id="19" name="TextBox 18"/>
          <p:cNvSpPr txBox="1"/>
          <p:nvPr/>
        </p:nvSpPr>
        <p:spPr>
          <a:xfrm>
            <a:off x="1508760" y="3218688"/>
            <a:ext cx="4069080" cy="219456"/>
          </a:xfrm>
          <a:prstGeom prst="rect">
            <a:avLst/>
          </a:prstGeom>
          <a:noFill/>
        </p:spPr>
        <p:txBody>
          <a:bodyPr wrap="square" lIns="0" tIns="0" rIns="0" bIns="0" anchor="t">
            <a:spAutoFit/>
          </a:bodyPr>
          <a:lstStyle/>
          <a:p>
            <a:pPr algn="l">
              <a:spcBef>
                <a:spcPts val="0"/>
              </a:spcBef>
              <a:spcAft>
                <a:spcPts val="0"/>
              </a:spcAft>
            </a:pPr>
            <a:r>
              <a:rPr sz="1220" b="1" i="0">
                <a:solidFill>
                  <a:srgbClr val="1E293B"/>
                </a:solidFill>
                <a:latin typeface="Arial"/>
              </a:rPr>
              <a:t>Best-performing model</a:t>
            </a:r>
          </a:p>
        </p:txBody>
      </p:sp>
      <p:sp>
        <p:nvSpPr>
          <p:cNvPr id="20" name="TextBox 19"/>
          <p:cNvSpPr txBox="1"/>
          <p:nvPr/>
        </p:nvSpPr>
        <p:spPr>
          <a:xfrm>
            <a:off x="1508760" y="3511296"/>
            <a:ext cx="4069080" cy="585216"/>
          </a:xfrm>
          <a:prstGeom prst="rect">
            <a:avLst/>
          </a:prstGeom>
          <a:noFill/>
        </p:spPr>
        <p:txBody>
          <a:bodyPr wrap="square" lIns="0" tIns="0" rIns="0" bIns="0" anchor="t">
            <a:spAutoFit/>
          </a:bodyPr>
          <a:lstStyle/>
          <a:p>
            <a:pPr algn="l">
              <a:spcBef>
                <a:spcPts val="0"/>
              </a:spcBef>
              <a:spcAft>
                <a:spcPts val="0"/>
              </a:spcAft>
            </a:pPr>
            <a:r>
              <a:rPr sz="1030" b="0" i="0">
                <a:solidFill>
                  <a:srgbClr val="64748B"/>
                </a:solidFill>
                <a:latin typeface="Arial"/>
              </a:rPr>
              <a:t>MARBERTv2 reached 92.25% test accuracy, ahead of AraBERTv02 (91.03% validation) and Stacking (90.93% test).</a:t>
            </a:r>
          </a:p>
        </p:txBody>
      </p:sp>
      <p:sp>
        <p:nvSpPr>
          <p:cNvPr id="21" name="Rounded Rectangle 20"/>
          <p:cNvSpPr/>
          <p:nvPr/>
        </p:nvSpPr>
        <p:spPr>
          <a:xfrm>
            <a:off x="896112" y="4407408"/>
            <a:ext cx="411480" cy="411480"/>
          </a:xfrm>
          <a:prstGeom prst="roundRect">
            <a:avLst/>
          </a:prstGeom>
          <a:solidFill>
            <a:srgbClr val="DCFCE7"/>
          </a:solidFill>
          <a:ln>
            <a:noFill/>
          </a:ln>
        </p:spPr>
        <p:txBody>
          <a:bodyPr rtlCol="0" anchor="ctr"/>
          <a:lstStyle/>
          <a:p>
            <a:pPr algn="ctr"/>
            <a:endParaRPr/>
          </a:p>
        </p:txBody>
      </p:sp>
      <p:sp>
        <p:nvSpPr>
          <p:cNvPr id="22" name="TextBox 21"/>
          <p:cNvSpPr txBox="1"/>
          <p:nvPr/>
        </p:nvSpPr>
        <p:spPr>
          <a:xfrm>
            <a:off x="914400" y="4535424"/>
            <a:ext cx="365760" cy="137160"/>
          </a:xfrm>
          <a:prstGeom prst="rect">
            <a:avLst/>
          </a:prstGeom>
          <a:noFill/>
        </p:spPr>
        <p:txBody>
          <a:bodyPr wrap="square" lIns="0" tIns="0" rIns="0" bIns="0" anchor="t">
            <a:spAutoFit/>
          </a:bodyPr>
          <a:lstStyle/>
          <a:p>
            <a:pPr algn="ctr">
              <a:spcBef>
                <a:spcPts val="0"/>
              </a:spcBef>
              <a:spcAft>
                <a:spcPts val="0"/>
              </a:spcAft>
            </a:pPr>
            <a:r>
              <a:rPr sz="880" b="1" i="0">
                <a:solidFill>
                  <a:srgbClr val="16A34A"/>
                </a:solidFill>
                <a:latin typeface="Arial"/>
              </a:rPr>
              <a:t>03</a:t>
            </a:r>
          </a:p>
        </p:txBody>
      </p:sp>
      <p:sp>
        <p:nvSpPr>
          <p:cNvPr id="23" name="TextBox 22"/>
          <p:cNvSpPr txBox="1"/>
          <p:nvPr/>
        </p:nvSpPr>
        <p:spPr>
          <a:xfrm>
            <a:off x="1508760" y="4407408"/>
            <a:ext cx="4069080" cy="219456"/>
          </a:xfrm>
          <a:prstGeom prst="rect">
            <a:avLst/>
          </a:prstGeom>
          <a:noFill/>
        </p:spPr>
        <p:txBody>
          <a:bodyPr wrap="square" lIns="0" tIns="0" rIns="0" bIns="0" anchor="t">
            <a:spAutoFit/>
          </a:bodyPr>
          <a:lstStyle/>
          <a:p>
            <a:pPr algn="l">
              <a:spcBef>
                <a:spcPts val="0"/>
              </a:spcBef>
              <a:spcAft>
                <a:spcPts val="0"/>
              </a:spcAft>
            </a:pPr>
            <a:r>
              <a:rPr sz="1220" b="1" i="0">
                <a:solidFill>
                  <a:srgbClr val="1E293B"/>
                </a:solidFill>
                <a:latin typeface="Arial"/>
              </a:rPr>
              <a:t>Open-source delivery</a:t>
            </a:r>
          </a:p>
        </p:txBody>
      </p:sp>
      <p:sp>
        <p:nvSpPr>
          <p:cNvPr id="24" name="TextBox 23"/>
          <p:cNvSpPr txBox="1"/>
          <p:nvPr/>
        </p:nvSpPr>
        <p:spPr>
          <a:xfrm>
            <a:off x="1508760" y="4700016"/>
            <a:ext cx="4069080" cy="585216"/>
          </a:xfrm>
          <a:prstGeom prst="rect">
            <a:avLst/>
          </a:prstGeom>
          <a:noFill/>
        </p:spPr>
        <p:txBody>
          <a:bodyPr wrap="square" lIns="0" tIns="0" rIns="0" bIns="0" anchor="t">
            <a:spAutoFit/>
          </a:bodyPr>
          <a:lstStyle/>
          <a:p>
            <a:pPr algn="l">
              <a:spcBef>
                <a:spcPts val="0"/>
              </a:spcBef>
              <a:spcAft>
                <a:spcPts val="0"/>
              </a:spcAft>
            </a:pPr>
            <a:r>
              <a:rPr sz="1030" b="0" i="0">
                <a:solidFill>
                  <a:srgbClr val="64748B"/>
                </a:solidFill>
                <a:latin typeface="Arial"/>
              </a:rPr>
              <a:t>GitHub documentation, README.md, six modular notebooks, technical report, and bilingual Streamlit apps.</a:t>
            </a:r>
          </a:p>
        </p:txBody>
      </p:sp>
      <p:sp>
        <p:nvSpPr>
          <p:cNvPr id="25" name="Rounded Rectangle 24"/>
          <p:cNvSpPr/>
          <p:nvPr/>
        </p:nvSpPr>
        <p:spPr>
          <a:xfrm>
            <a:off x="6231636" y="1394460"/>
            <a:ext cx="5394960" cy="4754880"/>
          </a:xfrm>
          <a:prstGeom prst="roundRect">
            <a:avLst/>
          </a:prstGeom>
          <a:solidFill>
            <a:srgbClr val="F1F5F9"/>
          </a:solidFill>
          <a:ln>
            <a:noFill/>
          </a:ln>
        </p:spPr>
        <p:txBody>
          <a:bodyPr rtlCol="0" anchor="ctr"/>
          <a:lstStyle/>
          <a:p>
            <a:pPr algn="ctr"/>
            <a:endParaRPr/>
          </a:p>
        </p:txBody>
      </p:sp>
      <p:sp>
        <p:nvSpPr>
          <p:cNvPr id="26" name="Rounded Rectangle 25"/>
          <p:cNvSpPr/>
          <p:nvPr/>
        </p:nvSpPr>
        <p:spPr>
          <a:xfrm>
            <a:off x="6199632" y="1353312"/>
            <a:ext cx="5394960" cy="4754880"/>
          </a:xfrm>
          <a:prstGeom prst="roundRect">
            <a:avLst/>
          </a:prstGeom>
          <a:solidFill>
            <a:srgbClr val="FFFFFF"/>
          </a:solidFill>
          <a:ln w="10160">
            <a:solidFill>
              <a:srgbClr val="CBD5E1"/>
            </a:solidFill>
          </a:ln>
        </p:spPr>
        <p:txBody>
          <a:bodyPr rtlCol="0" anchor="ctr"/>
          <a:lstStyle/>
          <a:p>
            <a:pPr algn="ctr"/>
            <a:endParaRPr/>
          </a:p>
        </p:txBody>
      </p:sp>
      <p:sp>
        <p:nvSpPr>
          <p:cNvPr id="27" name="Rectangle 26"/>
          <p:cNvSpPr/>
          <p:nvPr/>
        </p:nvSpPr>
        <p:spPr>
          <a:xfrm>
            <a:off x="6199632" y="1371600"/>
            <a:ext cx="50292" cy="4718304"/>
          </a:xfrm>
          <a:prstGeom prst="rect">
            <a:avLst/>
          </a:prstGeom>
          <a:solidFill>
            <a:srgbClr val="2563EB"/>
          </a:solidFill>
          <a:ln>
            <a:noFill/>
          </a:ln>
        </p:spPr>
        <p:txBody>
          <a:bodyPr rtlCol="0" anchor="ctr"/>
          <a:lstStyle/>
          <a:p>
            <a:pPr algn="ctr"/>
            <a:endParaRPr/>
          </a:p>
        </p:txBody>
      </p:sp>
      <p:sp>
        <p:nvSpPr>
          <p:cNvPr id="28" name="TextBox 27"/>
          <p:cNvSpPr txBox="1"/>
          <p:nvPr/>
        </p:nvSpPr>
        <p:spPr>
          <a:xfrm>
            <a:off x="6419088" y="1554480"/>
            <a:ext cx="4983480" cy="438912"/>
          </a:xfrm>
          <a:prstGeom prst="rect">
            <a:avLst/>
          </a:prstGeom>
          <a:noFill/>
        </p:spPr>
        <p:txBody>
          <a:bodyPr wrap="square" lIns="0" tIns="0" rIns="0" bIns="0" anchor="t">
            <a:spAutoFit/>
          </a:bodyPr>
          <a:lstStyle/>
          <a:p>
            <a:pPr algn="l">
              <a:spcBef>
                <a:spcPts val="0"/>
              </a:spcBef>
              <a:spcAft>
                <a:spcPts val="0"/>
              </a:spcAft>
            </a:pPr>
            <a:r>
              <a:rPr sz="1700" b="1" i="0">
                <a:solidFill>
                  <a:srgbClr val="1E293B"/>
                </a:solidFill>
                <a:latin typeface="Arial"/>
              </a:rPr>
              <a:t>Future Work</a:t>
            </a:r>
          </a:p>
        </p:txBody>
      </p:sp>
      <p:sp>
        <p:nvSpPr>
          <p:cNvPr id="29" name="Rounded Rectangle 28"/>
          <p:cNvSpPr/>
          <p:nvPr/>
        </p:nvSpPr>
        <p:spPr>
          <a:xfrm>
            <a:off x="6510528" y="2029968"/>
            <a:ext cx="411480" cy="411480"/>
          </a:xfrm>
          <a:prstGeom prst="roundRect">
            <a:avLst/>
          </a:prstGeom>
          <a:solidFill>
            <a:srgbClr val="E0F2FE"/>
          </a:solidFill>
          <a:ln>
            <a:noFill/>
          </a:ln>
        </p:spPr>
        <p:txBody>
          <a:bodyPr rtlCol="0" anchor="ctr"/>
          <a:lstStyle/>
          <a:p>
            <a:pPr algn="ctr"/>
            <a:endParaRPr/>
          </a:p>
        </p:txBody>
      </p:sp>
      <p:sp>
        <p:nvSpPr>
          <p:cNvPr id="30" name="TextBox 29"/>
          <p:cNvSpPr txBox="1"/>
          <p:nvPr/>
        </p:nvSpPr>
        <p:spPr>
          <a:xfrm>
            <a:off x="6528816" y="2157984"/>
            <a:ext cx="365760" cy="137160"/>
          </a:xfrm>
          <a:prstGeom prst="rect">
            <a:avLst/>
          </a:prstGeom>
          <a:noFill/>
        </p:spPr>
        <p:txBody>
          <a:bodyPr wrap="square" lIns="0" tIns="0" rIns="0" bIns="0" anchor="t">
            <a:spAutoFit/>
          </a:bodyPr>
          <a:lstStyle/>
          <a:p>
            <a:pPr algn="ctr">
              <a:spcBef>
                <a:spcPts val="0"/>
              </a:spcBef>
              <a:spcAft>
                <a:spcPts val="0"/>
              </a:spcAft>
            </a:pPr>
            <a:r>
              <a:rPr sz="880" b="1" i="0">
                <a:solidFill>
                  <a:srgbClr val="38BDF8"/>
                </a:solidFill>
                <a:latin typeface="Arial"/>
              </a:rPr>
              <a:t>01</a:t>
            </a:r>
          </a:p>
        </p:txBody>
      </p:sp>
      <p:sp>
        <p:nvSpPr>
          <p:cNvPr id="31" name="TextBox 30"/>
          <p:cNvSpPr txBox="1"/>
          <p:nvPr/>
        </p:nvSpPr>
        <p:spPr>
          <a:xfrm>
            <a:off x="7114032" y="2029968"/>
            <a:ext cx="4041648" cy="219456"/>
          </a:xfrm>
          <a:prstGeom prst="rect">
            <a:avLst/>
          </a:prstGeom>
          <a:noFill/>
        </p:spPr>
        <p:txBody>
          <a:bodyPr wrap="square" lIns="0" tIns="0" rIns="0" bIns="0" anchor="t">
            <a:spAutoFit/>
          </a:bodyPr>
          <a:lstStyle/>
          <a:p>
            <a:pPr algn="l">
              <a:spcBef>
                <a:spcPts val="0"/>
              </a:spcBef>
              <a:spcAft>
                <a:spcPts val="0"/>
              </a:spcAft>
            </a:pPr>
            <a:r>
              <a:rPr sz="1220" b="1" i="0">
                <a:solidFill>
                  <a:srgbClr val="1E293B"/>
                </a:solidFill>
                <a:latin typeface="Arial"/>
              </a:rPr>
              <a:t>Broader dialect coverage</a:t>
            </a:r>
          </a:p>
        </p:txBody>
      </p:sp>
      <p:sp>
        <p:nvSpPr>
          <p:cNvPr id="32" name="TextBox 31"/>
          <p:cNvSpPr txBox="1"/>
          <p:nvPr/>
        </p:nvSpPr>
        <p:spPr>
          <a:xfrm>
            <a:off x="7114032" y="2322576"/>
            <a:ext cx="4041648" cy="585216"/>
          </a:xfrm>
          <a:prstGeom prst="rect">
            <a:avLst/>
          </a:prstGeom>
          <a:noFill/>
        </p:spPr>
        <p:txBody>
          <a:bodyPr wrap="square" lIns="0" tIns="0" rIns="0" bIns="0" anchor="t">
            <a:spAutoFit/>
          </a:bodyPr>
          <a:lstStyle/>
          <a:p>
            <a:pPr algn="l">
              <a:spcBef>
                <a:spcPts val="0"/>
              </a:spcBef>
              <a:spcAft>
                <a:spcPts val="0"/>
              </a:spcAft>
            </a:pPr>
            <a:r>
              <a:rPr sz="1030" b="0" i="0">
                <a:solidFill>
                  <a:srgbClr val="64748B"/>
                </a:solidFill>
                <a:latin typeface="Arial"/>
              </a:rPr>
              <a:t>Expand from five target dialects to 25+ fine-grained Arab cities (MADAR-26).</a:t>
            </a:r>
          </a:p>
        </p:txBody>
      </p:sp>
      <p:sp>
        <p:nvSpPr>
          <p:cNvPr id="33" name="Rounded Rectangle 32"/>
          <p:cNvSpPr/>
          <p:nvPr/>
        </p:nvSpPr>
        <p:spPr>
          <a:xfrm>
            <a:off x="6510528" y="3218688"/>
            <a:ext cx="411480" cy="411480"/>
          </a:xfrm>
          <a:prstGeom prst="roundRect">
            <a:avLst/>
          </a:prstGeom>
          <a:solidFill>
            <a:srgbClr val="E0F2FE"/>
          </a:solidFill>
          <a:ln>
            <a:noFill/>
          </a:ln>
        </p:spPr>
        <p:txBody>
          <a:bodyPr rtlCol="0" anchor="ctr"/>
          <a:lstStyle/>
          <a:p>
            <a:pPr algn="ctr"/>
            <a:endParaRPr/>
          </a:p>
        </p:txBody>
      </p:sp>
      <p:sp>
        <p:nvSpPr>
          <p:cNvPr id="34" name="TextBox 33"/>
          <p:cNvSpPr txBox="1"/>
          <p:nvPr/>
        </p:nvSpPr>
        <p:spPr>
          <a:xfrm>
            <a:off x="6528816" y="3346704"/>
            <a:ext cx="365760" cy="137160"/>
          </a:xfrm>
          <a:prstGeom prst="rect">
            <a:avLst/>
          </a:prstGeom>
          <a:noFill/>
        </p:spPr>
        <p:txBody>
          <a:bodyPr wrap="square" lIns="0" tIns="0" rIns="0" bIns="0" anchor="t">
            <a:spAutoFit/>
          </a:bodyPr>
          <a:lstStyle/>
          <a:p>
            <a:pPr algn="ctr">
              <a:spcBef>
                <a:spcPts val="0"/>
              </a:spcBef>
              <a:spcAft>
                <a:spcPts val="0"/>
              </a:spcAft>
            </a:pPr>
            <a:r>
              <a:rPr sz="880" b="1" i="0">
                <a:solidFill>
                  <a:srgbClr val="EC4899"/>
                </a:solidFill>
                <a:latin typeface="Arial"/>
              </a:rPr>
              <a:t>02</a:t>
            </a:r>
          </a:p>
        </p:txBody>
      </p:sp>
      <p:sp>
        <p:nvSpPr>
          <p:cNvPr id="35" name="TextBox 34"/>
          <p:cNvSpPr txBox="1"/>
          <p:nvPr/>
        </p:nvSpPr>
        <p:spPr>
          <a:xfrm>
            <a:off x="7114032" y="3218688"/>
            <a:ext cx="4041648" cy="219456"/>
          </a:xfrm>
          <a:prstGeom prst="rect">
            <a:avLst/>
          </a:prstGeom>
          <a:noFill/>
        </p:spPr>
        <p:txBody>
          <a:bodyPr wrap="square" lIns="0" tIns="0" rIns="0" bIns="0" anchor="t">
            <a:spAutoFit/>
          </a:bodyPr>
          <a:lstStyle/>
          <a:p>
            <a:pPr algn="l">
              <a:spcBef>
                <a:spcPts val="0"/>
              </a:spcBef>
              <a:spcAft>
                <a:spcPts val="0"/>
              </a:spcAft>
            </a:pPr>
            <a:r>
              <a:rPr sz="1220" b="1" i="0">
                <a:solidFill>
                  <a:srgbClr val="1E293B"/>
                </a:solidFill>
                <a:latin typeface="Arial"/>
              </a:rPr>
              <a:t>Audio + text fusion</a:t>
            </a:r>
          </a:p>
        </p:txBody>
      </p:sp>
      <p:sp>
        <p:nvSpPr>
          <p:cNvPr id="36" name="TextBox 35"/>
          <p:cNvSpPr txBox="1"/>
          <p:nvPr/>
        </p:nvSpPr>
        <p:spPr>
          <a:xfrm>
            <a:off x="7114032" y="3511296"/>
            <a:ext cx="4041648" cy="585216"/>
          </a:xfrm>
          <a:prstGeom prst="rect">
            <a:avLst/>
          </a:prstGeom>
          <a:noFill/>
        </p:spPr>
        <p:txBody>
          <a:bodyPr wrap="square" lIns="0" tIns="0" rIns="0" bIns="0" anchor="t">
            <a:spAutoFit/>
          </a:bodyPr>
          <a:lstStyle/>
          <a:p>
            <a:pPr algn="l">
              <a:spcBef>
                <a:spcPts val="0"/>
              </a:spcBef>
              <a:spcAft>
                <a:spcPts val="0"/>
              </a:spcAft>
            </a:pPr>
            <a:r>
              <a:rPr sz="1030" b="0" i="0">
                <a:solidFill>
                  <a:srgbClr val="64748B"/>
                </a:solidFill>
                <a:latin typeface="Arial"/>
              </a:rPr>
              <a:t>Use pronunciation to disambiguate very short phrases with identical spellings.</a:t>
            </a:r>
          </a:p>
        </p:txBody>
      </p:sp>
      <p:sp>
        <p:nvSpPr>
          <p:cNvPr id="37" name="Rounded Rectangle 36"/>
          <p:cNvSpPr/>
          <p:nvPr/>
        </p:nvSpPr>
        <p:spPr>
          <a:xfrm>
            <a:off x="6510528" y="4407408"/>
            <a:ext cx="411480" cy="411480"/>
          </a:xfrm>
          <a:prstGeom prst="roundRect">
            <a:avLst/>
          </a:prstGeom>
          <a:solidFill>
            <a:srgbClr val="E0F2FE"/>
          </a:solidFill>
          <a:ln>
            <a:noFill/>
          </a:ln>
        </p:spPr>
        <p:txBody>
          <a:bodyPr rtlCol="0" anchor="ctr"/>
          <a:lstStyle/>
          <a:p>
            <a:pPr algn="ctr"/>
            <a:endParaRPr/>
          </a:p>
        </p:txBody>
      </p:sp>
      <p:sp>
        <p:nvSpPr>
          <p:cNvPr id="38" name="TextBox 37"/>
          <p:cNvSpPr txBox="1"/>
          <p:nvPr/>
        </p:nvSpPr>
        <p:spPr>
          <a:xfrm>
            <a:off x="6528816" y="4535424"/>
            <a:ext cx="365760" cy="137160"/>
          </a:xfrm>
          <a:prstGeom prst="rect">
            <a:avLst/>
          </a:prstGeom>
          <a:noFill/>
        </p:spPr>
        <p:txBody>
          <a:bodyPr wrap="square" lIns="0" tIns="0" rIns="0" bIns="0" anchor="t">
            <a:spAutoFit/>
          </a:bodyPr>
          <a:lstStyle/>
          <a:p>
            <a:pPr algn="ctr">
              <a:spcBef>
                <a:spcPts val="0"/>
              </a:spcBef>
              <a:spcAft>
                <a:spcPts val="0"/>
              </a:spcAft>
            </a:pPr>
            <a:r>
              <a:rPr sz="880" b="1" i="0">
                <a:solidFill>
                  <a:srgbClr val="2563EB"/>
                </a:solidFill>
                <a:latin typeface="Arial"/>
              </a:rPr>
              <a:t>03</a:t>
            </a:r>
          </a:p>
        </p:txBody>
      </p:sp>
      <p:sp>
        <p:nvSpPr>
          <p:cNvPr id="39" name="TextBox 38"/>
          <p:cNvSpPr txBox="1"/>
          <p:nvPr/>
        </p:nvSpPr>
        <p:spPr>
          <a:xfrm>
            <a:off x="7114032" y="4407408"/>
            <a:ext cx="4041648" cy="219456"/>
          </a:xfrm>
          <a:prstGeom prst="rect">
            <a:avLst/>
          </a:prstGeom>
          <a:noFill/>
        </p:spPr>
        <p:txBody>
          <a:bodyPr wrap="square" lIns="0" tIns="0" rIns="0" bIns="0" anchor="t">
            <a:spAutoFit/>
          </a:bodyPr>
          <a:lstStyle/>
          <a:p>
            <a:pPr algn="l">
              <a:spcBef>
                <a:spcPts val="0"/>
              </a:spcBef>
              <a:spcAft>
                <a:spcPts val="0"/>
              </a:spcAft>
            </a:pPr>
            <a:r>
              <a:rPr sz="1220" b="1" i="0">
                <a:solidFill>
                  <a:srgbClr val="1E293B"/>
                </a:solidFill>
                <a:latin typeface="Arial"/>
              </a:rPr>
              <a:t>Efficient edge inference</a:t>
            </a:r>
          </a:p>
        </p:txBody>
      </p:sp>
      <p:sp>
        <p:nvSpPr>
          <p:cNvPr id="40" name="TextBox 39"/>
          <p:cNvSpPr txBox="1"/>
          <p:nvPr/>
        </p:nvSpPr>
        <p:spPr>
          <a:xfrm>
            <a:off x="7114032" y="4700016"/>
            <a:ext cx="4041648" cy="585216"/>
          </a:xfrm>
          <a:prstGeom prst="rect">
            <a:avLst/>
          </a:prstGeom>
          <a:noFill/>
        </p:spPr>
        <p:txBody>
          <a:bodyPr wrap="square" lIns="0" tIns="0" rIns="0" bIns="0" anchor="t">
            <a:spAutoFit/>
          </a:bodyPr>
          <a:lstStyle/>
          <a:p>
            <a:pPr algn="l">
              <a:spcBef>
                <a:spcPts val="0"/>
              </a:spcBef>
              <a:spcAft>
                <a:spcPts val="0"/>
              </a:spcAft>
            </a:pPr>
            <a:r>
              <a:rPr sz="1030" b="0" i="0">
                <a:solidFill>
                  <a:srgbClr val="64748B"/>
                </a:solidFill>
                <a:latin typeface="Arial"/>
              </a:rPr>
              <a:t>Quantize with ONNX / INT8 for low-latency mobile and edge deployment.</a:t>
            </a:r>
          </a:p>
        </p:txBody>
      </p:sp>
      <p:sp>
        <p:nvSpPr>
          <p:cNvPr id="41" name="Rounded Rectangle 40"/>
          <p:cNvSpPr/>
          <p:nvPr/>
        </p:nvSpPr>
        <p:spPr>
          <a:xfrm>
            <a:off x="896112" y="5605272"/>
            <a:ext cx="10396728" cy="310896"/>
          </a:xfrm>
          <a:prstGeom prst="roundRect">
            <a:avLst/>
          </a:prstGeom>
          <a:solidFill>
            <a:srgbClr val="0F172A"/>
          </a:solidFill>
          <a:ln>
            <a:noFill/>
          </a:ln>
        </p:spPr>
        <p:txBody>
          <a:bodyPr rtlCol="0" anchor="ctr"/>
          <a:lstStyle/>
          <a:p>
            <a:pPr algn="ctr"/>
            <a:endParaRPr/>
          </a:p>
        </p:txBody>
      </p:sp>
      <p:sp>
        <p:nvSpPr>
          <p:cNvPr id="42" name="TextBox 41"/>
          <p:cNvSpPr txBox="1"/>
          <p:nvPr/>
        </p:nvSpPr>
        <p:spPr>
          <a:xfrm>
            <a:off x="1051560" y="5687568"/>
            <a:ext cx="10085832" cy="137160"/>
          </a:xfrm>
          <a:prstGeom prst="rect">
            <a:avLst/>
          </a:prstGeom>
          <a:noFill/>
        </p:spPr>
        <p:txBody>
          <a:bodyPr wrap="square" lIns="0" tIns="0" rIns="0" bIns="0" anchor="t">
            <a:spAutoFit/>
          </a:bodyPr>
          <a:lstStyle/>
          <a:p>
            <a:pPr algn="ctr">
              <a:spcBef>
                <a:spcPts val="0"/>
              </a:spcBef>
              <a:spcAft>
                <a:spcPts val="0"/>
              </a:spcAft>
            </a:pPr>
            <a:r>
              <a:rPr sz="880" b="1" i="0">
                <a:solidFill>
                  <a:srgbClr val="F8FAFC"/>
                </a:solidFill>
                <a:latin typeface="Arial"/>
              </a:rPr>
              <a:t>FROM DATA HYGIENE  →  MODEL BENCHMARKING  →  PRACTICAL DEPLOYMENT</a:t>
            </a:r>
          </a:p>
        </p:txBody>
      </p:sp>
      <p:cxnSp>
        <p:nvCxnSpPr>
          <p:cNvPr id="43" name="Connector 42"/>
          <p:cNvCxnSpPr/>
          <p:nvPr/>
        </p:nvCxnSpPr>
        <p:spPr>
          <a:xfrm>
            <a:off x="594360" y="6473952"/>
            <a:ext cx="11000232" cy="0"/>
          </a:xfrm>
          <a:prstGeom prst="line">
            <a:avLst/>
          </a:prstGeom>
          <a:ln w="8890">
            <a:solidFill>
              <a:srgbClr val="CBD5E1"/>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03504" y="6547104"/>
            <a:ext cx="4572000" cy="164592"/>
          </a:xfrm>
          <a:prstGeom prst="rect">
            <a:avLst/>
          </a:prstGeom>
          <a:noFill/>
        </p:spPr>
        <p:txBody>
          <a:bodyPr wrap="square" lIns="0" tIns="0" rIns="0" bIns="0" anchor="t">
            <a:spAutoFit/>
          </a:bodyPr>
          <a:lstStyle/>
          <a:p>
            <a:pPr algn="l">
              <a:spcBef>
                <a:spcPts val="0"/>
              </a:spcBef>
              <a:spcAft>
                <a:spcPts val="0"/>
              </a:spcAft>
            </a:pPr>
            <a:r>
              <a:rPr sz="800" b="1" i="0">
                <a:solidFill>
                  <a:srgbClr val="64748B"/>
                </a:solidFill>
                <a:latin typeface="Arial"/>
              </a:rPr>
              <a:t>ARABIC DIALECT CLASSIFICATION</a:t>
            </a:r>
          </a:p>
        </p:txBody>
      </p:sp>
      <p:sp>
        <p:nvSpPr>
          <p:cNvPr id="45" name="TextBox 44"/>
          <p:cNvSpPr txBox="1"/>
          <p:nvPr/>
        </p:nvSpPr>
        <p:spPr>
          <a:xfrm>
            <a:off x="10652760" y="6528816"/>
            <a:ext cx="914400" cy="182880"/>
          </a:xfrm>
          <a:prstGeom prst="rect">
            <a:avLst/>
          </a:prstGeom>
          <a:noFill/>
        </p:spPr>
        <p:txBody>
          <a:bodyPr wrap="square" lIns="0" tIns="0" rIns="0" bIns="0" anchor="t">
            <a:spAutoFit/>
          </a:bodyPr>
          <a:lstStyle/>
          <a:p>
            <a:pPr algn="r">
              <a:spcBef>
                <a:spcPts val="0"/>
              </a:spcBef>
              <a:spcAft>
                <a:spcPts val="0"/>
              </a:spcAft>
            </a:pPr>
            <a:r>
              <a:rPr sz="850" b="1" i="0">
                <a:solidFill>
                  <a:srgbClr val="64748B"/>
                </a:solidFill>
                <a:latin typeface="Arial"/>
              </a:rPr>
              <a:t>11  /  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Oval 1"/>
          <p:cNvSpPr/>
          <p:nvPr/>
        </p:nvSpPr>
        <p:spPr>
          <a:xfrm>
            <a:off x="8366760" y="713232"/>
            <a:ext cx="4297680" cy="4297680"/>
          </a:xfrm>
          <a:prstGeom prst="ellipse">
            <a:avLst/>
          </a:prstGeom>
          <a:noFill/>
          <a:ln w="12700">
            <a:solidFill>
              <a:srgbClr val="1E3A57"/>
            </a:solidFill>
          </a:ln>
        </p:spPr>
        <p:txBody>
          <a:bodyPr rtlCol="0" anchor="ctr"/>
          <a:lstStyle/>
          <a:p>
            <a:pPr algn="ctr"/>
            <a:endParaRPr/>
          </a:p>
        </p:txBody>
      </p:sp>
      <p:sp>
        <p:nvSpPr>
          <p:cNvPr id="3" name="Oval 2"/>
          <p:cNvSpPr/>
          <p:nvPr/>
        </p:nvSpPr>
        <p:spPr>
          <a:xfrm>
            <a:off x="8915400" y="1261872"/>
            <a:ext cx="3200400" cy="3200400"/>
          </a:xfrm>
          <a:prstGeom prst="ellipse">
            <a:avLst/>
          </a:prstGeom>
          <a:noFill/>
          <a:ln w="12700">
            <a:solidFill>
              <a:srgbClr val="254B68"/>
            </a:solidFill>
          </a:ln>
        </p:spPr>
        <p:txBody>
          <a:bodyPr rtlCol="0" anchor="ctr"/>
          <a:lstStyle/>
          <a:p>
            <a:pPr algn="ctr"/>
            <a:endParaRPr/>
          </a:p>
        </p:txBody>
      </p:sp>
      <p:sp>
        <p:nvSpPr>
          <p:cNvPr id="4" name="Oval 3"/>
          <p:cNvSpPr/>
          <p:nvPr/>
        </p:nvSpPr>
        <p:spPr>
          <a:xfrm>
            <a:off x="9441180" y="1787652"/>
            <a:ext cx="2148840" cy="2148840"/>
          </a:xfrm>
          <a:prstGeom prst="ellipse">
            <a:avLst/>
          </a:prstGeom>
          <a:noFill/>
          <a:ln w="12700">
            <a:solidFill>
              <a:srgbClr val="38BDF8"/>
            </a:solidFill>
          </a:ln>
        </p:spPr>
        <p:txBody>
          <a:bodyPr rtlCol="0" anchor="ctr"/>
          <a:lstStyle/>
          <a:p>
            <a:pPr algn="ctr"/>
            <a:endParaRPr/>
          </a:p>
        </p:txBody>
      </p:sp>
      <p:sp>
        <p:nvSpPr>
          <p:cNvPr id="5" name="Oval 4"/>
          <p:cNvSpPr/>
          <p:nvPr/>
        </p:nvSpPr>
        <p:spPr>
          <a:xfrm>
            <a:off x="9857232" y="2148840"/>
            <a:ext cx="438912" cy="438912"/>
          </a:xfrm>
          <a:prstGeom prst="ellipse">
            <a:avLst/>
          </a:prstGeom>
          <a:solidFill>
            <a:srgbClr val="EC4899"/>
          </a:solidFill>
          <a:ln>
            <a:noFill/>
          </a:ln>
        </p:spPr>
        <p:txBody>
          <a:bodyPr rtlCol="0" anchor="ctr"/>
          <a:lstStyle/>
          <a:p>
            <a:pPr algn="ctr"/>
            <a:endParaRPr/>
          </a:p>
        </p:txBody>
      </p:sp>
      <p:sp>
        <p:nvSpPr>
          <p:cNvPr id="6" name="TextBox 5"/>
          <p:cNvSpPr txBox="1"/>
          <p:nvPr/>
        </p:nvSpPr>
        <p:spPr>
          <a:xfrm>
            <a:off x="822960" y="685800"/>
            <a:ext cx="2560320" cy="201168"/>
          </a:xfrm>
          <a:prstGeom prst="rect">
            <a:avLst/>
          </a:prstGeom>
          <a:noFill/>
        </p:spPr>
        <p:txBody>
          <a:bodyPr wrap="square" lIns="0" tIns="0" rIns="0" bIns="0" anchor="t">
            <a:spAutoFit/>
          </a:bodyPr>
          <a:lstStyle/>
          <a:p>
            <a:pPr algn="l">
              <a:spcBef>
                <a:spcPts val="0"/>
              </a:spcBef>
              <a:spcAft>
                <a:spcPts val="0"/>
              </a:spcAft>
            </a:pPr>
            <a:r>
              <a:rPr sz="900" b="1" i="0">
                <a:solidFill>
                  <a:srgbClr val="38BDF8"/>
                </a:solidFill>
                <a:latin typeface="Arial"/>
              </a:rPr>
              <a:t>12  /  CLOSING</a:t>
            </a:r>
          </a:p>
        </p:txBody>
      </p:sp>
      <p:sp>
        <p:nvSpPr>
          <p:cNvPr id="7" name="TextBox 6"/>
          <p:cNvSpPr txBox="1"/>
          <p:nvPr/>
        </p:nvSpPr>
        <p:spPr>
          <a:xfrm>
            <a:off x="822960" y="1371600"/>
            <a:ext cx="6812280" cy="868680"/>
          </a:xfrm>
          <a:prstGeom prst="rect">
            <a:avLst/>
          </a:prstGeom>
          <a:noFill/>
        </p:spPr>
        <p:txBody>
          <a:bodyPr wrap="square" lIns="0" tIns="0" rIns="0" bIns="0" anchor="t">
            <a:spAutoFit/>
          </a:bodyPr>
          <a:lstStyle/>
          <a:p>
            <a:pPr algn="l">
              <a:spcBef>
                <a:spcPts val="0"/>
              </a:spcBef>
              <a:spcAft>
                <a:spcPts val="0"/>
              </a:spcAft>
            </a:pPr>
            <a:r>
              <a:rPr sz="3900" b="1" i="0">
                <a:solidFill>
                  <a:srgbClr val="F8FAFC"/>
                </a:solidFill>
                <a:latin typeface="Arial"/>
              </a:rPr>
              <a:t>Thank You!</a:t>
            </a:r>
          </a:p>
        </p:txBody>
      </p:sp>
      <p:sp>
        <p:nvSpPr>
          <p:cNvPr id="8" name="TextBox 7"/>
          <p:cNvSpPr txBox="1"/>
          <p:nvPr/>
        </p:nvSpPr>
        <p:spPr>
          <a:xfrm>
            <a:off x="850392" y="2359152"/>
            <a:ext cx="6126480" cy="384048"/>
          </a:xfrm>
          <a:prstGeom prst="rect">
            <a:avLst/>
          </a:prstGeom>
          <a:noFill/>
        </p:spPr>
        <p:txBody>
          <a:bodyPr wrap="square" lIns="0" tIns="0" rIns="0" bIns="0" anchor="t">
            <a:spAutoFit/>
          </a:bodyPr>
          <a:lstStyle/>
          <a:p>
            <a:pPr algn="l">
              <a:spcBef>
                <a:spcPts val="0"/>
              </a:spcBef>
              <a:spcAft>
                <a:spcPts val="0"/>
              </a:spcAft>
            </a:pPr>
            <a:r>
              <a:rPr sz="1900" b="0" i="0">
                <a:solidFill>
                  <a:srgbClr val="CBD5E1"/>
                </a:solidFill>
                <a:latin typeface="Arial"/>
              </a:rPr>
              <a:t>Live Interactive Demo &amp; Q&amp;A Session</a:t>
            </a:r>
          </a:p>
        </p:txBody>
      </p:sp>
      <p:sp>
        <p:nvSpPr>
          <p:cNvPr id="9" name="Rounded Rectangle 8"/>
          <p:cNvSpPr/>
          <p:nvPr/>
        </p:nvSpPr>
        <p:spPr>
          <a:xfrm>
            <a:off x="822960" y="3337560"/>
            <a:ext cx="7178040" cy="1225296"/>
          </a:xfrm>
          <a:prstGeom prst="roundRect">
            <a:avLst/>
          </a:prstGeom>
          <a:solidFill>
            <a:srgbClr val="18253D"/>
          </a:solidFill>
          <a:ln w="10160">
            <a:solidFill>
              <a:srgbClr val="38BDF8"/>
            </a:solidFill>
          </a:ln>
        </p:spPr>
        <p:txBody>
          <a:bodyPr rtlCol="0" anchor="ctr"/>
          <a:lstStyle/>
          <a:p>
            <a:pPr algn="ctr"/>
            <a:endParaRPr/>
          </a:p>
        </p:txBody>
      </p:sp>
      <p:sp>
        <p:nvSpPr>
          <p:cNvPr id="10" name="TextBox 9"/>
          <p:cNvSpPr txBox="1"/>
          <p:nvPr/>
        </p:nvSpPr>
        <p:spPr>
          <a:xfrm>
            <a:off x="1097280" y="3584448"/>
            <a:ext cx="6355080" cy="201168"/>
          </a:xfrm>
          <a:prstGeom prst="rect">
            <a:avLst/>
          </a:prstGeom>
          <a:noFill/>
        </p:spPr>
        <p:txBody>
          <a:bodyPr wrap="square" lIns="0" tIns="0" rIns="0" bIns="0" anchor="t">
            <a:spAutoFit/>
          </a:bodyPr>
          <a:lstStyle/>
          <a:p>
            <a:pPr algn="l">
              <a:spcBef>
                <a:spcPts val="0"/>
              </a:spcBef>
              <a:spcAft>
                <a:spcPts val="0"/>
              </a:spcAft>
            </a:pPr>
            <a:r>
              <a:rPr sz="919" b="1" i="0">
                <a:solidFill>
                  <a:srgbClr val="38BDF8"/>
                </a:solidFill>
                <a:latin typeface="Arial"/>
              </a:rPr>
              <a:t>READY FOR LIVE TESTING ON STREAMLIT</a:t>
            </a:r>
          </a:p>
        </p:txBody>
      </p:sp>
      <p:sp>
        <p:nvSpPr>
          <p:cNvPr id="11" name="TextBox 10"/>
          <p:cNvSpPr txBox="1"/>
          <p:nvPr/>
        </p:nvSpPr>
        <p:spPr>
          <a:xfrm>
            <a:off x="1097280" y="3913632"/>
            <a:ext cx="6446520" cy="347472"/>
          </a:xfrm>
          <a:prstGeom prst="rect">
            <a:avLst/>
          </a:prstGeom>
          <a:noFill/>
        </p:spPr>
        <p:txBody>
          <a:bodyPr wrap="square" lIns="0" tIns="0" rIns="0" bIns="0" anchor="t">
            <a:spAutoFit/>
          </a:bodyPr>
          <a:lstStyle/>
          <a:p>
            <a:pPr algn="l">
              <a:spcBef>
                <a:spcPts val="0"/>
              </a:spcBef>
              <a:spcAft>
                <a:spcPts val="0"/>
              </a:spcAft>
            </a:pPr>
            <a:r>
              <a:rPr sz="1320" b="1" i="0">
                <a:solidFill>
                  <a:srgbClr val="F8FAFC"/>
                </a:solidFill>
                <a:latin typeface="Arial"/>
              </a:rPr>
              <a:t>Single Sentence  |  MARBERTv2 vs. AraBERTv02  |  Batch CSV</a:t>
            </a:r>
          </a:p>
        </p:txBody>
      </p:sp>
      <p:sp>
        <p:nvSpPr>
          <p:cNvPr id="12" name="TextBox 11"/>
          <p:cNvSpPr txBox="1"/>
          <p:nvPr/>
        </p:nvSpPr>
        <p:spPr>
          <a:xfrm>
            <a:off x="841248" y="5321808"/>
            <a:ext cx="1737360" cy="173736"/>
          </a:xfrm>
          <a:prstGeom prst="rect">
            <a:avLst/>
          </a:prstGeom>
          <a:noFill/>
        </p:spPr>
        <p:txBody>
          <a:bodyPr wrap="square" lIns="0" tIns="0" rIns="0" bIns="0" anchor="t">
            <a:spAutoFit/>
          </a:bodyPr>
          <a:lstStyle/>
          <a:p>
            <a:pPr algn="l">
              <a:spcBef>
                <a:spcPts val="0"/>
              </a:spcBef>
              <a:spcAft>
                <a:spcPts val="0"/>
              </a:spcAft>
            </a:pPr>
            <a:r>
              <a:rPr sz="850" b="1" i="0">
                <a:solidFill>
                  <a:srgbClr val="EC4899"/>
                </a:solidFill>
                <a:latin typeface="Arial"/>
              </a:rPr>
              <a:t>GITHUB REPOSITORY</a:t>
            </a:r>
          </a:p>
        </p:txBody>
      </p:sp>
      <p:sp>
        <p:nvSpPr>
          <p:cNvPr id="13" name="TextBox 12"/>
          <p:cNvSpPr txBox="1"/>
          <p:nvPr/>
        </p:nvSpPr>
        <p:spPr>
          <a:xfrm>
            <a:off x="841248" y="5605272"/>
            <a:ext cx="6080760" cy="246888"/>
          </a:xfrm>
          <a:prstGeom prst="rect">
            <a:avLst/>
          </a:prstGeom>
          <a:noFill/>
        </p:spPr>
        <p:txBody>
          <a:bodyPr wrap="square" lIns="0" tIns="0" rIns="0" bIns="0" anchor="t">
            <a:spAutoFit/>
          </a:bodyPr>
          <a:lstStyle/>
          <a:p>
            <a:pPr algn="l">
              <a:spcBef>
                <a:spcPts val="0"/>
              </a:spcBef>
              <a:spcAft>
                <a:spcPts val="0"/>
              </a:spcAft>
            </a:pPr>
            <a:r>
              <a:rPr sz="1120" b="0" i="0">
                <a:solidFill>
                  <a:srgbClr val="CBD5E1"/>
                </a:solidFill>
                <a:latin typeface="Arial"/>
              </a:rPr>
              <a:t>github.com/meedooatef22/arabic-dialect-classification</a:t>
            </a:r>
          </a:p>
        </p:txBody>
      </p:sp>
      <p:cxnSp>
        <p:nvCxnSpPr>
          <p:cNvPr id="14" name="Connector 13"/>
          <p:cNvCxnSpPr/>
          <p:nvPr/>
        </p:nvCxnSpPr>
        <p:spPr>
          <a:xfrm>
            <a:off x="841248" y="6144768"/>
            <a:ext cx="10451592" cy="0"/>
          </a:xfrm>
          <a:prstGeom prst="line">
            <a:avLst/>
          </a:prstGeom>
          <a:ln w="10160">
            <a:solidFill>
              <a:srgbClr val="33415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41248" y="6336792"/>
            <a:ext cx="3931920" cy="164592"/>
          </a:xfrm>
          <a:prstGeom prst="rect">
            <a:avLst/>
          </a:prstGeom>
          <a:noFill/>
        </p:spPr>
        <p:txBody>
          <a:bodyPr wrap="square" lIns="0" tIns="0" rIns="0" bIns="0" anchor="t">
            <a:spAutoFit/>
          </a:bodyPr>
          <a:lstStyle/>
          <a:p>
            <a:pPr algn="l">
              <a:spcBef>
                <a:spcPts val="0"/>
              </a:spcBef>
              <a:spcAft>
                <a:spcPts val="0"/>
              </a:spcAft>
            </a:pPr>
            <a:r>
              <a:rPr sz="800" b="1" i="0">
                <a:solidFill>
                  <a:srgbClr val="64748B"/>
                </a:solidFill>
                <a:latin typeface="Arial"/>
              </a:rPr>
              <a:t>NLP GRADUATION PROJECT</a:t>
            </a:r>
          </a:p>
        </p:txBody>
      </p:sp>
      <p:sp>
        <p:nvSpPr>
          <p:cNvPr id="16" name="TextBox 15"/>
          <p:cNvSpPr txBox="1"/>
          <p:nvPr/>
        </p:nvSpPr>
        <p:spPr>
          <a:xfrm>
            <a:off x="9217152" y="6318504"/>
            <a:ext cx="2057400" cy="173736"/>
          </a:xfrm>
          <a:prstGeom prst="rect">
            <a:avLst/>
          </a:prstGeom>
          <a:noFill/>
        </p:spPr>
        <p:txBody>
          <a:bodyPr wrap="square" lIns="0" tIns="0" rIns="0" bIns="0" anchor="t">
            <a:spAutoFit/>
          </a:bodyPr>
          <a:lstStyle/>
          <a:p>
            <a:pPr algn="r">
              <a:spcBef>
                <a:spcPts val="0"/>
              </a:spcBef>
              <a:spcAft>
                <a:spcPts val="0"/>
              </a:spcAft>
            </a:pPr>
            <a:r>
              <a:rPr sz="800" b="1" i="0">
                <a:solidFill>
                  <a:srgbClr val="38BDF8"/>
                </a:solidFill>
                <a:latin typeface="Arial"/>
              </a:rPr>
              <a:t>QUESTIONS  /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1884</Words>
  <Application>Microsoft Macintosh PowerPoint</Application>
  <PresentationFormat>Widescreen</PresentationFormat>
  <Paragraphs>306</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End-to-End Fine-Grained Arabic Dialect Classification</dc:title>
  <dc:subject>Graduation project presentation — MADAR, AraBERTv02, MARBERTv2</dc:subject>
  <dc:creator>NLP Graduation Project Team</dc:creator>
  <cp:keywords>Arabic NLP, dialect classification, MADAR, MARBERTv2, AraBERTv02</cp:keywords>
  <dc:description>generated using python-pptx</dc:description>
  <cp:lastModifiedBy>Mohamed Ali</cp:lastModifiedBy>
  <cp:revision>2</cp:revision>
  <dcterms:created xsi:type="dcterms:W3CDTF">2013-01-27T09:14:16Z</dcterms:created>
  <dcterms:modified xsi:type="dcterms:W3CDTF">2026-10-25T10:38:44Z</dcterms:modified>
  <cp:category/>
</cp:coreProperties>
</file>